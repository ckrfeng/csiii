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4"/>
  </p:notesMasterIdLst>
  <p:handoutMasterIdLst>
    <p:handoutMasterId r:id="rId55"/>
  </p:handoutMasterIdLst>
  <p:sldIdLst>
    <p:sldId id="432" r:id="rId2"/>
    <p:sldId id="433" r:id="rId3"/>
    <p:sldId id="422" r:id="rId4"/>
    <p:sldId id="423" r:id="rId5"/>
    <p:sldId id="424" r:id="rId6"/>
    <p:sldId id="425" r:id="rId7"/>
    <p:sldId id="426" r:id="rId8"/>
    <p:sldId id="445" r:id="rId9"/>
    <p:sldId id="332" r:id="rId10"/>
    <p:sldId id="428" r:id="rId11"/>
    <p:sldId id="429" r:id="rId12"/>
    <p:sldId id="446" r:id="rId13"/>
    <p:sldId id="387" r:id="rId14"/>
    <p:sldId id="353" r:id="rId15"/>
    <p:sldId id="411" r:id="rId16"/>
    <p:sldId id="430" r:id="rId17"/>
    <p:sldId id="412" r:id="rId18"/>
    <p:sldId id="354" r:id="rId19"/>
    <p:sldId id="357" r:id="rId20"/>
    <p:sldId id="359" r:id="rId21"/>
    <p:sldId id="416" r:id="rId22"/>
    <p:sldId id="417" r:id="rId23"/>
    <p:sldId id="418" r:id="rId24"/>
    <p:sldId id="361" r:id="rId25"/>
    <p:sldId id="362" r:id="rId26"/>
    <p:sldId id="365" r:id="rId27"/>
    <p:sldId id="366" r:id="rId28"/>
    <p:sldId id="367" r:id="rId29"/>
    <p:sldId id="447" r:id="rId30"/>
    <p:sldId id="389" r:id="rId31"/>
    <p:sldId id="370" r:id="rId32"/>
    <p:sldId id="382" r:id="rId33"/>
    <p:sldId id="372" r:id="rId34"/>
    <p:sldId id="376" r:id="rId35"/>
    <p:sldId id="378" r:id="rId36"/>
    <p:sldId id="380" r:id="rId37"/>
    <p:sldId id="379" r:id="rId38"/>
    <p:sldId id="381" r:id="rId39"/>
    <p:sldId id="390" r:id="rId40"/>
    <p:sldId id="391" r:id="rId41"/>
    <p:sldId id="392" r:id="rId42"/>
    <p:sldId id="396" r:id="rId43"/>
    <p:sldId id="397" r:id="rId44"/>
    <p:sldId id="399" r:id="rId45"/>
    <p:sldId id="398" r:id="rId46"/>
    <p:sldId id="384" r:id="rId47"/>
    <p:sldId id="449" r:id="rId48"/>
    <p:sldId id="402" r:id="rId49"/>
    <p:sldId id="403" r:id="rId50"/>
    <p:sldId id="404" r:id="rId51"/>
    <p:sldId id="420" r:id="rId52"/>
    <p:sldId id="443" r:id="rId53"/>
  </p:sldIdLst>
  <p:sldSz cx="9144000" cy="6858000" type="screen4x3"/>
  <p:notesSz cx="6858000" cy="9296400"/>
  <p:defaultTextStyle>
    <a:defPPr>
      <a:defRPr lang="en-US"/>
    </a:defPPr>
    <a:lvl1pPr algn="l" rtl="0" eaLnBrk="0" fontAlgn="base" hangingPunct="0">
      <a:spcBef>
        <a:spcPct val="0"/>
      </a:spcBef>
      <a:spcAft>
        <a:spcPct val="0"/>
      </a:spcAft>
      <a:defRPr sz="28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itchFamily="34" charset="0"/>
        <a:ea typeface="+mn-ea"/>
        <a:cs typeface="+mn-cs"/>
      </a:defRPr>
    </a:lvl5pPr>
    <a:lvl6pPr marL="2286000" algn="l" defTabSz="914400" rtl="0" eaLnBrk="1" latinLnBrk="0" hangingPunct="1">
      <a:defRPr sz="2800" b="1" kern="1200">
        <a:solidFill>
          <a:schemeClr val="tx1"/>
        </a:solidFill>
        <a:latin typeface="Tahoma" pitchFamily="34" charset="0"/>
        <a:ea typeface="+mn-ea"/>
        <a:cs typeface="+mn-cs"/>
      </a:defRPr>
    </a:lvl6pPr>
    <a:lvl7pPr marL="2743200" algn="l" defTabSz="914400" rtl="0" eaLnBrk="1" latinLnBrk="0" hangingPunct="1">
      <a:defRPr sz="2800" b="1" kern="1200">
        <a:solidFill>
          <a:schemeClr val="tx1"/>
        </a:solidFill>
        <a:latin typeface="Tahoma" pitchFamily="34" charset="0"/>
        <a:ea typeface="+mn-ea"/>
        <a:cs typeface="+mn-cs"/>
      </a:defRPr>
    </a:lvl7pPr>
    <a:lvl8pPr marL="3200400" algn="l" defTabSz="914400" rtl="0" eaLnBrk="1" latinLnBrk="0" hangingPunct="1">
      <a:defRPr sz="2800" b="1" kern="1200">
        <a:solidFill>
          <a:schemeClr val="tx1"/>
        </a:solidFill>
        <a:latin typeface="Tahoma" pitchFamily="34" charset="0"/>
        <a:ea typeface="+mn-ea"/>
        <a:cs typeface="+mn-cs"/>
      </a:defRPr>
    </a:lvl8pPr>
    <a:lvl9pPr marL="3657600" algn="l" defTabSz="914400" rtl="0" eaLnBrk="1" latinLnBrk="0" hangingPunct="1">
      <a:defRPr sz="2800" b="1"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00"/>
    <a:srgbClr val="3366FF"/>
    <a:srgbClr val="00CC66"/>
    <a:srgbClr val="FF0066"/>
    <a:srgbClr val="003366"/>
    <a:srgbClr val="000066"/>
    <a:srgbClr val="CCEC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40" autoAdjust="0"/>
    <p:restoredTop sz="94643" autoAdjust="0"/>
  </p:normalViewPr>
  <p:slideViewPr>
    <p:cSldViewPr>
      <p:cViewPr varScale="1">
        <p:scale>
          <a:sx n="69" d="100"/>
          <a:sy n="69" d="100"/>
        </p:scale>
        <p:origin x="-140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494"/>
    </p:cViewPr>
  </p:sorterViewPr>
  <p:notesViewPr>
    <p:cSldViewPr>
      <p:cViewPr varScale="1">
        <p:scale>
          <a:sx n="59" d="100"/>
          <a:sy n="59" d="100"/>
        </p:scale>
        <p:origin x="-1740" y="-8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4386"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7" name="Rectangle 3"/>
          <p:cNvSpPr>
            <a:spLocks noGrp="1" noChangeArrowheads="1"/>
          </p:cNvSpPr>
          <p:nvPr>
            <p:ph type="dt" sz="quarter"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pPr>
              <a:defRPr/>
            </a:pPr>
            <a:endParaRPr lang="en-US"/>
          </a:p>
        </p:txBody>
      </p:sp>
      <p:sp>
        <p:nvSpPr>
          <p:cNvPr id="144388" name="Rectangle 4"/>
          <p:cNvSpPr>
            <a:spLocks noGrp="1" noChangeArrowheads="1"/>
          </p:cNvSpPr>
          <p:nvPr>
            <p:ph type="ftr" sz="quarter" idx="2"/>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pPr>
              <a:defRPr/>
            </a:pPr>
            <a:endParaRPr lang="en-US"/>
          </a:p>
        </p:txBody>
      </p:sp>
      <p:sp>
        <p:nvSpPr>
          <p:cNvPr id="144389" name="Rectangle 5"/>
          <p:cNvSpPr>
            <a:spLocks noGrp="1" noChangeArrowheads="1"/>
          </p:cNvSpPr>
          <p:nvPr>
            <p:ph type="sldNum" sz="quarter" idx="3"/>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B63E875D-834B-489B-A599-289BBBF6C57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5779" name="Rectangle 3"/>
          <p:cNvSpPr>
            <a:spLocks noGrp="1" noChangeArrowheads="1"/>
          </p:cNvSpPr>
          <p:nvPr>
            <p:ph type="dt"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8852"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p:spPr>
      </p:sp>
      <p:sp>
        <p:nvSpPr>
          <p:cNvPr id="75781"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5782"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5783"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E9FF680-673C-4349-B432-FD06B4AC1D8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r>
              <a:rPr lang="en-US" smtClean="0"/>
              <a:t>©A+ Computer Science     www.apluscompsci.com                 </a:t>
            </a:r>
            <a:fld id="{DC5D744A-5FC4-41A5-895E-95E35C9166FC}" type="slidenum">
              <a:rPr lang="en-US" smtClean="0"/>
              <a:pPr/>
              <a:t>1</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06488" y="696913"/>
            <a:ext cx="4646612" cy="34861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415790"/>
            <a:ext cx="5486400" cy="4183380"/>
          </a:xfrm>
          <a:prstGeom prst="rect">
            <a:avLst/>
          </a:prstGeom>
          <a:noFill/>
          <a:ln>
            <a:miter lim="800000"/>
            <a:headEnd/>
            <a:tailEnd/>
          </a:ln>
        </p:spPr>
        <p:txBody>
          <a:bodyPr lIns="91432" tIns="45716" rIns="91432" bIns="45716"/>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F708DFA4-0E7A-4EC4-89AA-6BD2084928A9}" type="slidenum">
              <a:rPr lang="en-US" smtClean="0"/>
              <a:pPr/>
              <a:t>3</a:t>
            </a:fld>
            <a:endParaRPr lang="en-US"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685800" y="4416425"/>
            <a:ext cx="5486400" cy="4183063"/>
          </a:xfrm>
          <a:noFill/>
          <a:ln/>
        </p:spPr>
        <p:txBody>
          <a:bodyPr/>
          <a:lstStyle/>
          <a:p>
            <a:r>
              <a:rPr lang="en-US" sz="1600" smtClean="0"/>
              <a:t>All variables in Java that refer to Objects are called references.   Reference variables store the location / memory address of the actual Object.  For most situations, the value stored in a reference is a memory address.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262AE556-A93E-4615-80FF-F5F11C38CA0C}" type="slidenum">
              <a:rPr lang="en-US" smtClean="0"/>
              <a:pPr/>
              <a:t>4</a:t>
            </a:fld>
            <a:endParaRPr lang="en-US"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685800" y="4416425"/>
            <a:ext cx="5486400" cy="4183063"/>
          </a:xfrm>
          <a:noFill/>
          <a:ln/>
        </p:spPr>
        <p:txBody>
          <a:bodyPr/>
          <a:lstStyle/>
          <a:p>
            <a:r>
              <a:rPr lang="en-US" sz="1600" smtClean="0"/>
              <a:t>In this example, x and y both the store the location / address of </a:t>
            </a:r>
            <a:r>
              <a:rPr lang="en-US" sz="1600" smtClean="0">
                <a:latin typeface="Courier New" pitchFamily="49" charset="0"/>
              </a:rPr>
              <a:t>Chuck</a:t>
            </a:r>
            <a:r>
              <a:rPr lang="en-US" sz="1600" smtClean="0"/>
              <a:t>.  There is only one String containing </a:t>
            </a:r>
            <a:r>
              <a:rPr lang="en-US" sz="1600" smtClean="0">
                <a:latin typeface="Courier New" pitchFamily="49" charset="0"/>
              </a:rPr>
              <a:t>Chuck</a:t>
            </a:r>
            <a:r>
              <a:rPr lang="en-US" sz="1600" smtClean="0"/>
              <a:t>.   There are two reference variables storing the location / address of </a:t>
            </a:r>
            <a:r>
              <a:rPr lang="en-US" sz="1600" smtClean="0">
                <a:latin typeface="Courier New" pitchFamily="49" charset="0"/>
              </a:rPr>
              <a:t>Chuck</a:t>
            </a:r>
            <a:r>
              <a:rPr lang="en-US" sz="1600" smtClean="0"/>
              <a:t>.</a:t>
            </a:r>
          </a:p>
          <a:p>
            <a:endParaRPr lang="en-US" sz="1600" smtClean="0"/>
          </a:p>
          <a:p>
            <a:r>
              <a:rPr lang="en-US" sz="1600" smtClean="0"/>
              <a:t>For this example, </a:t>
            </a:r>
            <a:r>
              <a:rPr lang="en-US" sz="1600" smtClean="0">
                <a:latin typeface="Courier New" pitchFamily="49" charset="0"/>
              </a:rPr>
              <a:t>x==y</a:t>
            </a:r>
            <a:r>
              <a:rPr lang="en-US" sz="1600" smtClean="0"/>
              <a:t> is true. </a:t>
            </a:r>
            <a:r>
              <a:rPr lang="en-US" sz="1600" smtClean="0">
                <a:latin typeface="Courier New" pitchFamily="49" charset="0"/>
              </a:rPr>
              <a:t>x==y</a:t>
            </a:r>
            <a:r>
              <a:rPr lang="en-US" sz="1600" smtClean="0"/>
              <a:t> compares the values stored in x and y.  x and y both store the same location / address.</a:t>
            </a:r>
          </a:p>
          <a:p>
            <a:endParaRPr lang="en-US" sz="1600" smtClean="0"/>
          </a:p>
          <a:p>
            <a:r>
              <a:rPr lang="en-US" sz="1600" smtClean="0"/>
              <a:t>For this example, </a:t>
            </a:r>
            <a:r>
              <a:rPr lang="en-US" sz="1600" smtClean="0">
                <a:latin typeface="Courier New" pitchFamily="49" charset="0"/>
              </a:rPr>
              <a:t>x.equals(y)</a:t>
            </a:r>
            <a:r>
              <a:rPr lang="en-US" sz="1600" smtClean="0"/>
              <a:t> is true. </a:t>
            </a:r>
            <a:r>
              <a:rPr lang="en-US" sz="1600" smtClean="0">
                <a:latin typeface="Courier New" pitchFamily="49" charset="0"/>
              </a:rPr>
              <a:t>x.equals(y)</a:t>
            </a:r>
            <a:r>
              <a:rPr lang="en-US" sz="1600" smtClean="0"/>
              <a:t>compares the contents of the Objects referred to by x and y. </a:t>
            </a:r>
            <a:r>
              <a:rPr lang="en-US" sz="1600" smtClean="0">
                <a:latin typeface="Courier New" pitchFamily="49" charset="0"/>
              </a:rPr>
              <a:t>Chuck</a:t>
            </a:r>
            <a:r>
              <a:rPr lang="en-US" sz="1600" smtClean="0"/>
              <a:t> is being compared to </a:t>
            </a:r>
            <a:r>
              <a:rPr lang="en-US" sz="1600" smtClean="0">
                <a:latin typeface="Courier New" pitchFamily="49" charset="0"/>
              </a:rPr>
              <a:t>Chuck</a:t>
            </a:r>
            <a:r>
              <a:rPr lang="en-US" sz="1600" smtClean="0"/>
              <a:t>.  </a:t>
            </a:r>
          </a:p>
          <a:p>
            <a:endParaRPr lang="en-US" sz="16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141DD0DA-1E2B-4119-B230-7A2E32ED5ED7}" type="slidenum">
              <a:rPr lang="en-US" smtClean="0"/>
              <a:pPr/>
              <a:t>5</a:t>
            </a:fld>
            <a:endParaRPr lang="en-US"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685800" y="4416425"/>
            <a:ext cx="5486400" cy="4183063"/>
          </a:xfrm>
          <a:noFill/>
          <a:ln/>
        </p:spPr>
        <p:txBody>
          <a:bodyPr/>
          <a:lstStyle/>
          <a:p>
            <a:r>
              <a:rPr lang="en-US" sz="1600" smtClean="0"/>
              <a:t>In this example, x and y both the store the location of </a:t>
            </a:r>
            <a:r>
              <a:rPr lang="en-US" sz="1600" smtClean="0">
                <a:latin typeface="Courier New" pitchFamily="49" charset="0"/>
              </a:rPr>
              <a:t>Chuck</a:t>
            </a:r>
            <a:r>
              <a:rPr lang="en-US" sz="1600" smtClean="0"/>
              <a:t>.  There is only one String containing </a:t>
            </a:r>
            <a:r>
              <a:rPr lang="en-US" sz="1600" smtClean="0">
                <a:latin typeface="Courier New" pitchFamily="49" charset="0"/>
              </a:rPr>
              <a:t>Chuck</a:t>
            </a:r>
            <a:r>
              <a:rPr lang="en-US" sz="1600" smtClean="0"/>
              <a:t>.   There are two reference variables storing the location / address of </a:t>
            </a:r>
            <a:r>
              <a:rPr lang="en-US" sz="1600" smtClean="0">
                <a:latin typeface="Courier New" pitchFamily="49" charset="0"/>
              </a:rPr>
              <a:t>Chuck</a:t>
            </a:r>
            <a:r>
              <a:rPr lang="en-US" sz="1600" smtClean="0"/>
              <a:t>.</a:t>
            </a:r>
          </a:p>
          <a:p>
            <a:endParaRPr lang="en-US" sz="1600" smtClean="0"/>
          </a:p>
          <a:p>
            <a:r>
              <a:rPr lang="en-US" sz="1600" smtClean="0"/>
              <a:t>For this example, </a:t>
            </a:r>
            <a:r>
              <a:rPr lang="en-US" sz="1600" smtClean="0">
                <a:latin typeface="Courier New" pitchFamily="49" charset="0"/>
              </a:rPr>
              <a:t>x==y</a:t>
            </a:r>
            <a:r>
              <a:rPr lang="en-US" sz="1600" smtClean="0"/>
              <a:t> is true. </a:t>
            </a:r>
            <a:r>
              <a:rPr lang="en-US" sz="1600" smtClean="0">
                <a:latin typeface="Courier New" pitchFamily="49" charset="0"/>
              </a:rPr>
              <a:t>x==y</a:t>
            </a:r>
            <a:r>
              <a:rPr lang="en-US" sz="1600" smtClean="0"/>
              <a:t> compares the values stored in x and y.  x and y both store the same location / address.</a:t>
            </a:r>
          </a:p>
          <a:p>
            <a:endParaRPr lang="en-US" sz="1600" smtClean="0"/>
          </a:p>
          <a:p>
            <a:r>
              <a:rPr lang="en-US" sz="1600" smtClean="0"/>
              <a:t>For this example, </a:t>
            </a:r>
            <a:r>
              <a:rPr lang="en-US" sz="1600" smtClean="0">
                <a:latin typeface="Courier New" pitchFamily="49" charset="0"/>
              </a:rPr>
              <a:t>x.equals(y)</a:t>
            </a:r>
            <a:r>
              <a:rPr lang="en-US" sz="1600" smtClean="0"/>
              <a:t> is true. </a:t>
            </a:r>
            <a:r>
              <a:rPr lang="en-US" sz="1600" smtClean="0">
                <a:latin typeface="Courier New" pitchFamily="49" charset="0"/>
              </a:rPr>
              <a:t>x.equals(y)</a:t>
            </a:r>
            <a:r>
              <a:rPr lang="en-US" sz="1600" smtClean="0"/>
              <a:t>compares the contents of the Objects referred to by x and y. </a:t>
            </a:r>
            <a:r>
              <a:rPr lang="en-US" sz="1600" smtClean="0">
                <a:latin typeface="Courier New" pitchFamily="49" charset="0"/>
              </a:rPr>
              <a:t>Chuck</a:t>
            </a:r>
            <a:r>
              <a:rPr lang="en-US" sz="1600" smtClean="0"/>
              <a:t> is being compared to </a:t>
            </a:r>
            <a:r>
              <a:rPr lang="en-US" sz="1600" smtClean="0">
                <a:latin typeface="Courier New" pitchFamily="49" charset="0"/>
              </a:rPr>
              <a:t>Chuck</a:t>
            </a:r>
            <a:r>
              <a:rPr lang="en-US" sz="1600" smtClean="0"/>
              <a:t>.  </a:t>
            </a:r>
          </a:p>
          <a:p>
            <a:endParaRPr lang="en-US" sz="1600" smtClean="0"/>
          </a:p>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CB11D49D-E19C-4FD3-B51E-EB90158DB2D5}" type="slidenum">
              <a:rPr lang="en-US" smtClean="0"/>
              <a:pPr/>
              <a:t>6</a:t>
            </a:fld>
            <a:endParaRPr lang="en-US"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685800" y="4416425"/>
            <a:ext cx="5486400" cy="4183063"/>
          </a:xfrm>
          <a:noFill/>
          <a:ln/>
        </p:spPr>
        <p:txBody>
          <a:bodyPr/>
          <a:lstStyle/>
          <a:p>
            <a:r>
              <a:rPr lang="en-US" sz="1600" smtClean="0"/>
              <a:t>In this example, x stores the location / address of a String Object that stores the value </a:t>
            </a:r>
            <a:r>
              <a:rPr lang="en-US" sz="1600" smtClean="0">
                <a:latin typeface="Courier New" pitchFamily="49" charset="0"/>
              </a:rPr>
              <a:t>Chuck</a:t>
            </a:r>
            <a:r>
              <a:rPr lang="en-US" sz="1600" smtClean="0"/>
              <a:t>.   y also stores the location of a different String Object that stores the value </a:t>
            </a:r>
            <a:r>
              <a:rPr lang="en-US" sz="1600" smtClean="0">
                <a:latin typeface="Courier New" pitchFamily="49" charset="0"/>
              </a:rPr>
              <a:t>Chuck</a:t>
            </a:r>
            <a:r>
              <a:rPr lang="en-US" sz="1600" smtClean="0"/>
              <a:t>.  x and y do not store the same location / address.</a:t>
            </a:r>
          </a:p>
          <a:p>
            <a:endParaRPr lang="en-US" sz="1600" smtClean="0"/>
          </a:p>
          <a:p>
            <a:r>
              <a:rPr lang="en-US" sz="1600" smtClean="0"/>
              <a:t>For this example, </a:t>
            </a:r>
            <a:r>
              <a:rPr lang="en-US" sz="1600" smtClean="0">
                <a:latin typeface="Courier New" pitchFamily="49" charset="0"/>
              </a:rPr>
              <a:t>x==y</a:t>
            </a:r>
            <a:r>
              <a:rPr lang="en-US" sz="1600" smtClean="0"/>
              <a:t> is false.  x and y do not store the same location / address.</a:t>
            </a:r>
          </a:p>
          <a:p>
            <a:endParaRPr lang="en-US" sz="1600" smtClean="0"/>
          </a:p>
          <a:p>
            <a:r>
              <a:rPr lang="en-US" sz="1600" smtClean="0"/>
              <a:t>For this example, </a:t>
            </a:r>
            <a:r>
              <a:rPr lang="en-US" sz="1600" smtClean="0">
                <a:latin typeface="Courier New" pitchFamily="49" charset="0"/>
              </a:rPr>
              <a:t>x.equals(y)</a:t>
            </a:r>
            <a:r>
              <a:rPr lang="en-US" sz="1600" smtClean="0"/>
              <a:t> is true. </a:t>
            </a:r>
          </a:p>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B3CB88B5-C294-4F5C-8BCD-B3BBA5A9DC10}" type="slidenum">
              <a:rPr lang="en-US" smtClean="0"/>
              <a:pPr/>
              <a:t>7</a:t>
            </a:fld>
            <a:endParaRPr lang="en-US"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685800" y="4416425"/>
            <a:ext cx="5486400" cy="4183063"/>
          </a:xfrm>
          <a:noFill/>
          <a:ln/>
        </p:spPr>
        <p:txBody>
          <a:bodyPr/>
          <a:lstStyle/>
          <a:p>
            <a:r>
              <a:rPr lang="en-US" sz="1600" smtClean="0"/>
              <a:t>In this example, x and y both the store the location / address of </a:t>
            </a:r>
            <a:r>
              <a:rPr lang="en-US" sz="1600" smtClean="0">
                <a:latin typeface="Courier New" pitchFamily="49" charset="0"/>
              </a:rPr>
              <a:t>Chuck</a:t>
            </a:r>
            <a:r>
              <a:rPr lang="en-US" sz="1600" smtClean="0"/>
              <a:t>.  There is only one String containing </a:t>
            </a:r>
            <a:r>
              <a:rPr lang="en-US" sz="1600" smtClean="0">
                <a:latin typeface="Courier New" pitchFamily="49" charset="0"/>
              </a:rPr>
              <a:t>Chuck</a:t>
            </a:r>
            <a:r>
              <a:rPr lang="en-US" sz="1600" smtClean="0"/>
              <a:t>.   There are two reference variables storing the location / address of </a:t>
            </a:r>
            <a:r>
              <a:rPr lang="en-US" sz="1600" smtClean="0">
                <a:latin typeface="Courier New" pitchFamily="49" charset="0"/>
              </a:rPr>
              <a:t>Chuck</a:t>
            </a:r>
            <a:r>
              <a:rPr lang="en-US" sz="1600" smtClean="0"/>
              <a:t>.</a:t>
            </a:r>
          </a:p>
          <a:p>
            <a:r>
              <a:rPr lang="en-US" sz="1600" smtClean="0"/>
              <a:t>At the start,  </a:t>
            </a:r>
            <a:r>
              <a:rPr lang="en-US" sz="1600" smtClean="0">
                <a:latin typeface="Courier New" pitchFamily="49" charset="0"/>
              </a:rPr>
              <a:t>x==y</a:t>
            </a:r>
            <a:r>
              <a:rPr lang="en-US" sz="1600" smtClean="0"/>
              <a:t> is true.</a:t>
            </a:r>
          </a:p>
          <a:p>
            <a:r>
              <a:rPr lang="en-US" sz="1600" smtClean="0"/>
              <a:t>x is then referred to null.  x now stores null.  y was in no way changed.  y still stores the address of </a:t>
            </a:r>
            <a:r>
              <a:rPr lang="en-US" sz="1600" smtClean="0">
                <a:latin typeface="Courier New" pitchFamily="49" charset="0"/>
              </a:rPr>
              <a:t>Chuck</a:t>
            </a:r>
            <a:r>
              <a:rPr lang="en-US" sz="1600" smtClean="0"/>
              <a:t>.</a:t>
            </a:r>
          </a:p>
          <a:p>
            <a:r>
              <a:rPr lang="en-US" sz="1600" smtClean="0"/>
              <a:t>After changing the value of x, </a:t>
            </a:r>
            <a:r>
              <a:rPr lang="en-US" sz="1600" smtClean="0">
                <a:latin typeface="Courier New" pitchFamily="49" charset="0"/>
              </a:rPr>
              <a:t>x==y</a:t>
            </a:r>
            <a:r>
              <a:rPr lang="en-US" sz="1600" smtClean="0"/>
              <a:t> is false.</a:t>
            </a:r>
          </a:p>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06488" y="696913"/>
            <a:ext cx="4646612" cy="34861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415790"/>
            <a:ext cx="5486400" cy="4183380"/>
          </a:xfrm>
          <a:prstGeom prst="rect">
            <a:avLst/>
          </a:prstGeom>
          <a:noFill/>
          <a:ln>
            <a:miter lim="800000"/>
            <a:headEnd/>
            <a:tailEnd/>
          </a:ln>
        </p:spPr>
        <p:txBody>
          <a:bodyPr lIns="91432" tIns="45716" rIns="91432" bIns="45716"/>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F397F4F1-4AE5-4339-B25A-3073ABC85592}" type="slidenum">
              <a:rPr lang="en-US" smtClean="0"/>
              <a:pPr/>
              <a:t>9</a:t>
            </a:fld>
            <a:endParaRPr lang="en-US"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4004B121-FBAB-4809-AC37-02A158E5E9FE}" type="slidenum">
              <a:rPr lang="en-US" smtClean="0"/>
              <a:pPr/>
              <a:t>10</a:t>
            </a:fld>
            <a:endParaRPr lang="en-US"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r>
              <a:rPr lang="en-US" sz="1600" smtClean="0"/>
              <a:t>An Iterator provides a uniform way to traverse a data structure.</a:t>
            </a:r>
          </a:p>
          <a:p>
            <a:r>
              <a:rPr lang="en-US" sz="1600" smtClean="0"/>
              <a:t/>
            </a:r>
            <a:br>
              <a:rPr lang="en-US" sz="1600" smtClean="0"/>
            </a:br>
            <a:r>
              <a:rPr lang="en-US" sz="1600" smtClean="0"/>
              <a:t>As ArrayList, LinkedList, and Set all have Iterators, you can access the references in these structures using the same set of methods.  Iterators create uniformity and make accessing the data structure references a similar process.</a:t>
            </a:r>
          </a:p>
          <a:p>
            <a:endParaRPr lang="en-US" sz="1600" smtClean="0"/>
          </a:p>
          <a:p>
            <a:endParaRPr lang="en-US" sz="16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2D1CB378-645F-4B0A-8919-3FB6C7046545}" type="slidenum">
              <a:rPr lang="en-US" smtClean="0"/>
              <a:pPr/>
              <a:t>11</a:t>
            </a:fld>
            <a:endParaRPr lang="en-US"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06488" y="696913"/>
            <a:ext cx="4646612" cy="34861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415790"/>
            <a:ext cx="5486400" cy="4183380"/>
          </a:xfrm>
          <a:prstGeom prst="rect">
            <a:avLst/>
          </a:prstGeom>
          <a:noFill/>
          <a:ln>
            <a:miter lim="800000"/>
            <a:headEnd/>
            <a:tailEnd/>
          </a:ln>
        </p:spPr>
        <p:txBody>
          <a:bodyPr lIns="91432" tIns="45716" rIns="91432" bIns="45716"/>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E8F5A10-AFAB-42D1-B635-3E37AD056009}" type="slidenum">
              <a:rPr lang="en-US" smtClean="0"/>
              <a:pPr/>
              <a:t>13</a:t>
            </a:fld>
            <a:endParaRPr lang="en-US" smtClean="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2B8400A9-0707-48AA-86EE-831DCF95CD59}" type="slidenum">
              <a:rPr lang="en-US" smtClean="0"/>
              <a:pPr/>
              <a:t>14</a:t>
            </a:fld>
            <a:endParaRPr lang="en-US"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r>
              <a:rPr lang="en-US" sz="1600" smtClean="0"/>
              <a:t>An iterator provides a standard way to access all of the items in a data structure.</a:t>
            </a:r>
          </a:p>
          <a:p>
            <a:endParaRPr lang="en-US" sz="1600" smtClean="0"/>
          </a:p>
          <a:p>
            <a:r>
              <a:rPr lang="en-US" sz="1600" smtClean="0"/>
              <a:t>An iterator allows movement from one reference to the next.</a:t>
            </a:r>
          </a:p>
          <a:p>
            <a:r>
              <a:rPr lang="en-US" sz="1600" smtClean="0"/>
              <a:t>When the </a:t>
            </a:r>
            <a:r>
              <a:rPr lang="en-US" sz="1600" smtClean="0">
                <a:latin typeface="Courier New" pitchFamily="49" charset="0"/>
              </a:rPr>
              <a:t>next()</a:t>
            </a:r>
            <a:r>
              <a:rPr lang="en-US" sz="1600" smtClean="0"/>
              <a:t> method is called, the next reference in the list is returned and the iterator moves to the next reference.  </a:t>
            </a:r>
          </a:p>
          <a:p>
            <a:r>
              <a:rPr lang="en-US" sz="1600" smtClean="0"/>
              <a:t>The next methods movement is based on the data structure that the iterator is working 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B46D00D9-BD21-4BC6-B9C1-5271CDB686C2}" type="slidenum">
              <a:rPr lang="en-US" smtClean="0"/>
              <a:pPr/>
              <a:t>15</a:t>
            </a:fld>
            <a:endParaRPr lang="en-US"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r>
              <a:rPr lang="en-US" sz="1600" smtClean="0"/>
              <a:t>An iterator essentially points to an area in front of each reference.   It starts out pointing in front of the 1</a:t>
            </a:r>
            <a:r>
              <a:rPr lang="en-US" sz="1600" baseline="30000" smtClean="0"/>
              <a:t>st</a:t>
            </a:r>
            <a:r>
              <a:rPr lang="en-US" sz="1600" smtClean="0"/>
              <a:t> reference.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DC63C2CE-CD4D-44E8-A7F0-318EF6989E04}" type="slidenum">
              <a:rPr lang="en-US" smtClean="0"/>
              <a:pPr/>
              <a:t>16</a:t>
            </a:fld>
            <a:endParaRPr lang="en-US" smtClean="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CCF9FE58-695A-4749-A043-43B3840D2F68}" type="slidenum">
              <a:rPr lang="en-US" smtClean="0"/>
              <a:pPr/>
              <a:t>17</a:t>
            </a:fld>
            <a:endParaRPr lang="en-US"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z="1600" smtClean="0"/>
          </a:p>
          <a:p>
            <a:r>
              <a:rPr lang="en-US" sz="1600" smtClean="0"/>
              <a:t>In the example above, </a:t>
            </a:r>
            <a:r>
              <a:rPr lang="en-US" sz="1600" smtClean="0">
                <a:latin typeface="Courier New" pitchFamily="49" charset="0"/>
              </a:rPr>
              <a:t>next()</a:t>
            </a:r>
            <a:r>
              <a:rPr lang="en-US" sz="1600" smtClean="0"/>
              <a:t> causes the iterator to slide past </a:t>
            </a:r>
            <a:r>
              <a:rPr lang="en-US" sz="1600" smtClean="0">
                <a:latin typeface="Courier New" pitchFamily="49" charset="0"/>
              </a:rPr>
              <a:t>"at" </a:t>
            </a:r>
            <a:r>
              <a:rPr lang="en-US" sz="1600" smtClean="0"/>
              <a:t>and stop in front of</a:t>
            </a:r>
            <a:r>
              <a:rPr lang="en-US" sz="1600" smtClean="0">
                <a:latin typeface="Courier New" pitchFamily="49" charset="0"/>
              </a:rPr>
              <a:t> "is".</a:t>
            </a:r>
            <a:r>
              <a:rPr lang="en-US" sz="1600" smtClean="0"/>
              <a:t>  </a:t>
            </a:r>
            <a:r>
              <a:rPr lang="en-US" sz="1600" smtClean="0">
                <a:latin typeface="Courier New" pitchFamily="49" charset="0"/>
              </a:rPr>
              <a:t>next() </a:t>
            </a:r>
            <a:r>
              <a:rPr lang="en-US" sz="1600" smtClean="0"/>
              <a:t>returns the reference to </a:t>
            </a:r>
            <a:r>
              <a:rPr lang="en-US" sz="1600" smtClean="0">
                <a:latin typeface="Courier New" pitchFamily="49" charset="0"/>
              </a:rPr>
              <a:t>"at".</a:t>
            </a:r>
          </a:p>
          <a:p>
            <a:r>
              <a:rPr lang="en-US" sz="1600" smtClean="0">
                <a:cs typeface="Times New Roman" pitchFamily="18" charset="0"/>
              </a:rPr>
              <a:t>So, behind the scenes,</a:t>
            </a:r>
            <a:r>
              <a:rPr lang="en-US" sz="1600" smtClean="0"/>
              <a:t> </a:t>
            </a:r>
            <a:r>
              <a:rPr lang="en-US" sz="1600" smtClean="0">
                <a:latin typeface="Courier New" pitchFamily="49" charset="0"/>
              </a:rPr>
              <a:t>"at"</a:t>
            </a:r>
            <a:r>
              <a:rPr lang="en-US" sz="1600" smtClean="0"/>
              <a:t>  is returend  and  </a:t>
            </a:r>
            <a:r>
              <a:rPr lang="en-US" sz="1600" smtClean="0">
                <a:latin typeface="Courier New" pitchFamily="49" charset="0"/>
              </a:rPr>
              <a:t>"is" </a:t>
            </a:r>
            <a:r>
              <a:rPr lang="en-US" sz="1600" smtClean="0">
                <a:cs typeface="Times New Roman" pitchFamily="18" charset="0"/>
              </a:rPr>
              <a:t>is saved as the new current position. </a:t>
            </a:r>
          </a:p>
          <a:p>
            <a:endParaRPr lang="en-US" smtClean="0">
              <a:cs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80C923A8-7B4C-4EFE-BAD5-CC626903D5B9}" type="slidenum">
              <a:rPr lang="en-US" smtClean="0"/>
              <a:pPr/>
              <a:t>18</a:t>
            </a:fld>
            <a:endParaRPr lang="en-US" smtClean="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mtClean="0"/>
          </a:p>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00AF4BDE-4BAA-4160-B266-FCCC5E2C8EA8}" type="slidenum">
              <a:rPr lang="en-US" smtClean="0"/>
              <a:pPr/>
              <a:t>19</a:t>
            </a:fld>
            <a:endParaRPr lang="en-US"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B3A6D308-6EC6-4EFD-ABB1-4721CF9B43C1}" type="slidenum">
              <a:rPr lang="en-US" smtClean="0"/>
              <a:pPr/>
              <a:t>20</a:t>
            </a:fld>
            <a:endParaRPr lang="en-US"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4D71A771-FA55-4BDC-B4BE-9E57366A3A30}" type="slidenum">
              <a:rPr lang="en-US" smtClean="0"/>
              <a:pPr/>
              <a:t>21</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z="1600" smtClean="0"/>
          </a:p>
          <a:p>
            <a:endParaRPr lang="en-US" sz="1600" smtClean="0"/>
          </a:p>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88CAA2EA-ADD3-4E12-96B8-4F3D6C338706}" type="slidenum">
              <a:rPr lang="en-US" smtClean="0"/>
              <a:pPr/>
              <a:t>22</a:t>
            </a:fld>
            <a:endParaRPr lang="en-US"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z="1600" smtClean="0"/>
          </a:p>
          <a:p>
            <a:r>
              <a:rPr lang="en-US" sz="1600" smtClean="0"/>
              <a:t>In the example above, </a:t>
            </a:r>
            <a:r>
              <a:rPr lang="en-US" sz="1600" smtClean="0">
                <a:latin typeface="Courier New" pitchFamily="49" charset="0"/>
              </a:rPr>
              <a:t>next()</a:t>
            </a:r>
            <a:r>
              <a:rPr lang="en-US" sz="1600" smtClean="0"/>
              <a:t> causes the iterator to slide past </a:t>
            </a:r>
            <a:r>
              <a:rPr lang="en-US" sz="1600" smtClean="0">
                <a:latin typeface="Courier New" pitchFamily="49" charset="0"/>
              </a:rPr>
              <a:t>"at" </a:t>
            </a:r>
            <a:r>
              <a:rPr lang="en-US" sz="1600" smtClean="0"/>
              <a:t>and stop in front of</a:t>
            </a:r>
            <a:r>
              <a:rPr lang="en-US" sz="1600" smtClean="0">
                <a:latin typeface="Courier New" pitchFamily="49" charset="0"/>
              </a:rPr>
              <a:t> "is".</a:t>
            </a:r>
            <a:r>
              <a:rPr lang="en-US" sz="1600" smtClean="0"/>
              <a:t>  </a:t>
            </a:r>
            <a:r>
              <a:rPr lang="en-US" sz="1600" smtClean="0">
                <a:latin typeface="Courier New" pitchFamily="49" charset="0"/>
              </a:rPr>
              <a:t>next() </a:t>
            </a:r>
            <a:r>
              <a:rPr lang="en-US" sz="1600" smtClean="0"/>
              <a:t>returns the reference to </a:t>
            </a:r>
            <a:r>
              <a:rPr lang="en-US" sz="1600" smtClean="0">
                <a:latin typeface="Courier New" pitchFamily="49" charset="0"/>
              </a:rPr>
              <a:t>"at"</a:t>
            </a:r>
            <a:r>
              <a:rPr lang="en-US" sz="1600" smtClean="0"/>
              <a:t>.  </a:t>
            </a:r>
          </a:p>
          <a:p>
            <a:endParaRPr lang="en-US" sz="1600" smtClean="0"/>
          </a:p>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467F3275-199E-45DC-9E28-B5980341A73D}" type="slidenum">
              <a:rPr lang="en-US" smtClean="0"/>
              <a:pPr/>
              <a:t>23</a:t>
            </a:fld>
            <a:endParaRPr lang="en-US"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r>
              <a:rPr lang="en-US" sz="1600" smtClean="0"/>
              <a:t>Remove always removes the last reference returned by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Remove can only be called after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a:t>
            </a:r>
          </a:p>
          <a:p>
            <a:endParaRPr lang="en-US" sz="1600" smtClean="0"/>
          </a:p>
          <a:p>
            <a:r>
              <a:rPr lang="en-US" sz="1600" smtClean="0">
                <a:latin typeface="Courier New" pitchFamily="49" charset="0"/>
              </a:rPr>
              <a:t>next()</a:t>
            </a:r>
          </a:p>
          <a:p>
            <a:r>
              <a:rPr lang="en-US" sz="1600" smtClean="0">
                <a:latin typeface="Courier New" pitchFamily="49" charset="0"/>
              </a:rPr>
              <a:t>remove()</a:t>
            </a:r>
          </a:p>
          <a:p>
            <a:r>
              <a:rPr lang="en-US" sz="1600" smtClean="0">
                <a:latin typeface="Courier New" pitchFamily="49" charset="0"/>
              </a:rPr>
              <a:t>remove()</a:t>
            </a:r>
            <a:r>
              <a:rPr lang="en-US" sz="1600" smtClean="0"/>
              <a:t>   //blows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04C3472E-5A27-4894-ACB7-39C0227312D1}" type="slidenum">
              <a:rPr lang="en-US" smtClean="0"/>
              <a:pPr/>
              <a:t>24</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r>
              <a:rPr lang="en-US" sz="1600" smtClean="0"/>
              <a:t>Remove always removes the last reference returned by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Remove can only be called after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a:t>
            </a:r>
          </a:p>
          <a:p>
            <a:endParaRPr lang="en-US" sz="1600" smtClean="0"/>
          </a:p>
          <a:p>
            <a:r>
              <a:rPr lang="en-US" sz="1600" smtClean="0">
                <a:latin typeface="Courier New" pitchFamily="49" charset="0"/>
              </a:rPr>
              <a:t>next()</a:t>
            </a:r>
          </a:p>
          <a:p>
            <a:r>
              <a:rPr lang="en-US" sz="1600" smtClean="0">
                <a:latin typeface="Courier New" pitchFamily="49" charset="0"/>
              </a:rPr>
              <a:t>remove()</a:t>
            </a:r>
          </a:p>
          <a:p>
            <a:r>
              <a:rPr lang="en-US" sz="1600" smtClean="0">
                <a:latin typeface="Courier New" pitchFamily="49" charset="0"/>
              </a:rPr>
              <a:t>remove()</a:t>
            </a:r>
            <a:r>
              <a:rPr lang="en-US" sz="1600" smtClean="0"/>
              <a:t>   //blows up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814DAE9B-28D7-4A5E-81F8-BF911C25B0A9}" type="slidenum">
              <a:rPr lang="en-US" smtClean="0"/>
              <a:pPr/>
              <a:t>25</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D4B981B6-CBA4-44CA-B298-2E6DD40CE72C}" type="slidenum">
              <a:rPr lang="en-US" smtClean="0"/>
              <a:pPr/>
              <a:t>26</a:t>
            </a:fld>
            <a:endParaRPr lang="en-US"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z="1600" smtClean="0"/>
          </a:p>
          <a:p>
            <a:r>
              <a:rPr lang="en-US" sz="1600" smtClean="0"/>
              <a:t>In the example above, </a:t>
            </a:r>
            <a:r>
              <a:rPr lang="en-US" sz="1600" smtClean="0">
                <a:latin typeface="Courier New" pitchFamily="49" charset="0"/>
              </a:rPr>
              <a:t>next()</a:t>
            </a:r>
            <a:r>
              <a:rPr lang="en-US" sz="1600" smtClean="0"/>
              <a:t> causes the iterator to slide past </a:t>
            </a:r>
            <a:r>
              <a:rPr lang="en-US" sz="1600" smtClean="0">
                <a:latin typeface="Courier New" pitchFamily="49" charset="0"/>
              </a:rPr>
              <a:t>"at" </a:t>
            </a:r>
            <a:r>
              <a:rPr lang="en-US" sz="1600" smtClean="0"/>
              <a:t>and stop in front of</a:t>
            </a:r>
            <a:r>
              <a:rPr lang="en-US" sz="1600" smtClean="0">
                <a:latin typeface="Courier New" pitchFamily="49" charset="0"/>
              </a:rPr>
              <a:t> "is".</a:t>
            </a:r>
            <a:r>
              <a:rPr lang="en-US" sz="1600" smtClean="0"/>
              <a:t>  </a:t>
            </a:r>
            <a:r>
              <a:rPr lang="en-US" sz="1600" smtClean="0">
                <a:latin typeface="Courier New" pitchFamily="49" charset="0"/>
              </a:rPr>
              <a:t>next() </a:t>
            </a:r>
            <a:r>
              <a:rPr lang="en-US" sz="1600" smtClean="0"/>
              <a:t>returns the reference to </a:t>
            </a:r>
            <a:r>
              <a:rPr lang="en-US" sz="1600" smtClean="0">
                <a:latin typeface="Courier New" pitchFamily="49" charset="0"/>
              </a:rPr>
              <a:t>"at"</a:t>
            </a:r>
            <a:r>
              <a:rPr lang="en-US" sz="1600" smtClean="0"/>
              <a:t>.  </a:t>
            </a:r>
          </a:p>
          <a:p>
            <a:endParaRPr lang="en-US" sz="1600" smtClean="0"/>
          </a:p>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3379D188-250B-4DD6-8D73-CAC4129F7242}" type="slidenum">
              <a:rPr lang="en-US" smtClean="0"/>
              <a:pPr/>
              <a:t>27</a:t>
            </a:fld>
            <a:endParaRPr lang="en-US"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r>
              <a:rPr lang="en-US" sz="1600" smtClean="0"/>
              <a:t>Remove always removes the last reference returned by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Remove can only be called after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a:t>
            </a:r>
          </a:p>
          <a:p>
            <a:endParaRPr lang="en-US" sz="1600" smtClean="0"/>
          </a:p>
          <a:p>
            <a:r>
              <a:rPr lang="en-US" sz="1600" smtClean="0">
                <a:latin typeface="Courier New" pitchFamily="49" charset="0"/>
              </a:rPr>
              <a:t>next()</a:t>
            </a:r>
          </a:p>
          <a:p>
            <a:r>
              <a:rPr lang="en-US" sz="1600" smtClean="0">
                <a:latin typeface="Courier New" pitchFamily="49" charset="0"/>
              </a:rPr>
              <a:t>remove()</a:t>
            </a:r>
          </a:p>
          <a:p>
            <a:r>
              <a:rPr lang="en-US" sz="1600" smtClean="0">
                <a:latin typeface="Courier New" pitchFamily="49" charset="0"/>
              </a:rPr>
              <a:t>remove()</a:t>
            </a:r>
            <a:r>
              <a:rPr lang="en-US" sz="1600" smtClean="0"/>
              <a:t>   //blows up</a:t>
            </a:r>
          </a:p>
          <a:p>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E60B217B-F10B-4217-97F3-9973B90B1392}" type="slidenum">
              <a:rPr lang="en-US" smtClean="0"/>
              <a:pPr/>
              <a:t>28</a:t>
            </a:fld>
            <a:endParaRPr lang="en-US" smtClean="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r>
              <a:rPr lang="en-US" sz="1600" smtClean="0"/>
              <a:t>Remove always removed the last reference returned by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Remove can only be called after a call to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a:t>
            </a:r>
          </a:p>
          <a:p>
            <a:endParaRPr lang="en-US" sz="1600" smtClean="0"/>
          </a:p>
          <a:p>
            <a:r>
              <a:rPr lang="en-US" sz="1600" smtClean="0">
                <a:latin typeface="Courier New" pitchFamily="49" charset="0"/>
              </a:rPr>
              <a:t>next()</a:t>
            </a:r>
          </a:p>
          <a:p>
            <a:r>
              <a:rPr lang="en-US" sz="1600" smtClean="0">
                <a:latin typeface="Courier New" pitchFamily="49" charset="0"/>
              </a:rPr>
              <a:t>remove()</a:t>
            </a:r>
          </a:p>
          <a:p>
            <a:r>
              <a:rPr lang="en-US" sz="1600" smtClean="0">
                <a:latin typeface="Courier New" pitchFamily="49" charset="0"/>
              </a:rPr>
              <a:t>remove()</a:t>
            </a:r>
            <a:r>
              <a:rPr lang="en-US" sz="1600" smtClean="0"/>
              <a:t>   //blows up</a:t>
            </a:r>
          </a:p>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06488" y="696913"/>
            <a:ext cx="4646612" cy="34861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415790"/>
            <a:ext cx="5486400" cy="4183380"/>
          </a:xfrm>
          <a:prstGeom prst="rect">
            <a:avLst/>
          </a:prstGeom>
          <a:noFill/>
          <a:ln>
            <a:miter lim="800000"/>
            <a:headEnd/>
            <a:tailEnd/>
          </a:ln>
        </p:spPr>
        <p:txBody>
          <a:bodyPr lIns="91432" tIns="45716" rIns="91432" bIns="45716"/>
          <a:lstStyle/>
          <a:p>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2A213163-29F9-458D-A611-F277C7E7DF17}" type="slidenum">
              <a:rPr lang="en-US" smtClean="0"/>
              <a:pPr/>
              <a:t>30</a:t>
            </a:fld>
            <a:endParaRPr lang="en-US"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DACD3849-1554-4674-869C-F67E74689151}" type="slidenum">
              <a:rPr lang="en-US" smtClean="0"/>
              <a:pPr/>
              <a:t>31</a:t>
            </a:fld>
            <a:endParaRPr lang="en-US" smtClean="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FBE6B6AE-D447-47B6-9A2E-63E7E52C5586}" type="slidenum">
              <a:rPr lang="en-US" smtClean="0"/>
              <a:pPr/>
              <a:t>32</a:t>
            </a:fld>
            <a:endParaRPr lang="en-US" smtClean="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the next reference in the list is returned and the iterator moves up one spot.</a:t>
            </a:r>
          </a:p>
          <a:p>
            <a:endParaRPr lang="en-US" sz="1600" smtClean="0"/>
          </a:p>
          <a:p>
            <a:r>
              <a:rPr lang="en-US" sz="1600" smtClean="0"/>
              <a:t>When the </a:t>
            </a:r>
            <a:r>
              <a:rPr lang="en-US" sz="1600" smtClean="0">
                <a:latin typeface="Courier New" pitchFamily="49" charset="0"/>
              </a:rPr>
              <a:t>previous()</a:t>
            </a:r>
            <a:r>
              <a:rPr lang="en-US" sz="1600" smtClean="0"/>
              <a:t> method is called, the previous reference in the list is returned and the iterator moves back one spot.</a:t>
            </a:r>
          </a:p>
          <a:p>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77EFD968-6394-4C65-90A3-C4666D013053}" type="slidenum">
              <a:rPr lang="en-US" smtClean="0"/>
              <a:pPr/>
              <a:t>33</a:t>
            </a:fld>
            <a:endParaRPr lang="en-US"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previous()</a:t>
            </a:r>
            <a:r>
              <a:rPr lang="en-US" sz="1600" smtClean="0"/>
              <a:t> method is called, the previous reference in the list is returned and the iterator moves back one spot.</a:t>
            </a:r>
          </a:p>
          <a:p>
            <a:r>
              <a:rPr lang="en-US" sz="1600" smtClean="0"/>
              <a:t>The </a:t>
            </a:r>
            <a:r>
              <a:rPr lang="en-US" sz="1600" smtClean="0">
                <a:latin typeface="Courier New" pitchFamily="49" charset="0"/>
              </a:rPr>
              <a:t>set()</a:t>
            </a:r>
            <a:r>
              <a:rPr lang="en-US" sz="1600" smtClean="0"/>
              <a:t> method always modifies the last reference returned by a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call.</a:t>
            </a:r>
          </a:p>
          <a:p>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D05F2376-47C4-42B4-8B0A-C419CD7B31D8}" type="slidenum">
              <a:rPr lang="en-US" smtClean="0"/>
              <a:pPr/>
              <a:t>34</a:t>
            </a:fld>
            <a:endParaRPr lang="en-US"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r>
              <a:rPr lang="en-US" sz="1600" smtClean="0"/>
              <a:t>The </a:t>
            </a:r>
            <a:r>
              <a:rPr lang="en-US" sz="1600" smtClean="0">
                <a:latin typeface="Courier New" pitchFamily="49" charset="0"/>
              </a:rPr>
              <a:t>set()</a:t>
            </a:r>
            <a:r>
              <a:rPr lang="en-US" sz="1600" smtClean="0"/>
              <a:t> method always modifies the last reference returned by a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call.</a:t>
            </a:r>
          </a:p>
          <a:p>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12A1108D-C40E-4B11-BD38-E2DCF97031B7}" type="slidenum">
              <a:rPr lang="en-US" smtClean="0"/>
              <a:pPr/>
              <a:t>35</a:t>
            </a:fld>
            <a:endParaRPr lang="en-US" smtClean="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01108868-BA2D-4136-B883-D1646277CB9E}" type="slidenum">
              <a:rPr lang="en-US" smtClean="0"/>
              <a:pPr/>
              <a:t>36</a:t>
            </a:fld>
            <a:endParaRPr lang="en-US"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z="1600" smtClean="0"/>
          </a:p>
          <a:p>
            <a:r>
              <a:rPr lang="en-US" sz="1600" smtClean="0"/>
              <a:t>In the example above, </a:t>
            </a:r>
            <a:r>
              <a:rPr lang="en-US" sz="1600" smtClean="0">
                <a:latin typeface="Courier New" pitchFamily="49" charset="0"/>
              </a:rPr>
              <a:t>next()</a:t>
            </a:r>
            <a:r>
              <a:rPr lang="en-US" sz="1600" smtClean="0"/>
              <a:t> causes the iterator to slide past </a:t>
            </a:r>
            <a:r>
              <a:rPr lang="en-US" sz="1600" smtClean="0">
                <a:latin typeface="Courier New" pitchFamily="49" charset="0"/>
              </a:rPr>
              <a:t>"at" </a:t>
            </a:r>
            <a:r>
              <a:rPr lang="en-US" sz="1600" smtClean="0"/>
              <a:t>and stop in front of</a:t>
            </a:r>
            <a:r>
              <a:rPr lang="en-US" sz="1600" smtClean="0">
                <a:latin typeface="Courier New" pitchFamily="49" charset="0"/>
              </a:rPr>
              <a:t> "is".</a:t>
            </a:r>
            <a:r>
              <a:rPr lang="en-US" sz="1600" smtClean="0"/>
              <a:t>  </a:t>
            </a:r>
            <a:r>
              <a:rPr lang="en-US" sz="1600" smtClean="0">
                <a:latin typeface="Courier New" pitchFamily="49" charset="0"/>
              </a:rPr>
              <a:t>next() </a:t>
            </a:r>
            <a:r>
              <a:rPr lang="en-US" sz="1600" smtClean="0"/>
              <a:t>returns the reference to </a:t>
            </a:r>
            <a:r>
              <a:rPr lang="en-US" sz="1600" smtClean="0">
                <a:latin typeface="Courier New" pitchFamily="49" charset="0"/>
              </a:rPr>
              <a:t>"at"</a:t>
            </a:r>
            <a:r>
              <a:rPr lang="en-US" sz="1600" smtClean="0"/>
              <a:t>.  </a:t>
            </a:r>
          </a:p>
          <a:p>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275004C0-BF36-4EE5-A12D-14A5683ADA3A}" type="slidenum">
              <a:rPr lang="en-US" smtClean="0"/>
              <a:pPr/>
              <a:t>37</a:t>
            </a:fld>
            <a:endParaRPr lang="en-US" smtClean="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r>
              <a:rPr lang="en-US" sz="1600" smtClean="0"/>
              <a:t>The </a:t>
            </a:r>
            <a:r>
              <a:rPr lang="en-US" sz="1600" smtClean="0">
                <a:latin typeface="Courier New" pitchFamily="49" charset="0"/>
              </a:rPr>
              <a:t>set()</a:t>
            </a:r>
            <a:r>
              <a:rPr lang="en-US" sz="1600" smtClean="0"/>
              <a:t> method always modifies the last reference returned by a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call.</a:t>
            </a:r>
          </a:p>
          <a:p>
            <a:endParaRPr lang="en-US" sz="1600" smtClean="0"/>
          </a:p>
          <a:p>
            <a:r>
              <a:rPr lang="en-US" sz="1600" smtClean="0"/>
              <a:t>The set method can be called multiple times on the same spot.</a:t>
            </a:r>
          </a:p>
          <a:p>
            <a:endParaRPr lang="en-US" sz="1600" smtClean="0"/>
          </a:p>
          <a:p>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FED0F942-40AA-4D10-87A7-4E7BC5FFEE23}" type="slidenum">
              <a:rPr lang="en-US" smtClean="0"/>
              <a:pPr/>
              <a:t>38</a:t>
            </a:fld>
            <a:endParaRPr lang="en-US" smtClean="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2432D5CC-A51A-44C4-8E14-96C022AA8A2F}" type="slidenum">
              <a:rPr lang="en-US" smtClean="0"/>
              <a:pPr/>
              <a:t>39</a:t>
            </a:fld>
            <a:endParaRPr lang="en-US" smtClean="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r>
              <a:rPr lang="en-US" sz="1600" smtClean="0"/>
              <a:t>An iterator essentially points to an area in front of each reference.   It starts out pointing in front of the 1</a:t>
            </a:r>
            <a:r>
              <a:rPr lang="en-US" sz="1600" baseline="30000" smtClean="0"/>
              <a:t>st</a:t>
            </a:r>
            <a:r>
              <a:rPr lang="en-US" sz="1600" smtClean="0"/>
              <a:t> reference.</a:t>
            </a:r>
          </a:p>
          <a:p>
            <a:r>
              <a:rPr lang="en-US" sz="1600" smtClean="0"/>
              <a:t>The </a:t>
            </a:r>
            <a:r>
              <a:rPr lang="en-US" sz="1600" smtClean="0">
                <a:latin typeface="Courier New" pitchFamily="49" charset="0"/>
              </a:rPr>
              <a:t>add()</a:t>
            </a:r>
            <a:r>
              <a:rPr lang="en-US" sz="1600" smtClean="0"/>
              <a:t> method always adds the new reference in front the iterator’s current position.</a:t>
            </a:r>
          </a:p>
          <a:p>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7A3B1B51-7958-43FA-B3FA-162E3111F5D8}" type="slidenum">
              <a:rPr lang="en-US" smtClean="0"/>
              <a:pPr/>
              <a:t>40</a:t>
            </a:fld>
            <a:endParaRPr lang="en-US" smtClean="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r>
              <a:rPr lang="en-US" sz="1600" smtClean="0"/>
              <a:t>An iterator essentially points to an area in front of each reference.   It starts out pointing in front of the 1</a:t>
            </a:r>
            <a:r>
              <a:rPr lang="en-US" sz="1600" baseline="30000" smtClean="0"/>
              <a:t>st</a:t>
            </a:r>
            <a:r>
              <a:rPr lang="en-US" sz="1600" smtClean="0"/>
              <a:t> reference.</a:t>
            </a:r>
          </a:p>
          <a:p>
            <a:r>
              <a:rPr lang="en-US" sz="1600" smtClean="0"/>
              <a:t>The </a:t>
            </a:r>
            <a:r>
              <a:rPr lang="en-US" sz="1600" smtClean="0">
                <a:latin typeface="Courier New" pitchFamily="49" charset="0"/>
              </a:rPr>
              <a:t>add()</a:t>
            </a:r>
            <a:r>
              <a:rPr lang="en-US" sz="1600" smtClean="0"/>
              <a:t> method always adds the new reference in front the iterator’s current position.</a:t>
            </a:r>
          </a:p>
          <a:p>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841B54EB-C2EA-44F3-B689-28F0BB47F1F8}" type="slidenum">
              <a:rPr lang="en-US" smtClean="0"/>
              <a:pPr/>
              <a:t>41</a:t>
            </a:fld>
            <a:endParaRPr lang="en-US" smtClean="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r>
              <a:rPr lang="en-US" sz="1600" smtClean="0"/>
              <a:t>An iterator essentially points to an area in front of each reference.   It starts out pointing in front of the 1</a:t>
            </a:r>
            <a:r>
              <a:rPr lang="en-US" sz="1600" baseline="30000" smtClean="0"/>
              <a:t>st</a:t>
            </a:r>
            <a:r>
              <a:rPr lang="en-US" sz="1600" smtClean="0"/>
              <a:t> reference.</a:t>
            </a:r>
          </a:p>
          <a:p>
            <a:r>
              <a:rPr lang="en-US" sz="1600" smtClean="0"/>
              <a:t>The </a:t>
            </a:r>
            <a:r>
              <a:rPr lang="en-US" sz="1600" smtClean="0">
                <a:latin typeface="Courier New" pitchFamily="49" charset="0"/>
              </a:rPr>
              <a:t>add()</a:t>
            </a:r>
            <a:r>
              <a:rPr lang="en-US" sz="1600" smtClean="0"/>
              <a:t> method always adds the new reference in front the iterator’s current spot/position.</a:t>
            </a:r>
          </a:p>
          <a:p>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B228099A-8076-4C04-BDBC-6691A40FFE25}" type="slidenum">
              <a:rPr lang="en-US" smtClean="0"/>
              <a:pPr/>
              <a:t>42</a:t>
            </a:fld>
            <a:endParaRPr lang="en-US" smtClean="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a:p>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1EC5BE53-2876-49AD-80B2-AFEB1D129899}" type="slidenum">
              <a:rPr lang="en-US" smtClean="0"/>
              <a:pPr/>
              <a:t>43</a:t>
            </a:fld>
            <a:endParaRPr lang="en-US" smtClean="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next()</a:t>
            </a:r>
            <a:r>
              <a:rPr lang="en-US" sz="1600" smtClean="0"/>
              <a:t> method is called, a reference to the current item is returned and the iterator moves up one spot.</a:t>
            </a:r>
          </a:p>
          <a:p>
            <a:r>
              <a:rPr lang="en-US" sz="1600" smtClean="0"/>
              <a:t/>
            </a:r>
            <a:br>
              <a:rPr lang="en-US" sz="1600" smtClean="0"/>
            </a:br>
            <a:r>
              <a:rPr lang="en-US" sz="1600" smtClean="0"/>
              <a:t>How does this happen?   The Iterator saves the current position of the iterator.   When the next() method is called, the old position is returned and the next position is saved as the current position of the iterator.  Each time next() is called, the next position becomes the current position.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2483E027-7EA9-4164-9B53-881EF67C300E}" type="slidenum">
              <a:rPr lang="en-US" smtClean="0"/>
              <a:pPr/>
              <a:t>44</a:t>
            </a:fld>
            <a:endParaRPr lang="en-US" smtClean="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r>
              <a:rPr lang="en-US" sz="1600" smtClean="0"/>
              <a:t>When the </a:t>
            </a:r>
            <a:r>
              <a:rPr lang="en-US" sz="1600" smtClean="0">
                <a:latin typeface="Courier New" pitchFamily="49" charset="0"/>
              </a:rPr>
              <a:t>previous()</a:t>
            </a:r>
            <a:r>
              <a:rPr lang="en-US" sz="1600" smtClean="0"/>
              <a:t> method is called, the previous reference in the list is returned and the iterator moves back one spot.</a:t>
            </a:r>
          </a:p>
          <a:p>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24AD278D-A0B9-4B04-9F7E-365E102A687B}" type="slidenum">
              <a:rPr lang="en-US" smtClean="0"/>
              <a:pPr/>
              <a:t>45</a:t>
            </a:fld>
            <a:endParaRPr lang="en-US" smtClean="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r>
              <a:rPr lang="en-US" sz="1600" smtClean="0"/>
              <a:t>The </a:t>
            </a:r>
            <a:r>
              <a:rPr lang="en-US" sz="1600" smtClean="0">
                <a:latin typeface="Courier New" pitchFamily="49" charset="0"/>
              </a:rPr>
              <a:t>set()</a:t>
            </a:r>
            <a:r>
              <a:rPr lang="en-US" sz="1600" smtClean="0"/>
              <a:t> method always modifies the last reference returned by a </a:t>
            </a:r>
            <a:r>
              <a:rPr lang="en-US" sz="1600" smtClean="0">
                <a:latin typeface="Courier New" pitchFamily="49" charset="0"/>
              </a:rPr>
              <a:t>next()</a:t>
            </a:r>
            <a:r>
              <a:rPr lang="en-US" sz="1600" smtClean="0"/>
              <a:t> or </a:t>
            </a:r>
            <a:r>
              <a:rPr lang="en-US" sz="1600" smtClean="0">
                <a:latin typeface="Courier New" pitchFamily="49" charset="0"/>
              </a:rPr>
              <a:t>previous()</a:t>
            </a:r>
            <a:r>
              <a:rPr lang="en-US" sz="1600" smtClean="0"/>
              <a:t> call.</a:t>
            </a:r>
          </a:p>
          <a:p>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6253C574-6F62-4CFB-AC68-02BB9A220122}" type="slidenum">
              <a:rPr lang="en-US" smtClean="0"/>
              <a:pPr/>
              <a:t>46</a:t>
            </a:fld>
            <a:endParaRPr lang="en-US" smtClean="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106488" y="696913"/>
            <a:ext cx="4646612" cy="34861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685800" y="4415790"/>
            <a:ext cx="5486400" cy="4183380"/>
          </a:xfrm>
          <a:prstGeom prst="rect">
            <a:avLst/>
          </a:prstGeom>
          <a:noFill/>
          <a:ln>
            <a:miter lim="800000"/>
            <a:headEnd/>
            <a:tailEnd/>
          </a:ln>
        </p:spPr>
        <p:txBody>
          <a:bodyPr lIns="91432" tIns="45716" rIns="91432" bIns="45716"/>
          <a:lstStyle/>
          <a:p>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5B6F5C95-7571-42C6-B48E-DB56678A85F0}" type="slidenum">
              <a:rPr lang="en-US" smtClean="0"/>
              <a:pPr/>
              <a:t>48</a:t>
            </a:fld>
            <a:endParaRPr lang="en-US" smtClean="0"/>
          </a:p>
        </p:txBody>
      </p:sp>
      <p:sp>
        <p:nvSpPr>
          <p:cNvPr id="137219" name="Rectangle 2"/>
          <p:cNvSpPr>
            <a:spLocks noGrp="1" noRot="1" noChangeAspect="1" noChangeArrowheads="1" noTextEdit="1"/>
          </p:cNvSpPr>
          <p:nvPr>
            <p:ph type="sldImg"/>
          </p:nvPr>
        </p:nvSpPr>
        <p:spPr>
          <a:xfrm>
            <a:off x="1106488" y="698500"/>
            <a:ext cx="4645025" cy="3482975"/>
          </a:xfrm>
          <a:ln/>
        </p:spPr>
      </p:sp>
      <p:sp>
        <p:nvSpPr>
          <p:cNvPr id="1372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5A5B1ACD-570A-420B-87F9-6016D3ED05AB}" type="slidenum">
              <a:rPr lang="en-US" smtClean="0"/>
              <a:pPr/>
              <a:t>49</a:t>
            </a:fld>
            <a:endParaRPr lang="en-US" smtClean="0"/>
          </a:p>
        </p:txBody>
      </p:sp>
      <p:sp>
        <p:nvSpPr>
          <p:cNvPr id="138243" name="Rectangle 2"/>
          <p:cNvSpPr>
            <a:spLocks noGrp="1" noRot="1" noChangeAspect="1" noChangeArrowheads="1" noTextEdit="1"/>
          </p:cNvSpPr>
          <p:nvPr>
            <p:ph type="sldImg"/>
          </p:nvPr>
        </p:nvSpPr>
        <p:spPr>
          <a:xfrm>
            <a:off x="1106488" y="698500"/>
            <a:ext cx="4645025" cy="3482975"/>
          </a:xfrm>
          <a:ln/>
        </p:spPr>
      </p:sp>
      <p:sp>
        <p:nvSpPr>
          <p:cNvPr id="13824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9F216838-AC43-4AA0-8384-0C8ABD1BB411}" type="slidenum">
              <a:rPr lang="en-US" smtClean="0"/>
              <a:pPr/>
              <a:t>50</a:t>
            </a:fld>
            <a:endParaRPr lang="en-US" smtClean="0"/>
          </a:p>
        </p:txBody>
      </p:sp>
      <p:sp>
        <p:nvSpPr>
          <p:cNvPr id="139267" name="Rectangle 2"/>
          <p:cNvSpPr>
            <a:spLocks noGrp="1" noRot="1" noChangeAspect="1" noChangeArrowheads="1" noTextEdit="1"/>
          </p:cNvSpPr>
          <p:nvPr>
            <p:ph type="sldImg"/>
          </p:nvPr>
        </p:nvSpPr>
        <p:spPr>
          <a:xfrm>
            <a:off x="1106488" y="698500"/>
            <a:ext cx="4645025" cy="3482975"/>
          </a:xfrm>
          <a:ln/>
        </p:spPr>
      </p:sp>
      <p:sp>
        <p:nvSpPr>
          <p:cNvPr id="13926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897E80BE-94A6-4C77-B6A2-945CF278E712}" type="slidenum">
              <a:rPr lang="en-US" smtClean="0"/>
              <a:pPr/>
              <a:t>51</a:t>
            </a:fld>
            <a:endParaRPr lang="en-US" smtClean="0"/>
          </a:p>
        </p:txBody>
      </p:sp>
      <p:sp>
        <p:nvSpPr>
          <p:cNvPr id="140291" name="Rectangle 2"/>
          <p:cNvSpPr>
            <a:spLocks noGrp="1" noRot="1" noChangeAspect="1" noChangeArrowheads="1" noTextEdit="1"/>
          </p:cNvSpPr>
          <p:nvPr>
            <p:ph type="sldImg"/>
          </p:nvPr>
        </p:nvSpPr>
        <p:spPr>
          <a:xfrm>
            <a:off x="1106488" y="698500"/>
            <a:ext cx="4645025" cy="3482975"/>
          </a:xfrm>
          <a:ln/>
        </p:spPr>
      </p:sp>
      <p:sp>
        <p:nvSpPr>
          <p:cNvPr id="14029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r>
              <a:rPr lang="en-US" smtClean="0"/>
              <a:t>©A+ Computer Science     www.apluscompsci.com                 </a:t>
            </a:r>
            <a:fld id="{DC5D744A-5FC4-41A5-895E-95E35C9166FC}" type="slidenum">
              <a:rPr lang="en-US" smtClean="0"/>
              <a:pPr/>
              <a:t>52</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31446452-71D3-47CA-9B78-D68B5E774A9F}"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8BE4B3AF-E02E-4633-A707-405A66262339}"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11BFCD80-A695-4F81-BEDB-62C2A2D4593B}"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32C32181-61AA-40C7-A7B2-E40422B0A249}"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Slide Number Placeholder 7"/>
          <p:cNvSpPr>
            <a:spLocks noGrp="1"/>
          </p:cNvSpPr>
          <p:nvPr>
            <p:ph type="sldNum" sz="quarter" idx="11"/>
          </p:nvPr>
        </p:nvSpPr>
        <p:spPr/>
        <p:txBody>
          <a:bodyPr/>
          <a:lstStyle>
            <a:lvl1pPr>
              <a:defRPr/>
            </a:lvl1pPr>
          </a:lstStyle>
          <a:p>
            <a:pPr>
              <a:defRPr/>
            </a:pPr>
            <a:fld id="{12529F3A-9CEA-4967-B579-5F9BB09FEB67}" type="slidenum">
              <a:rPr lang="en-US"/>
              <a:pPr>
                <a:defRPr/>
              </a:pPr>
              <a:t>‹#›</a:t>
            </a:fld>
            <a:endParaRPr lang="en-US"/>
          </a:p>
        </p:txBody>
      </p:sp>
      <p:sp>
        <p:nvSpPr>
          <p:cNvPr id="9" name="Footer Placeholder 8"/>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p>
        </p:txBody>
      </p:sp>
      <p:sp>
        <p:nvSpPr>
          <p:cNvPr id="4" name="Slide Number Placeholder 3"/>
          <p:cNvSpPr>
            <a:spLocks noGrp="1"/>
          </p:cNvSpPr>
          <p:nvPr>
            <p:ph type="sldNum" sz="quarter" idx="11"/>
          </p:nvPr>
        </p:nvSpPr>
        <p:spPr/>
        <p:txBody>
          <a:bodyPr/>
          <a:lstStyle>
            <a:lvl1pPr>
              <a:defRPr/>
            </a:lvl1pPr>
          </a:lstStyle>
          <a:p>
            <a:pPr>
              <a:defRPr/>
            </a:pPr>
            <a:fld id="{D872ED1A-BBC5-4F1C-A960-82BC5835C4AE}" type="slidenum">
              <a:rPr lang="en-US"/>
              <a:pPr>
                <a:defRPr/>
              </a:pPr>
              <a:t>‹#›</a:t>
            </a:fld>
            <a:endParaRPr lang="en-US"/>
          </a:p>
        </p:txBody>
      </p:sp>
      <p:sp>
        <p:nvSpPr>
          <p:cNvPr id="5" name="Footer Placeholder 4"/>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Slide Number Placeholder 2"/>
          <p:cNvSpPr>
            <a:spLocks noGrp="1"/>
          </p:cNvSpPr>
          <p:nvPr>
            <p:ph type="sldNum" sz="quarter" idx="11"/>
          </p:nvPr>
        </p:nvSpPr>
        <p:spPr/>
        <p:txBody>
          <a:bodyPr/>
          <a:lstStyle>
            <a:lvl1pPr>
              <a:defRPr/>
            </a:lvl1pPr>
          </a:lstStyle>
          <a:p>
            <a:pPr>
              <a:defRPr/>
            </a:pPr>
            <a:fld id="{4788E96F-9CFE-49F2-B510-E284834DF7AE}" type="slidenum">
              <a:rPr lang="en-US"/>
              <a:pPr>
                <a:defRPr/>
              </a:pPr>
              <a:t>‹#›</a:t>
            </a:fld>
            <a:endParaRPr lang="en-US"/>
          </a:p>
        </p:txBody>
      </p:sp>
      <p:sp>
        <p:nvSpPr>
          <p:cNvPr id="4" name="Footer Placeholder 3"/>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pic>
        <p:nvPicPr>
          <p:cNvPr id="5" name="Picture 4"/>
          <p:cNvPicPr>
            <a:picLocks noChangeAspect="1" noChangeArrowheads="1"/>
          </p:cNvPicPr>
          <p:nvPr userDrawn="1"/>
        </p:nvPicPr>
        <p:blipFill>
          <a:blip r:embed="rId2" cstate="print"/>
          <a:srcRect/>
          <a:stretch>
            <a:fillRect/>
          </a:stretch>
        </p:blipFill>
        <p:spPr bwMode="auto">
          <a:xfrm>
            <a:off x="6934200" y="6400800"/>
            <a:ext cx="1905000" cy="258731"/>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9125259E-F6A2-49A5-955A-CACA74FFAC45}"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A782DA5F-0A4F-45CA-8014-49C8FE9A96D0}"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565C997A-E0ED-43BF-8F59-40F59467006F}"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62F36BCE-6EB0-406C-AADD-979162C6D6A3}"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defRPr>
            </a:lvl1pPr>
          </a:lstStyle>
          <a:p>
            <a:pPr>
              <a:defRPr/>
            </a:pPr>
            <a:fld id="{5A4607DD-3677-4506-92BC-DE29CEB7CEFB}" type="slidenum">
              <a:rPr lang="en-US"/>
              <a:pPr>
                <a:defRPr/>
              </a:pPr>
              <a:t>‹#›</a:t>
            </a:fld>
            <a:endParaRPr lang="en-US"/>
          </a:p>
        </p:txBody>
      </p:sp>
      <p:sp>
        <p:nvSpPr>
          <p:cNvPr id="1031" name="Rectangle 7"/>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1"/>
          </p:nvPr>
        </p:nvSpPr>
        <p:spPr>
          <a:noFill/>
        </p:spPr>
        <p:txBody>
          <a:bodyPr/>
          <a:lstStyle/>
          <a:p>
            <a:endParaRPr lang="en-US" b="0" smtClean="0">
              <a:latin typeface="Times New Roman" pitchFamily="18" charset="0"/>
            </a:endParaRPr>
          </a:p>
          <a:p>
            <a:endParaRPr lang="en-US" smtClean="0"/>
          </a:p>
          <a:p>
            <a:endParaRPr lang="en-US" smtClean="0"/>
          </a:p>
          <a:p>
            <a:r>
              <a:rPr lang="en-US" smtClean="0"/>
              <a:t>© A+ Computer Science  -  www.apluscompsci.com</a:t>
            </a:r>
          </a:p>
        </p:txBody>
      </p:sp>
      <p:sp>
        <p:nvSpPr>
          <p:cNvPr id="7" name="Rectangle 6"/>
          <p:cNvSpPr/>
          <p:nvPr/>
        </p:nvSpPr>
        <p:spPr>
          <a:xfrm>
            <a:off x="533400" y="1219200"/>
            <a:ext cx="8153400" cy="4401205"/>
          </a:xfrm>
          <a:prstGeom prst="rect">
            <a:avLst/>
          </a:prstGeom>
          <a:effectLst>
            <a:glow rad="228600">
              <a:schemeClr val="accent4">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lIns="91440" tIns="45720" rIns="91440" bIns="45720">
            <a:spAutoFit/>
          </a:bodyPr>
          <a:lstStyle>
            <a:defPPr>
              <a:defRPr lang="en-US"/>
            </a:defPPr>
            <a:lvl1pPr algn="l" rtl="0" eaLnBrk="0" fontAlgn="base" hangingPunct="0">
              <a:spcBef>
                <a:spcPct val="0"/>
              </a:spcBef>
              <a:spcAft>
                <a:spcPct val="0"/>
              </a:spcAft>
              <a:defRPr sz="26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6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6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6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600" b="1" kern="1200">
                <a:solidFill>
                  <a:schemeClr val="tx1"/>
                </a:solidFill>
                <a:latin typeface="Tahoma" pitchFamily="34" charset="0"/>
                <a:ea typeface="+mn-ea"/>
                <a:cs typeface="+mn-cs"/>
              </a:defRPr>
            </a:lvl5pPr>
            <a:lvl6pPr marL="2286000" algn="l" defTabSz="914400" rtl="0" eaLnBrk="1" latinLnBrk="0" hangingPunct="1">
              <a:defRPr sz="2600" b="1" kern="1200">
                <a:solidFill>
                  <a:schemeClr val="tx1"/>
                </a:solidFill>
                <a:latin typeface="Tahoma" pitchFamily="34" charset="0"/>
                <a:ea typeface="+mn-ea"/>
                <a:cs typeface="+mn-cs"/>
              </a:defRPr>
            </a:lvl6pPr>
            <a:lvl7pPr marL="2743200" algn="l" defTabSz="914400" rtl="0" eaLnBrk="1" latinLnBrk="0" hangingPunct="1">
              <a:defRPr sz="2600" b="1" kern="1200">
                <a:solidFill>
                  <a:schemeClr val="tx1"/>
                </a:solidFill>
                <a:latin typeface="Tahoma" pitchFamily="34" charset="0"/>
                <a:ea typeface="+mn-ea"/>
                <a:cs typeface="+mn-cs"/>
              </a:defRPr>
            </a:lvl7pPr>
            <a:lvl8pPr marL="3200400" algn="l" defTabSz="914400" rtl="0" eaLnBrk="1" latinLnBrk="0" hangingPunct="1">
              <a:defRPr sz="2600" b="1" kern="1200">
                <a:solidFill>
                  <a:schemeClr val="tx1"/>
                </a:solidFill>
                <a:latin typeface="Tahoma" pitchFamily="34" charset="0"/>
                <a:ea typeface="+mn-ea"/>
                <a:cs typeface="+mn-cs"/>
              </a:defRPr>
            </a:lvl8pPr>
            <a:lvl9pPr marL="3657600" algn="l" defTabSz="914400" rtl="0" eaLnBrk="1" latinLnBrk="0" hangingPunct="1">
              <a:defRPr sz="2600" b="1" kern="1200">
                <a:solidFill>
                  <a:schemeClr val="tx1"/>
                </a:solidFill>
                <a:latin typeface="Tahoma" pitchFamily="34" charset="0"/>
                <a:ea typeface="+mn-ea"/>
                <a:cs typeface="+mn-cs"/>
              </a:defRPr>
            </a:lvl9pPr>
          </a:lstStyle>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t/>
            </a:r>
            <a:b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br>
            <a:r>
              <a:rPr lang="en-US" sz="4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A+ Computer Science</a:t>
            </a:r>
          </a:p>
          <a:p>
            <a:pPr algn="ctr"/>
            <a:r>
              <a:rPr lang="en-US" sz="8000" dirty="0" err="1"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Iterators</a:t>
            </a: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endParaRPr>
          </a:p>
          <a:p>
            <a:pPr algn="ct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752600" y="1600200"/>
            <a:ext cx="5638800" cy="3416320"/>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What </a:t>
            </a:r>
          </a:p>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is a</a:t>
            </a:r>
          </a:p>
          <a:p>
            <a:pPr algn="ctr"/>
            <a:r>
              <a:rPr lang="en-US" sz="7200" dirty="0">
                <a:ln w="11430">
                  <a:solidFill>
                    <a:srgbClr val="FFFF00"/>
                  </a:solidFill>
                </a:ln>
                <a:solidFill>
                  <a:srgbClr val="0066FF"/>
                </a:solidFill>
                <a:effectLst>
                  <a:outerShdw blurRad="50800" dist="39000" dir="5460000" algn="tl">
                    <a:srgbClr val="000000">
                      <a:alpha val="38000"/>
                    </a:srgbClr>
                  </a:outerShdw>
                </a:effectLst>
              </a:rPr>
              <a:t>r</a:t>
            </a:r>
            <a:r>
              <a:rPr lang="en-US" sz="7200" dirty="0" smtClean="0">
                <a:ln w="11430">
                  <a:solidFill>
                    <a:srgbClr val="FFFF00"/>
                  </a:solidFill>
                </a:ln>
                <a:solidFill>
                  <a:srgbClr val="0066FF"/>
                </a:solidFill>
                <a:effectLst>
                  <a:outerShdw blurRad="50800" dist="39000" dir="5460000" algn="tl">
                    <a:srgbClr val="000000">
                      <a:alpha val="38000"/>
                    </a:srgbClr>
                  </a:outerShdw>
                </a:effectLst>
              </a:rPr>
              <a:t>eference?</a:t>
            </a:r>
          </a:p>
        </p:txBody>
      </p:sp>
      <p:sp>
        <p:nvSpPr>
          <p:cNvPr id="8" name="Footer Placeholder 2"/>
          <p:cNvSpPr>
            <a:spLocks noGrp="1"/>
          </p:cNvSpPr>
          <p:nvPr>
            <p:ph type="ftr" sz="quarter" idx="4294967295"/>
          </p:nvPr>
        </p:nvSpPr>
        <p:spPr>
          <a:xfrm>
            <a:off x="3124200" y="6248400"/>
            <a:ext cx="2895600" cy="457200"/>
          </a:xfrm>
          <a:prstGeom prst="rect">
            <a:avLst/>
          </a:prstGeo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5363" name="Text Box 2"/>
          <p:cNvSpPr txBox="1">
            <a:spLocks noChangeArrowheads="1"/>
          </p:cNvSpPr>
          <p:nvPr/>
        </p:nvSpPr>
        <p:spPr bwMode="auto">
          <a:xfrm>
            <a:off x="838200" y="1524000"/>
            <a:ext cx="7361238" cy="2955925"/>
          </a:xfrm>
          <a:prstGeom prst="rect">
            <a:avLst/>
          </a:prstGeom>
          <a:noFill/>
          <a:ln w="12700">
            <a:noFill/>
            <a:miter lim="800000"/>
            <a:headEnd type="none" w="sm" len="sm"/>
            <a:tailEnd type="none" w="sm" len="sm"/>
          </a:ln>
        </p:spPr>
        <p:txBody>
          <a:bodyPr wrap="none">
            <a:spAutoFit/>
          </a:bodyPr>
          <a:lstStyle/>
          <a:p>
            <a:endParaRPr lang="en-US" dirty="0"/>
          </a:p>
          <a:p>
            <a:r>
              <a:rPr lang="en-US" sz="3200" dirty="0"/>
              <a:t>In Java, any variable that refers to </a:t>
            </a:r>
            <a:br>
              <a:rPr lang="en-US" sz="3200" dirty="0"/>
            </a:br>
            <a:r>
              <a:rPr lang="en-US" sz="3200" dirty="0"/>
              <a:t>an Object is a reference variable.</a:t>
            </a:r>
            <a:br>
              <a:rPr lang="en-US" sz="3200" dirty="0"/>
            </a:br>
            <a:endParaRPr lang="en-US" sz="3200" dirty="0"/>
          </a:p>
          <a:p>
            <a:r>
              <a:rPr lang="en-US" sz="3200" dirty="0"/>
              <a:t>The variable stores the memory </a:t>
            </a:r>
          </a:p>
          <a:p>
            <a:r>
              <a:rPr lang="en-US" sz="3200" dirty="0"/>
              <a:t>address of the actual Object.</a:t>
            </a:r>
            <a:endParaRPr lang="en-US" sz="3200" dirty="0">
              <a:solidFill>
                <a:srgbClr val="003366"/>
              </a:solidFill>
            </a:endParaRPr>
          </a:p>
        </p:txBody>
      </p:sp>
      <p:sp>
        <p:nvSpPr>
          <p:cNvPr id="5" name="Rectangle 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References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6387" name="Text Box 2"/>
          <p:cNvSpPr txBox="1">
            <a:spLocks noChangeArrowheads="1"/>
          </p:cNvSpPr>
          <p:nvPr/>
        </p:nvSpPr>
        <p:spPr bwMode="auto">
          <a:xfrm>
            <a:off x="914400" y="1905000"/>
            <a:ext cx="7416800" cy="1800225"/>
          </a:xfrm>
          <a:prstGeom prst="rect">
            <a:avLst/>
          </a:prstGeom>
          <a:noFill/>
          <a:ln w="9525">
            <a:noFill/>
            <a:miter lim="800000"/>
            <a:headEnd/>
            <a:tailEnd/>
          </a:ln>
        </p:spPr>
        <p:txBody>
          <a:bodyPr wrap="none">
            <a:spAutoFit/>
          </a:bodyPr>
          <a:lstStyle/>
          <a:p>
            <a:r>
              <a:rPr lang="en-US"/>
              <a:t>String x = new String("Chuck");</a:t>
            </a:r>
          </a:p>
          <a:p>
            <a:r>
              <a:rPr lang="en-US"/>
              <a:t>String y = x;</a:t>
            </a:r>
            <a:br>
              <a:rPr lang="en-US"/>
            </a:br>
            <a:endParaRPr lang="en-US"/>
          </a:p>
          <a:p>
            <a:r>
              <a:rPr lang="en-US"/>
              <a:t>x and y store the same memory address.</a:t>
            </a:r>
          </a:p>
        </p:txBody>
      </p:sp>
      <p:sp>
        <p:nvSpPr>
          <p:cNvPr id="16388" name="Rectangle 3"/>
          <p:cNvSpPr>
            <a:spLocks noChangeArrowheads="1"/>
          </p:cNvSpPr>
          <p:nvPr/>
        </p:nvSpPr>
        <p:spPr bwMode="auto">
          <a:xfrm>
            <a:off x="2819400" y="4953000"/>
            <a:ext cx="3276600" cy="838200"/>
          </a:xfrm>
          <a:prstGeom prst="rect">
            <a:avLst/>
          </a:prstGeom>
          <a:solidFill>
            <a:srgbClr val="CCFFCC"/>
          </a:solidFill>
          <a:ln w="9525">
            <a:solidFill>
              <a:schemeClr val="tx1"/>
            </a:solidFill>
            <a:miter lim="800000"/>
            <a:headEnd/>
            <a:tailEnd/>
          </a:ln>
        </p:spPr>
        <p:txBody>
          <a:bodyPr wrap="none" anchor="ctr"/>
          <a:lstStyle/>
          <a:p>
            <a:pPr algn="ctr"/>
            <a:r>
              <a:rPr lang="en-US" sz="3200"/>
              <a:t>"Chuck"</a:t>
            </a:r>
          </a:p>
        </p:txBody>
      </p:sp>
      <p:sp>
        <p:nvSpPr>
          <p:cNvPr id="16389" name="Text Box 4"/>
          <p:cNvSpPr txBox="1">
            <a:spLocks noChangeArrowheads="1"/>
          </p:cNvSpPr>
          <p:nvPr/>
        </p:nvSpPr>
        <p:spPr bwMode="auto">
          <a:xfrm>
            <a:off x="838200" y="4038600"/>
            <a:ext cx="490538" cy="701675"/>
          </a:xfrm>
          <a:prstGeom prst="rect">
            <a:avLst/>
          </a:prstGeom>
          <a:noFill/>
          <a:ln w="9525">
            <a:noFill/>
            <a:miter lim="800000"/>
            <a:headEnd/>
            <a:tailEnd/>
          </a:ln>
        </p:spPr>
        <p:txBody>
          <a:bodyPr wrap="none">
            <a:spAutoFit/>
          </a:bodyPr>
          <a:lstStyle/>
          <a:p>
            <a:r>
              <a:rPr lang="en-US" sz="4000"/>
              <a:t>x</a:t>
            </a:r>
          </a:p>
        </p:txBody>
      </p:sp>
      <p:sp>
        <p:nvSpPr>
          <p:cNvPr id="16390" name="Text Box 5"/>
          <p:cNvSpPr txBox="1">
            <a:spLocks noChangeArrowheads="1"/>
          </p:cNvSpPr>
          <p:nvPr/>
        </p:nvSpPr>
        <p:spPr bwMode="auto">
          <a:xfrm>
            <a:off x="7315200" y="4038600"/>
            <a:ext cx="476250" cy="701675"/>
          </a:xfrm>
          <a:prstGeom prst="rect">
            <a:avLst/>
          </a:prstGeom>
          <a:noFill/>
          <a:ln w="9525">
            <a:noFill/>
            <a:miter lim="800000"/>
            <a:headEnd/>
            <a:tailEnd/>
          </a:ln>
        </p:spPr>
        <p:txBody>
          <a:bodyPr wrap="none">
            <a:spAutoFit/>
          </a:bodyPr>
          <a:lstStyle/>
          <a:p>
            <a:r>
              <a:rPr lang="en-US" sz="4000"/>
              <a:t>y</a:t>
            </a:r>
          </a:p>
        </p:txBody>
      </p:sp>
      <p:sp>
        <p:nvSpPr>
          <p:cNvPr id="16391" name="Line 6"/>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p:spPr>
        <p:txBody>
          <a:bodyPr/>
          <a:lstStyle/>
          <a:p>
            <a:endParaRPr lang="en-US"/>
          </a:p>
        </p:txBody>
      </p:sp>
      <p:sp>
        <p:nvSpPr>
          <p:cNvPr id="16392" name="Line 7"/>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p:spPr>
        <p:txBody>
          <a:bodyPr/>
          <a:lstStyle/>
          <a:p>
            <a:endParaRPr lang="en-US"/>
          </a:p>
        </p:txBody>
      </p:sp>
      <p:sp>
        <p:nvSpPr>
          <p:cNvPr id="16394" name="Text Box 9"/>
          <p:cNvSpPr txBox="1">
            <a:spLocks noChangeArrowheads="1"/>
          </p:cNvSpPr>
          <p:nvPr/>
        </p:nvSpPr>
        <p:spPr bwMode="auto">
          <a:xfrm>
            <a:off x="1371600" y="4419600"/>
            <a:ext cx="1066800" cy="519113"/>
          </a:xfrm>
          <a:prstGeom prst="rect">
            <a:avLst/>
          </a:prstGeom>
          <a:noFill/>
          <a:ln w="9525">
            <a:noFill/>
            <a:miter lim="800000"/>
            <a:headEnd/>
            <a:tailEnd/>
          </a:ln>
        </p:spPr>
        <p:txBody>
          <a:bodyPr>
            <a:spAutoFit/>
          </a:bodyPr>
          <a:lstStyle/>
          <a:p>
            <a:pPr>
              <a:spcBef>
                <a:spcPct val="50000"/>
              </a:spcBef>
            </a:pPr>
            <a:endParaRPr lang="en-US"/>
          </a:p>
        </p:txBody>
      </p:sp>
      <p:sp>
        <p:nvSpPr>
          <p:cNvPr id="16395" name="Text Box 10"/>
          <p:cNvSpPr txBox="1">
            <a:spLocks noChangeArrowheads="1"/>
          </p:cNvSpPr>
          <p:nvPr/>
        </p:nvSpPr>
        <p:spPr bwMode="auto">
          <a:xfrm>
            <a:off x="7620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0x2B3</a:t>
            </a:r>
          </a:p>
        </p:txBody>
      </p:sp>
      <p:sp>
        <p:nvSpPr>
          <p:cNvPr id="16396" name="Text Box 11"/>
          <p:cNvSpPr txBox="1">
            <a:spLocks noChangeArrowheads="1"/>
          </p:cNvSpPr>
          <p:nvPr/>
        </p:nvSpPr>
        <p:spPr bwMode="auto">
          <a:xfrm>
            <a:off x="72390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0x2B3</a:t>
            </a:r>
          </a:p>
        </p:txBody>
      </p:sp>
      <p:sp>
        <p:nvSpPr>
          <p:cNvPr id="16397" name="Text Box 12"/>
          <p:cNvSpPr txBox="1">
            <a:spLocks noChangeArrowheads="1"/>
          </p:cNvSpPr>
          <p:nvPr/>
        </p:nvSpPr>
        <p:spPr bwMode="auto">
          <a:xfrm>
            <a:off x="39624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0x2B3</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References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7411" name="Text Box 2"/>
          <p:cNvSpPr txBox="1">
            <a:spLocks noChangeArrowheads="1"/>
          </p:cNvSpPr>
          <p:nvPr/>
        </p:nvSpPr>
        <p:spPr bwMode="auto">
          <a:xfrm>
            <a:off x="914400" y="1905000"/>
            <a:ext cx="7416800" cy="1800225"/>
          </a:xfrm>
          <a:prstGeom prst="rect">
            <a:avLst/>
          </a:prstGeom>
          <a:noFill/>
          <a:ln w="9525">
            <a:noFill/>
            <a:miter lim="800000"/>
            <a:headEnd/>
            <a:tailEnd/>
          </a:ln>
        </p:spPr>
        <p:txBody>
          <a:bodyPr wrap="none">
            <a:spAutoFit/>
          </a:bodyPr>
          <a:lstStyle/>
          <a:p>
            <a:r>
              <a:rPr lang="en-US"/>
              <a:t>String x = "Chuck";</a:t>
            </a:r>
          </a:p>
          <a:p>
            <a:r>
              <a:rPr lang="en-US"/>
              <a:t>String y = "Chuck";</a:t>
            </a:r>
            <a:br>
              <a:rPr lang="en-US"/>
            </a:br>
            <a:endParaRPr lang="en-US"/>
          </a:p>
          <a:p>
            <a:r>
              <a:rPr lang="en-US"/>
              <a:t>x and y store the same memory address.</a:t>
            </a:r>
          </a:p>
        </p:txBody>
      </p:sp>
      <p:sp>
        <p:nvSpPr>
          <p:cNvPr id="17412" name="Rectangle 3"/>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p:spPr>
        <p:txBody>
          <a:bodyPr wrap="none" anchor="ctr"/>
          <a:lstStyle/>
          <a:p>
            <a:pPr algn="ctr"/>
            <a:r>
              <a:rPr lang="en-US" sz="3200"/>
              <a:t>"Chuck"</a:t>
            </a:r>
          </a:p>
        </p:txBody>
      </p:sp>
      <p:sp>
        <p:nvSpPr>
          <p:cNvPr id="17413" name="Text Box 4"/>
          <p:cNvSpPr txBox="1">
            <a:spLocks noChangeArrowheads="1"/>
          </p:cNvSpPr>
          <p:nvPr/>
        </p:nvSpPr>
        <p:spPr bwMode="auto">
          <a:xfrm>
            <a:off x="838200" y="4038600"/>
            <a:ext cx="490538" cy="701675"/>
          </a:xfrm>
          <a:prstGeom prst="rect">
            <a:avLst/>
          </a:prstGeom>
          <a:noFill/>
          <a:ln w="9525">
            <a:noFill/>
            <a:miter lim="800000"/>
            <a:headEnd/>
            <a:tailEnd/>
          </a:ln>
        </p:spPr>
        <p:txBody>
          <a:bodyPr wrap="none">
            <a:spAutoFit/>
          </a:bodyPr>
          <a:lstStyle/>
          <a:p>
            <a:r>
              <a:rPr lang="en-US" sz="4000"/>
              <a:t>x</a:t>
            </a:r>
          </a:p>
        </p:txBody>
      </p:sp>
      <p:sp>
        <p:nvSpPr>
          <p:cNvPr id="17414" name="Text Box 5"/>
          <p:cNvSpPr txBox="1">
            <a:spLocks noChangeArrowheads="1"/>
          </p:cNvSpPr>
          <p:nvPr/>
        </p:nvSpPr>
        <p:spPr bwMode="auto">
          <a:xfrm>
            <a:off x="7391400" y="3962400"/>
            <a:ext cx="476250" cy="701675"/>
          </a:xfrm>
          <a:prstGeom prst="rect">
            <a:avLst/>
          </a:prstGeom>
          <a:noFill/>
          <a:ln w="9525">
            <a:noFill/>
            <a:miter lim="800000"/>
            <a:headEnd/>
            <a:tailEnd/>
          </a:ln>
        </p:spPr>
        <p:txBody>
          <a:bodyPr wrap="none">
            <a:spAutoFit/>
          </a:bodyPr>
          <a:lstStyle/>
          <a:p>
            <a:r>
              <a:rPr lang="en-US" sz="4000"/>
              <a:t>y</a:t>
            </a:r>
          </a:p>
        </p:txBody>
      </p:sp>
      <p:sp>
        <p:nvSpPr>
          <p:cNvPr id="17415" name="Line 6"/>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p:spPr>
        <p:txBody>
          <a:bodyPr/>
          <a:lstStyle/>
          <a:p>
            <a:endParaRPr lang="en-US"/>
          </a:p>
        </p:txBody>
      </p:sp>
      <p:sp>
        <p:nvSpPr>
          <p:cNvPr id="17416" name="Line 7"/>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p:spPr>
        <p:txBody>
          <a:bodyPr/>
          <a:lstStyle/>
          <a:p>
            <a:endParaRPr lang="en-US"/>
          </a:p>
        </p:txBody>
      </p:sp>
      <p:sp>
        <p:nvSpPr>
          <p:cNvPr id="17418" name="Text Box 9"/>
          <p:cNvSpPr txBox="1">
            <a:spLocks noChangeArrowheads="1"/>
          </p:cNvSpPr>
          <p:nvPr/>
        </p:nvSpPr>
        <p:spPr bwMode="auto">
          <a:xfrm>
            <a:off x="1371600" y="4419600"/>
            <a:ext cx="1066800" cy="519113"/>
          </a:xfrm>
          <a:prstGeom prst="rect">
            <a:avLst/>
          </a:prstGeom>
          <a:noFill/>
          <a:ln w="9525">
            <a:noFill/>
            <a:miter lim="800000"/>
            <a:headEnd/>
            <a:tailEnd/>
          </a:ln>
        </p:spPr>
        <p:txBody>
          <a:bodyPr>
            <a:spAutoFit/>
          </a:bodyPr>
          <a:lstStyle/>
          <a:p>
            <a:pPr>
              <a:spcBef>
                <a:spcPct val="50000"/>
              </a:spcBef>
            </a:pPr>
            <a:endParaRPr lang="en-US"/>
          </a:p>
        </p:txBody>
      </p:sp>
      <p:sp>
        <p:nvSpPr>
          <p:cNvPr id="17419" name="Text Box 10"/>
          <p:cNvSpPr txBox="1">
            <a:spLocks noChangeArrowheads="1"/>
          </p:cNvSpPr>
          <p:nvPr/>
        </p:nvSpPr>
        <p:spPr bwMode="auto">
          <a:xfrm>
            <a:off x="7620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7420" name="Text Box 11"/>
          <p:cNvSpPr txBox="1">
            <a:spLocks noChangeArrowheads="1"/>
          </p:cNvSpPr>
          <p:nvPr/>
        </p:nvSpPr>
        <p:spPr bwMode="auto">
          <a:xfrm>
            <a:off x="3886200" y="45720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7421" name="Text Box 12"/>
          <p:cNvSpPr txBox="1">
            <a:spLocks noChangeArrowheads="1"/>
          </p:cNvSpPr>
          <p:nvPr/>
        </p:nvSpPr>
        <p:spPr bwMode="auto">
          <a:xfrm>
            <a:off x="7239000" y="45720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References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8435" name="Rectangle 2"/>
          <p:cNvSpPr>
            <a:spLocks noChangeArrowheads="1"/>
          </p:cNvSpPr>
          <p:nvPr/>
        </p:nvSpPr>
        <p:spPr bwMode="auto">
          <a:xfrm>
            <a:off x="5029200" y="5029200"/>
            <a:ext cx="3276600" cy="838200"/>
          </a:xfrm>
          <a:prstGeom prst="rect">
            <a:avLst/>
          </a:prstGeom>
          <a:solidFill>
            <a:srgbClr val="CCFFCC"/>
          </a:solidFill>
          <a:ln w="9525">
            <a:solidFill>
              <a:schemeClr val="tx1"/>
            </a:solidFill>
            <a:miter lim="800000"/>
            <a:headEnd/>
            <a:tailEnd/>
          </a:ln>
        </p:spPr>
        <p:txBody>
          <a:bodyPr wrap="none" anchor="ctr"/>
          <a:lstStyle/>
          <a:p>
            <a:pPr algn="ctr"/>
            <a:r>
              <a:rPr lang="en-US" sz="3200"/>
              <a:t>"Chuck"</a:t>
            </a:r>
          </a:p>
        </p:txBody>
      </p:sp>
      <p:sp>
        <p:nvSpPr>
          <p:cNvPr id="18436" name="Line 3"/>
          <p:cNvSpPr>
            <a:spLocks noChangeShapeType="1"/>
          </p:cNvSpPr>
          <p:nvPr/>
        </p:nvSpPr>
        <p:spPr bwMode="auto">
          <a:xfrm>
            <a:off x="1219200" y="4648200"/>
            <a:ext cx="457200" cy="533400"/>
          </a:xfrm>
          <a:prstGeom prst="line">
            <a:avLst/>
          </a:prstGeom>
          <a:noFill/>
          <a:ln w="50800">
            <a:solidFill>
              <a:schemeClr val="tx1"/>
            </a:solidFill>
            <a:round/>
            <a:headEnd/>
            <a:tailEnd type="triangle" w="med" len="med"/>
          </a:ln>
        </p:spPr>
        <p:txBody>
          <a:bodyPr/>
          <a:lstStyle/>
          <a:p>
            <a:endParaRPr lang="en-US"/>
          </a:p>
        </p:txBody>
      </p:sp>
      <p:sp>
        <p:nvSpPr>
          <p:cNvPr id="18437" name="Line 4"/>
          <p:cNvSpPr>
            <a:spLocks noChangeShapeType="1"/>
          </p:cNvSpPr>
          <p:nvPr/>
        </p:nvSpPr>
        <p:spPr bwMode="auto">
          <a:xfrm flipH="1">
            <a:off x="7162800" y="4572000"/>
            <a:ext cx="304800" cy="304800"/>
          </a:xfrm>
          <a:prstGeom prst="line">
            <a:avLst/>
          </a:prstGeom>
          <a:noFill/>
          <a:ln w="50800">
            <a:solidFill>
              <a:schemeClr val="tx1"/>
            </a:solidFill>
            <a:round/>
            <a:headEnd/>
            <a:tailEnd type="triangle" w="med" len="med"/>
          </a:ln>
        </p:spPr>
        <p:txBody>
          <a:bodyPr/>
          <a:lstStyle/>
          <a:p>
            <a:endParaRPr lang="en-US"/>
          </a:p>
        </p:txBody>
      </p:sp>
      <p:sp>
        <p:nvSpPr>
          <p:cNvPr id="18438" name="Rectangle 5"/>
          <p:cNvSpPr>
            <a:spLocks noChangeArrowheads="1"/>
          </p:cNvSpPr>
          <p:nvPr/>
        </p:nvSpPr>
        <p:spPr bwMode="auto">
          <a:xfrm>
            <a:off x="1219200" y="5257800"/>
            <a:ext cx="3276600" cy="838200"/>
          </a:xfrm>
          <a:prstGeom prst="rect">
            <a:avLst/>
          </a:prstGeom>
          <a:solidFill>
            <a:srgbClr val="CCFFCC"/>
          </a:solidFill>
          <a:ln w="9525">
            <a:solidFill>
              <a:schemeClr val="tx1"/>
            </a:solidFill>
            <a:miter lim="800000"/>
            <a:headEnd/>
            <a:tailEnd/>
          </a:ln>
        </p:spPr>
        <p:txBody>
          <a:bodyPr wrap="none" anchor="ctr"/>
          <a:lstStyle/>
          <a:p>
            <a:pPr algn="ctr"/>
            <a:r>
              <a:rPr lang="en-US" sz="3200"/>
              <a:t>"Chuck"</a:t>
            </a:r>
            <a:endParaRPr lang="en-US" sz="3600"/>
          </a:p>
        </p:txBody>
      </p:sp>
      <p:sp>
        <p:nvSpPr>
          <p:cNvPr id="18439" name="Text Box 6"/>
          <p:cNvSpPr txBox="1">
            <a:spLocks noChangeArrowheads="1"/>
          </p:cNvSpPr>
          <p:nvPr/>
        </p:nvSpPr>
        <p:spPr bwMode="auto">
          <a:xfrm>
            <a:off x="914400" y="1905000"/>
            <a:ext cx="7729538" cy="1800225"/>
          </a:xfrm>
          <a:prstGeom prst="rect">
            <a:avLst/>
          </a:prstGeom>
          <a:noFill/>
          <a:ln w="9525">
            <a:noFill/>
            <a:miter lim="800000"/>
            <a:headEnd/>
            <a:tailEnd/>
          </a:ln>
        </p:spPr>
        <p:txBody>
          <a:bodyPr wrap="none">
            <a:spAutoFit/>
          </a:bodyPr>
          <a:lstStyle/>
          <a:p>
            <a:r>
              <a:rPr lang="en-US"/>
              <a:t>String x = new String("Chuck");</a:t>
            </a:r>
          </a:p>
          <a:p>
            <a:r>
              <a:rPr lang="en-US"/>
              <a:t>String y = new String("Chuck");</a:t>
            </a:r>
            <a:br>
              <a:rPr lang="en-US"/>
            </a:br>
            <a:endParaRPr lang="en-US"/>
          </a:p>
          <a:p>
            <a:r>
              <a:rPr lang="en-US"/>
              <a:t>x and y store different memory addresses.</a:t>
            </a:r>
          </a:p>
        </p:txBody>
      </p:sp>
      <p:sp>
        <p:nvSpPr>
          <p:cNvPr id="18440" name="Text Box 7"/>
          <p:cNvSpPr txBox="1">
            <a:spLocks noChangeArrowheads="1"/>
          </p:cNvSpPr>
          <p:nvPr/>
        </p:nvSpPr>
        <p:spPr bwMode="auto">
          <a:xfrm>
            <a:off x="533400" y="4038600"/>
            <a:ext cx="490538" cy="701675"/>
          </a:xfrm>
          <a:prstGeom prst="rect">
            <a:avLst/>
          </a:prstGeom>
          <a:noFill/>
          <a:ln w="9525">
            <a:noFill/>
            <a:miter lim="800000"/>
            <a:headEnd/>
            <a:tailEnd/>
          </a:ln>
        </p:spPr>
        <p:txBody>
          <a:bodyPr wrap="none">
            <a:spAutoFit/>
          </a:bodyPr>
          <a:lstStyle/>
          <a:p>
            <a:r>
              <a:rPr lang="en-US" sz="4000"/>
              <a:t>x</a:t>
            </a:r>
          </a:p>
        </p:txBody>
      </p:sp>
      <p:sp>
        <p:nvSpPr>
          <p:cNvPr id="18441" name="Text Box 8"/>
          <p:cNvSpPr txBox="1">
            <a:spLocks noChangeArrowheads="1"/>
          </p:cNvSpPr>
          <p:nvPr/>
        </p:nvSpPr>
        <p:spPr bwMode="auto">
          <a:xfrm>
            <a:off x="7543800" y="3886200"/>
            <a:ext cx="476250" cy="701675"/>
          </a:xfrm>
          <a:prstGeom prst="rect">
            <a:avLst/>
          </a:prstGeom>
          <a:noFill/>
          <a:ln w="9525">
            <a:noFill/>
            <a:miter lim="800000"/>
            <a:headEnd/>
            <a:tailEnd/>
          </a:ln>
        </p:spPr>
        <p:txBody>
          <a:bodyPr wrap="none">
            <a:spAutoFit/>
          </a:bodyPr>
          <a:lstStyle/>
          <a:p>
            <a:r>
              <a:rPr lang="en-US" sz="4000"/>
              <a:t>y</a:t>
            </a:r>
          </a:p>
        </p:txBody>
      </p:sp>
      <p:sp>
        <p:nvSpPr>
          <p:cNvPr id="18443" name="Text Box 10"/>
          <p:cNvSpPr txBox="1">
            <a:spLocks noChangeArrowheads="1"/>
          </p:cNvSpPr>
          <p:nvPr/>
        </p:nvSpPr>
        <p:spPr bwMode="auto">
          <a:xfrm>
            <a:off x="3810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8444" name="Text Box 11"/>
          <p:cNvSpPr txBox="1">
            <a:spLocks noChangeArrowheads="1"/>
          </p:cNvSpPr>
          <p:nvPr/>
        </p:nvSpPr>
        <p:spPr bwMode="auto">
          <a:xfrm>
            <a:off x="2667000" y="49530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8445" name="Text Box 12"/>
          <p:cNvSpPr txBox="1">
            <a:spLocks noChangeArrowheads="1"/>
          </p:cNvSpPr>
          <p:nvPr/>
        </p:nvSpPr>
        <p:spPr bwMode="auto">
          <a:xfrm>
            <a:off x="7467600" y="44958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0x2FE</a:t>
            </a:r>
          </a:p>
        </p:txBody>
      </p:sp>
      <p:sp>
        <p:nvSpPr>
          <p:cNvPr id="18446" name="Text Box 13"/>
          <p:cNvSpPr txBox="1">
            <a:spLocks noChangeArrowheads="1"/>
          </p:cNvSpPr>
          <p:nvPr/>
        </p:nvSpPr>
        <p:spPr bwMode="auto">
          <a:xfrm>
            <a:off x="5943600" y="47244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0x2FE</a:t>
            </a:r>
          </a:p>
        </p:txBody>
      </p:sp>
      <p:sp>
        <p:nvSpPr>
          <p:cNvPr id="15" name="Rectangle 1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References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9459" name="Text Box 2"/>
          <p:cNvSpPr txBox="1">
            <a:spLocks noChangeArrowheads="1"/>
          </p:cNvSpPr>
          <p:nvPr/>
        </p:nvSpPr>
        <p:spPr bwMode="auto">
          <a:xfrm>
            <a:off x="914400" y="1905000"/>
            <a:ext cx="3660775" cy="946150"/>
          </a:xfrm>
          <a:prstGeom prst="rect">
            <a:avLst/>
          </a:prstGeom>
          <a:noFill/>
          <a:ln w="9525">
            <a:noFill/>
            <a:miter lim="800000"/>
            <a:headEnd/>
            <a:tailEnd/>
          </a:ln>
        </p:spPr>
        <p:txBody>
          <a:bodyPr wrap="none">
            <a:spAutoFit/>
          </a:bodyPr>
          <a:lstStyle/>
          <a:p>
            <a:r>
              <a:rPr lang="en-US"/>
              <a:t>String x = "Chuck";</a:t>
            </a:r>
          </a:p>
          <a:p>
            <a:r>
              <a:rPr lang="en-US"/>
              <a:t>String y = "Chuck";</a:t>
            </a:r>
          </a:p>
        </p:txBody>
      </p:sp>
      <p:sp>
        <p:nvSpPr>
          <p:cNvPr id="19461" name="Rectangle 4"/>
          <p:cNvSpPr>
            <a:spLocks noChangeArrowheads="1"/>
          </p:cNvSpPr>
          <p:nvPr/>
        </p:nvSpPr>
        <p:spPr bwMode="auto">
          <a:xfrm>
            <a:off x="2743200" y="4953000"/>
            <a:ext cx="3276600" cy="838200"/>
          </a:xfrm>
          <a:prstGeom prst="rect">
            <a:avLst/>
          </a:prstGeom>
          <a:solidFill>
            <a:srgbClr val="CCFFCC"/>
          </a:solidFill>
          <a:ln w="9525">
            <a:solidFill>
              <a:schemeClr val="tx1"/>
            </a:solidFill>
            <a:miter lim="800000"/>
            <a:headEnd/>
            <a:tailEnd/>
          </a:ln>
        </p:spPr>
        <p:txBody>
          <a:bodyPr wrap="none" anchor="ctr"/>
          <a:lstStyle/>
          <a:p>
            <a:pPr algn="ctr"/>
            <a:r>
              <a:rPr lang="en-US" sz="3200"/>
              <a:t>"Chuck"</a:t>
            </a:r>
          </a:p>
        </p:txBody>
      </p:sp>
      <p:sp>
        <p:nvSpPr>
          <p:cNvPr id="19462" name="Text Box 5"/>
          <p:cNvSpPr txBox="1">
            <a:spLocks noChangeArrowheads="1"/>
          </p:cNvSpPr>
          <p:nvPr/>
        </p:nvSpPr>
        <p:spPr bwMode="auto">
          <a:xfrm>
            <a:off x="838200" y="4038600"/>
            <a:ext cx="490538" cy="701675"/>
          </a:xfrm>
          <a:prstGeom prst="rect">
            <a:avLst/>
          </a:prstGeom>
          <a:noFill/>
          <a:ln w="9525">
            <a:noFill/>
            <a:miter lim="800000"/>
            <a:headEnd/>
            <a:tailEnd/>
          </a:ln>
        </p:spPr>
        <p:txBody>
          <a:bodyPr wrap="none">
            <a:spAutoFit/>
          </a:bodyPr>
          <a:lstStyle/>
          <a:p>
            <a:r>
              <a:rPr lang="en-US" sz="4000"/>
              <a:t>x</a:t>
            </a:r>
          </a:p>
        </p:txBody>
      </p:sp>
      <p:sp>
        <p:nvSpPr>
          <p:cNvPr id="19463" name="Text Box 6"/>
          <p:cNvSpPr txBox="1">
            <a:spLocks noChangeArrowheads="1"/>
          </p:cNvSpPr>
          <p:nvPr/>
        </p:nvSpPr>
        <p:spPr bwMode="auto">
          <a:xfrm>
            <a:off x="7391400" y="3962400"/>
            <a:ext cx="476250" cy="701675"/>
          </a:xfrm>
          <a:prstGeom prst="rect">
            <a:avLst/>
          </a:prstGeom>
          <a:noFill/>
          <a:ln w="9525">
            <a:noFill/>
            <a:miter lim="800000"/>
            <a:headEnd/>
            <a:tailEnd/>
          </a:ln>
        </p:spPr>
        <p:txBody>
          <a:bodyPr wrap="none">
            <a:spAutoFit/>
          </a:bodyPr>
          <a:lstStyle/>
          <a:p>
            <a:r>
              <a:rPr lang="en-US" sz="4000"/>
              <a:t>y</a:t>
            </a:r>
          </a:p>
        </p:txBody>
      </p:sp>
      <p:sp>
        <p:nvSpPr>
          <p:cNvPr id="219143" name="Line 7"/>
          <p:cNvSpPr>
            <a:spLocks noChangeShapeType="1"/>
          </p:cNvSpPr>
          <p:nvPr/>
        </p:nvSpPr>
        <p:spPr bwMode="auto">
          <a:xfrm>
            <a:off x="1828800" y="4876800"/>
            <a:ext cx="762000" cy="533400"/>
          </a:xfrm>
          <a:prstGeom prst="line">
            <a:avLst/>
          </a:prstGeom>
          <a:noFill/>
          <a:ln w="50800">
            <a:solidFill>
              <a:schemeClr val="tx1"/>
            </a:solidFill>
            <a:round/>
            <a:headEnd/>
            <a:tailEnd type="triangle" w="med" len="med"/>
          </a:ln>
        </p:spPr>
        <p:txBody>
          <a:bodyPr/>
          <a:lstStyle/>
          <a:p>
            <a:endParaRPr lang="en-US"/>
          </a:p>
        </p:txBody>
      </p:sp>
      <p:sp>
        <p:nvSpPr>
          <p:cNvPr id="19465" name="Line 8"/>
          <p:cNvSpPr>
            <a:spLocks noChangeShapeType="1"/>
          </p:cNvSpPr>
          <p:nvPr/>
        </p:nvSpPr>
        <p:spPr bwMode="auto">
          <a:xfrm flipH="1">
            <a:off x="6248400" y="4800600"/>
            <a:ext cx="914400" cy="381000"/>
          </a:xfrm>
          <a:prstGeom prst="line">
            <a:avLst/>
          </a:prstGeom>
          <a:noFill/>
          <a:ln w="50800">
            <a:solidFill>
              <a:schemeClr val="tx1"/>
            </a:solidFill>
            <a:round/>
            <a:headEnd/>
            <a:tailEnd type="triangle" w="med" len="med"/>
          </a:ln>
        </p:spPr>
        <p:txBody>
          <a:bodyPr/>
          <a:lstStyle/>
          <a:p>
            <a:endParaRPr lang="en-US"/>
          </a:p>
        </p:txBody>
      </p:sp>
      <p:sp>
        <p:nvSpPr>
          <p:cNvPr id="19466" name="Text Box 9"/>
          <p:cNvSpPr txBox="1">
            <a:spLocks noChangeArrowheads="1"/>
          </p:cNvSpPr>
          <p:nvPr/>
        </p:nvSpPr>
        <p:spPr bwMode="auto">
          <a:xfrm>
            <a:off x="1371600" y="4419600"/>
            <a:ext cx="1066800" cy="519113"/>
          </a:xfrm>
          <a:prstGeom prst="rect">
            <a:avLst/>
          </a:prstGeom>
          <a:noFill/>
          <a:ln w="9525">
            <a:noFill/>
            <a:miter lim="800000"/>
            <a:headEnd/>
            <a:tailEnd/>
          </a:ln>
        </p:spPr>
        <p:txBody>
          <a:bodyPr>
            <a:spAutoFit/>
          </a:bodyPr>
          <a:lstStyle/>
          <a:p>
            <a:pPr>
              <a:spcBef>
                <a:spcPct val="50000"/>
              </a:spcBef>
            </a:pPr>
            <a:endParaRPr lang="en-US"/>
          </a:p>
        </p:txBody>
      </p:sp>
      <p:sp>
        <p:nvSpPr>
          <p:cNvPr id="219146" name="Text Box 10"/>
          <p:cNvSpPr txBox="1">
            <a:spLocks noChangeArrowheads="1"/>
          </p:cNvSpPr>
          <p:nvPr/>
        </p:nvSpPr>
        <p:spPr bwMode="auto">
          <a:xfrm>
            <a:off x="7620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9468" name="Text Box 11"/>
          <p:cNvSpPr txBox="1">
            <a:spLocks noChangeArrowheads="1"/>
          </p:cNvSpPr>
          <p:nvPr/>
        </p:nvSpPr>
        <p:spPr bwMode="auto">
          <a:xfrm>
            <a:off x="3886200" y="45720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19469" name="Text Box 12"/>
          <p:cNvSpPr txBox="1">
            <a:spLocks noChangeArrowheads="1"/>
          </p:cNvSpPr>
          <p:nvPr/>
        </p:nvSpPr>
        <p:spPr bwMode="auto">
          <a:xfrm>
            <a:off x="7239000" y="45720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0x2B7</a:t>
            </a:r>
          </a:p>
        </p:txBody>
      </p:sp>
      <p:sp>
        <p:nvSpPr>
          <p:cNvPr id="219149" name="Text Box 13"/>
          <p:cNvSpPr txBox="1">
            <a:spLocks noChangeArrowheads="1"/>
          </p:cNvSpPr>
          <p:nvPr/>
        </p:nvSpPr>
        <p:spPr bwMode="auto">
          <a:xfrm>
            <a:off x="914400" y="2819400"/>
            <a:ext cx="1697038" cy="519113"/>
          </a:xfrm>
          <a:prstGeom prst="rect">
            <a:avLst/>
          </a:prstGeom>
          <a:noFill/>
          <a:ln w="9525">
            <a:noFill/>
            <a:miter lim="800000"/>
            <a:headEnd/>
            <a:tailEnd/>
          </a:ln>
        </p:spPr>
        <p:txBody>
          <a:bodyPr wrap="none">
            <a:spAutoFit/>
          </a:bodyPr>
          <a:lstStyle/>
          <a:p>
            <a:r>
              <a:rPr lang="en-US"/>
              <a:t>x = null;</a:t>
            </a:r>
          </a:p>
        </p:txBody>
      </p:sp>
      <p:sp>
        <p:nvSpPr>
          <p:cNvPr id="219150" name="Text Box 14"/>
          <p:cNvSpPr txBox="1">
            <a:spLocks noChangeArrowheads="1"/>
          </p:cNvSpPr>
          <p:nvPr/>
        </p:nvSpPr>
        <p:spPr bwMode="auto">
          <a:xfrm>
            <a:off x="838200" y="4648200"/>
            <a:ext cx="838200" cy="304800"/>
          </a:xfrm>
          <a:prstGeom prst="rect">
            <a:avLst/>
          </a:prstGeom>
          <a:noFill/>
          <a:ln w="12700">
            <a:noFill/>
            <a:miter lim="800000"/>
            <a:headEnd type="none" w="sm" len="sm"/>
            <a:tailEnd type="none" w="sm" len="sm"/>
          </a:ln>
        </p:spPr>
        <p:txBody>
          <a:bodyPr>
            <a:spAutoFit/>
          </a:bodyPr>
          <a:lstStyle/>
          <a:p>
            <a:pPr>
              <a:spcBef>
                <a:spcPct val="50000"/>
              </a:spcBef>
            </a:pPr>
            <a:r>
              <a:rPr lang="en-US" sz="1400">
                <a:solidFill>
                  <a:srgbClr val="0000FF"/>
                </a:solidFill>
              </a:rPr>
              <a:t>null</a:t>
            </a:r>
          </a:p>
        </p:txBody>
      </p:sp>
      <p:sp>
        <p:nvSpPr>
          <p:cNvPr id="16" name="Rectangle 1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References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9149"/>
                                        </p:tgtEl>
                                        <p:attrNameLst>
                                          <p:attrName>style.visibility</p:attrName>
                                        </p:attrNameLst>
                                      </p:cBhvr>
                                      <p:to>
                                        <p:strVal val="visible"/>
                                      </p:to>
                                    </p:set>
                                    <p:animEffect transition="in" filter="box(in)">
                                      <p:cBhvr>
                                        <p:cTn id="7" dur="500"/>
                                        <p:tgtEl>
                                          <p:spTgt spid="21914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0" nodeType="clickEffect">
                                  <p:stCondLst>
                                    <p:cond delay="0"/>
                                  </p:stCondLst>
                                  <p:childTnLst>
                                    <p:animEffect transition="out" filter="box(in)">
                                      <p:cBhvr>
                                        <p:cTn id="11" dur="500"/>
                                        <p:tgtEl>
                                          <p:spTgt spid="219143"/>
                                        </p:tgtEl>
                                      </p:cBhvr>
                                    </p:animEffect>
                                    <p:set>
                                      <p:cBhvr>
                                        <p:cTn id="12" dur="1" fill="hold">
                                          <p:stCondLst>
                                            <p:cond delay="499"/>
                                          </p:stCondLst>
                                        </p:cTn>
                                        <p:tgtEl>
                                          <p:spTgt spid="21914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xit" presetSubtype="16" fill="hold" grpId="0" nodeType="clickEffect">
                                  <p:stCondLst>
                                    <p:cond delay="0"/>
                                  </p:stCondLst>
                                  <p:childTnLst>
                                    <p:animEffect transition="out" filter="box(in)">
                                      <p:cBhvr>
                                        <p:cTn id="16" dur="500"/>
                                        <p:tgtEl>
                                          <p:spTgt spid="219146"/>
                                        </p:tgtEl>
                                      </p:cBhvr>
                                    </p:animEffect>
                                    <p:set>
                                      <p:cBhvr>
                                        <p:cTn id="17" dur="1" fill="hold">
                                          <p:stCondLst>
                                            <p:cond delay="499"/>
                                          </p:stCondLst>
                                        </p:cTn>
                                        <p:tgtEl>
                                          <p:spTgt spid="21914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9150"/>
                                        </p:tgtEl>
                                        <p:attrNameLst>
                                          <p:attrName>style.visibility</p:attrName>
                                        </p:attrNameLst>
                                      </p:cBhvr>
                                      <p:to>
                                        <p:strVal val="visible"/>
                                      </p:to>
                                    </p:set>
                                    <p:animEffect transition="in" filter="box(in)">
                                      <p:cBhvr>
                                        <p:cTn id="22" dur="500"/>
                                        <p:tgtEl>
                                          <p:spTgt spid="219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3" grpId="0" animBg="1"/>
      <p:bldP spid="219146" grpId="0"/>
      <p:bldP spid="219149" grpId="0"/>
      <p:bldP spid="2191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752600" y="1600200"/>
            <a:ext cx="5638800" cy="3416320"/>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What </a:t>
            </a:r>
          </a:p>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is a</a:t>
            </a:r>
          </a:p>
          <a:p>
            <a:pPr algn="ctr"/>
            <a:r>
              <a:rPr lang="en-US" sz="7200" dirty="0" err="1" smtClean="0">
                <a:ln w="11430">
                  <a:solidFill>
                    <a:srgbClr val="FFFF00"/>
                  </a:solidFill>
                </a:ln>
                <a:solidFill>
                  <a:srgbClr val="0066FF"/>
                </a:solidFill>
                <a:effectLst>
                  <a:outerShdw blurRad="50800" dist="39000" dir="5460000" algn="tl">
                    <a:srgbClr val="000000">
                      <a:alpha val="38000"/>
                    </a:srgbClr>
                  </a:outerShdw>
                </a:effectLst>
              </a:rPr>
              <a:t>iterator</a:t>
            </a:r>
            <a:r>
              <a:rPr lang="en-US" sz="7200" dirty="0" smtClean="0">
                <a:ln w="11430">
                  <a:solidFill>
                    <a:srgbClr val="FFFF00"/>
                  </a:solidFill>
                </a:ln>
                <a:solidFill>
                  <a:srgbClr val="0066FF"/>
                </a:solidFill>
                <a:effectLst>
                  <a:outerShdw blurRad="50800" dist="39000" dir="5460000" algn="tl">
                    <a:srgbClr val="000000">
                      <a:alpha val="38000"/>
                    </a:srgbClr>
                  </a:outerShdw>
                </a:effectLst>
              </a:rPr>
              <a:t>?</a:t>
            </a:r>
          </a:p>
        </p:txBody>
      </p:sp>
      <p:sp>
        <p:nvSpPr>
          <p:cNvPr id="8" name="Footer Placeholder 2"/>
          <p:cNvSpPr>
            <a:spLocks noGrp="1"/>
          </p:cNvSpPr>
          <p:nvPr>
            <p:ph type="ftr" sz="quarter" idx="4294967295"/>
          </p:nvPr>
        </p:nvSpPr>
        <p:spPr>
          <a:xfrm>
            <a:off x="3124200" y="6248400"/>
            <a:ext cx="2895600" cy="457200"/>
          </a:xfrm>
          <a:prstGeom prst="rect">
            <a:avLst/>
          </a:prstGeo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2532" name="Text Box 3"/>
          <p:cNvSpPr txBox="1">
            <a:spLocks noChangeArrowheads="1"/>
          </p:cNvSpPr>
          <p:nvPr/>
        </p:nvSpPr>
        <p:spPr bwMode="auto">
          <a:xfrm>
            <a:off x="838200" y="1905000"/>
            <a:ext cx="7650163" cy="3378200"/>
          </a:xfrm>
          <a:prstGeom prst="rect">
            <a:avLst/>
          </a:prstGeom>
          <a:noFill/>
          <a:ln w="9525">
            <a:noFill/>
            <a:miter lim="800000"/>
            <a:headEnd/>
            <a:tailEnd/>
          </a:ln>
        </p:spPr>
        <p:txBody>
          <a:bodyPr wrap="none">
            <a:spAutoFit/>
          </a:bodyPr>
          <a:lstStyle/>
          <a:p>
            <a:pPr marL="457200" indent="-457200"/>
            <a:r>
              <a:rPr lang="en-US" sz="2400"/>
              <a:t>Collection, List, and Set all have methods</a:t>
            </a:r>
          </a:p>
          <a:p>
            <a:pPr marL="457200" indent="-457200"/>
            <a:r>
              <a:rPr lang="en-US" sz="2400"/>
              <a:t>that return iterators. </a:t>
            </a:r>
          </a:p>
          <a:p>
            <a:pPr marL="457200" indent="-457200"/>
            <a:r>
              <a:rPr lang="en-US" sz="2400"/>
              <a:t> </a:t>
            </a:r>
          </a:p>
          <a:p>
            <a:pPr marL="457200" indent="-457200"/>
            <a:r>
              <a:rPr lang="en-US" sz="2400"/>
              <a:t>Iterators allow you to go from item to item</a:t>
            </a:r>
          </a:p>
          <a:p>
            <a:pPr marL="457200" indent="-457200"/>
            <a:r>
              <a:rPr lang="en-US" sz="2400"/>
              <a:t>through a collection.</a:t>
            </a:r>
          </a:p>
          <a:p>
            <a:pPr marL="457200" indent="-457200"/>
            <a:endParaRPr lang="en-US" sz="2400"/>
          </a:p>
          <a:p>
            <a:pPr marL="457200" indent="-457200"/>
            <a:r>
              <a:rPr lang="en-US" sz="2400"/>
              <a:t>Map does not have an iterator, but it does have</a:t>
            </a:r>
          </a:p>
          <a:p>
            <a:pPr marL="457200" indent="-457200"/>
            <a:r>
              <a:rPr lang="en-US" sz="2400"/>
              <a:t>a keySet() method that returns a Set of all keys. </a:t>
            </a:r>
          </a:p>
          <a:p>
            <a:pPr marL="457200" indent="-457200"/>
            <a:r>
              <a:rPr lang="en-US" sz="2400"/>
              <a:t>You can get an iterator from the Set.</a:t>
            </a:r>
          </a:p>
        </p:txBody>
      </p:sp>
      <p:sp>
        <p:nvSpPr>
          <p:cNvPr id="5" name="Rectangle 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Java </a:t>
            </a:r>
            <a:r>
              <a:rPr lang="en-US" sz="5400" dirty="0" err="1"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Iterators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3556" name="Text Box 3"/>
          <p:cNvSpPr txBox="1">
            <a:spLocks noChangeArrowheads="1"/>
          </p:cNvSpPr>
          <p:nvPr/>
        </p:nvSpPr>
        <p:spPr bwMode="auto">
          <a:xfrm>
            <a:off x="838200" y="1905000"/>
            <a:ext cx="7410450" cy="2647950"/>
          </a:xfrm>
          <a:prstGeom prst="rect">
            <a:avLst/>
          </a:prstGeom>
          <a:noFill/>
          <a:ln w="9525">
            <a:noFill/>
            <a:miter lim="800000"/>
            <a:headEnd/>
            <a:tailEnd/>
          </a:ln>
        </p:spPr>
        <p:txBody>
          <a:bodyPr wrap="none">
            <a:spAutoFit/>
          </a:bodyPr>
          <a:lstStyle/>
          <a:p>
            <a:pPr marL="457200" indent="-457200"/>
            <a:r>
              <a:rPr lang="en-US" sz="2400"/>
              <a:t>An Iterator provides a standard way to access </a:t>
            </a:r>
          </a:p>
          <a:p>
            <a:pPr marL="457200" indent="-457200"/>
            <a:r>
              <a:rPr lang="en-US" sz="2400"/>
              <a:t>all of the references stored in a collection.  </a:t>
            </a:r>
          </a:p>
          <a:p>
            <a:pPr marL="457200" indent="-457200"/>
            <a:endParaRPr lang="en-US" sz="2400"/>
          </a:p>
          <a:p>
            <a:pPr marL="457200" indent="-457200"/>
            <a:r>
              <a:rPr lang="en-US" sz="2400"/>
              <a:t>For some Collections, TreeMap and HashSet for</a:t>
            </a:r>
          </a:p>
          <a:p>
            <a:pPr marL="457200" indent="-457200"/>
            <a:r>
              <a:rPr lang="en-US" sz="2400"/>
              <a:t>instance, the underlying data structures are</a:t>
            </a:r>
          </a:p>
          <a:p>
            <a:pPr marL="457200" indent="-457200"/>
            <a:r>
              <a:rPr lang="en-US" sz="2400"/>
              <a:t>not sequentially organized like an array.  For</a:t>
            </a:r>
          </a:p>
          <a:p>
            <a:pPr marL="457200" indent="-457200"/>
            <a:r>
              <a:rPr lang="en-US" sz="2400"/>
              <a:t>example, a tree has nodes all over the place.</a:t>
            </a:r>
          </a:p>
        </p:txBody>
      </p:sp>
      <p:sp>
        <p:nvSpPr>
          <p:cNvPr id="23557" name="Line 4"/>
          <p:cNvSpPr>
            <a:spLocks noChangeShapeType="1"/>
          </p:cNvSpPr>
          <p:nvPr/>
        </p:nvSpPr>
        <p:spPr bwMode="auto">
          <a:xfrm>
            <a:off x="4267200" y="5029200"/>
            <a:ext cx="304800" cy="228600"/>
          </a:xfrm>
          <a:prstGeom prst="line">
            <a:avLst/>
          </a:prstGeom>
          <a:noFill/>
          <a:ln w="50800">
            <a:solidFill>
              <a:srgbClr val="FF0000"/>
            </a:solidFill>
            <a:round/>
            <a:headEnd type="none" w="sm" len="sm"/>
            <a:tailEnd type="triangle" w="sm" len="sm"/>
          </a:ln>
        </p:spPr>
        <p:txBody>
          <a:bodyPr/>
          <a:lstStyle/>
          <a:p>
            <a:endParaRPr lang="en-US"/>
          </a:p>
        </p:txBody>
      </p:sp>
      <p:sp>
        <p:nvSpPr>
          <p:cNvPr id="23558" name="Oval 5"/>
          <p:cNvSpPr>
            <a:spLocks noChangeArrowheads="1"/>
          </p:cNvSpPr>
          <p:nvPr/>
        </p:nvSpPr>
        <p:spPr bwMode="auto">
          <a:xfrm>
            <a:off x="3733800" y="4648200"/>
            <a:ext cx="533400" cy="457200"/>
          </a:xfrm>
          <a:prstGeom prst="ellipse">
            <a:avLst/>
          </a:prstGeom>
          <a:solidFill>
            <a:srgbClr val="CCFFCC"/>
          </a:solidFill>
          <a:ln w="12700">
            <a:solidFill>
              <a:schemeClr val="tx1"/>
            </a:solidFill>
            <a:round/>
            <a:headEnd type="none" w="sm" len="sm"/>
            <a:tailEnd type="none" w="sm" len="sm"/>
          </a:ln>
        </p:spPr>
        <p:txBody>
          <a:bodyPr wrap="none" anchor="ctr"/>
          <a:lstStyle/>
          <a:p>
            <a:pPr algn="ctr"/>
            <a:r>
              <a:rPr lang="en-US" sz="2400" b="0"/>
              <a:t>2</a:t>
            </a:r>
          </a:p>
        </p:txBody>
      </p:sp>
      <p:sp>
        <p:nvSpPr>
          <p:cNvPr id="23559" name="Oval 6"/>
          <p:cNvSpPr>
            <a:spLocks noChangeArrowheads="1"/>
          </p:cNvSpPr>
          <p:nvPr/>
        </p:nvSpPr>
        <p:spPr bwMode="auto">
          <a:xfrm>
            <a:off x="2971800" y="5181600"/>
            <a:ext cx="533400" cy="457200"/>
          </a:xfrm>
          <a:prstGeom prst="ellipse">
            <a:avLst/>
          </a:prstGeom>
          <a:solidFill>
            <a:srgbClr val="CCFFCC"/>
          </a:solidFill>
          <a:ln w="12700">
            <a:solidFill>
              <a:schemeClr val="tx1"/>
            </a:solidFill>
            <a:round/>
            <a:headEnd type="none" w="sm" len="sm"/>
            <a:tailEnd type="none" w="sm" len="sm"/>
          </a:ln>
        </p:spPr>
        <p:txBody>
          <a:bodyPr wrap="none" anchor="ctr"/>
          <a:lstStyle/>
          <a:p>
            <a:pPr algn="ctr"/>
            <a:r>
              <a:rPr lang="en-US" sz="2400" b="0"/>
              <a:t>1</a:t>
            </a:r>
          </a:p>
        </p:txBody>
      </p:sp>
      <p:sp>
        <p:nvSpPr>
          <p:cNvPr id="23560" name="Oval 7"/>
          <p:cNvSpPr>
            <a:spLocks noChangeArrowheads="1"/>
          </p:cNvSpPr>
          <p:nvPr/>
        </p:nvSpPr>
        <p:spPr bwMode="auto">
          <a:xfrm>
            <a:off x="4495800" y="5181600"/>
            <a:ext cx="533400" cy="457200"/>
          </a:xfrm>
          <a:prstGeom prst="ellipse">
            <a:avLst/>
          </a:prstGeom>
          <a:solidFill>
            <a:srgbClr val="CCFFCC"/>
          </a:solidFill>
          <a:ln w="12700">
            <a:solidFill>
              <a:schemeClr val="tx1"/>
            </a:solidFill>
            <a:round/>
            <a:headEnd type="none" w="sm" len="sm"/>
            <a:tailEnd type="none" w="sm" len="sm"/>
          </a:ln>
        </p:spPr>
        <p:txBody>
          <a:bodyPr wrap="none" anchor="ctr"/>
          <a:lstStyle/>
          <a:p>
            <a:pPr algn="ctr"/>
            <a:r>
              <a:rPr lang="en-US" sz="2400" b="0"/>
              <a:t>3</a:t>
            </a:r>
          </a:p>
        </p:txBody>
      </p:sp>
      <p:sp>
        <p:nvSpPr>
          <p:cNvPr id="23561" name="Line 8"/>
          <p:cNvSpPr>
            <a:spLocks noChangeShapeType="1"/>
          </p:cNvSpPr>
          <p:nvPr/>
        </p:nvSpPr>
        <p:spPr bwMode="auto">
          <a:xfrm flipH="1">
            <a:off x="3429000" y="5029200"/>
            <a:ext cx="304800" cy="228600"/>
          </a:xfrm>
          <a:prstGeom prst="line">
            <a:avLst/>
          </a:prstGeom>
          <a:noFill/>
          <a:ln w="50800">
            <a:solidFill>
              <a:srgbClr val="FF0000"/>
            </a:solidFill>
            <a:round/>
            <a:headEnd type="none" w="sm" len="sm"/>
            <a:tailEnd type="triangle" w="sm" len="sm"/>
          </a:ln>
        </p:spPr>
        <p:txBody>
          <a:bodyPr/>
          <a:lstStyle/>
          <a:p>
            <a:endParaRPr lang="en-US"/>
          </a:p>
        </p:txBody>
      </p:sp>
      <p:sp>
        <p:nvSpPr>
          <p:cNvPr id="23562" name="Line 9"/>
          <p:cNvSpPr>
            <a:spLocks noChangeShapeType="1"/>
          </p:cNvSpPr>
          <p:nvPr/>
        </p:nvSpPr>
        <p:spPr bwMode="auto">
          <a:xfrm>
            <a:off x="5029200" y="5638800"/>
            <a:ext cx="304800" cy="228600"/>
          </a:xfrm>
          <a:prstGeom prst="line">
            <a:avLst/>
          </a:prstGeom>
          <a:noFill/>
          <a:ln w="50800">
            <a:solidFill>
              <a:srgbClr val="FF0000"/>
            </a:solidFill>
            <a:round/>
            <a:headEnd type="none" w="sm" len="sm"/>
            <a:tailEnd type="triangle" w="sm" len="sm"/>
          </a:ln>
        </p:spPr>
        <p:txBody>
          <a:bodyPr/>
          <a:lstStyle/>
          <a:p>
            <a:endParaRPr lang="en-US"/>
          </a:p>
        </p:txBody>
      </p:sp>
      <p:sp>
        <p:nvSpPr>
          <p:cNvPr id="23563" name="Oval 10"/>
          <p:cNvSpPr>
            <a:spLocks noChangeArrowheads="1"/>
          </p:cNvSpPr>
          <p:nvPr/>
        </p:nvSpPr>
        <p:spPr bwMode="auto">
          <a:xfrm>
            <a:off x="5257800" y="5791200"/>
            <a:ext cx="533400" cy="457200"/>
          </a:xfrm>
          <a:prstGeom prst="ellipse">
            <a:avLst/>
          </a:prstGeom>
          <a:solidFill>
            <a:srgbClr val="CCFFCC"/>
          </a:solidFill>
          <a:ln w="12700">
            <a:solidFill>
              <a:schemeClr val="tx1"/>
            </a:solidFill>
            <a:round/>
            <a:headEnd type="none" w="sm" len="sm"/>
            <a:tailEnd type="none" w="sm" len="sm"/>
          </a:ln>
        </p:spPr>
        <p:txBody>
          <a:bodyPr wrap="none" anchor="ctr"/>
          <a:lstStyle/>
          <a:p>
            <a:pPr algn="ctr"/>
            <a:r>
              <a:rPr lang="en-US" sz="2400" b="0"/>
              <a:t>4</a:t>
            </a:r>
          </a:p>
        </p:txBody>
      </p:sp>
      <p:sp>
        <p:nvSpPr>
          <p:cNvPr id="12" name="Rectangle 11"/>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What is an </a:t>
            </a:r>
            <a:r>
              <a:rPr lang="en-US" sz="5400" dirty="0" err="1"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iterator</a:t>
            </a: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4580" name="Text Box 3"/>
          <p:cNvSpPr txBox="1">
            <a:spLocks noChangeArrowheads="1"/>
          </p:cNvSpPr>
          <p:nvPr/>
        </p:nvSpPr>
        <p:spPr bwMode="auto">
          <a:xfrm>
            <a:off x="762000" y="1905000"/>
            <a:ext cx="7232650" cy="1917700"/>
          </a:xfrm>
          <a:prstGeom prst="rect">
            <a:avLst/>
          </a:prstGeom>
          <a:noFill/>
          <a:ln w="9525">
            <a:noFill/>
            <a:miter lim="800000"/>
            <a:headEnd/>
            <a:tailEnd/>
          </a:ln>
        </p:spPr>
        <p:txBody>
          <a:bodyPr wrap="none">
            <a:spAutoFit/>
          </a:bodyPr>
          <a:lstStyle/>
          <a:p>
            <a:pPr marL="457200" indent="-457200"/>
            <a:r>
              <a:rPr lang="en-US" sz="2400"/>
              <a:t>By using the Iterator, the references from a</a:t>
            </a:r>
          </a:p>
          <a:p>
            <a:pPr marL="457200" indent="-457200"/>
            <a:r>
              <a:rPr lang="en-US" sz="2400"/>
              <a:t>Collection can be accessed in a more standard</a:t>
            </a:r>
          </a:p>
          <a:p>
            <a:pPr marL="457200" indent="-457200"/>
            <a:r>
              <a:rPr lang="en-US" sz="2400"/>
              <a:t>sequential-like manner without having to </a:t>
            </a:r>
          </a:p>
          <a:p>
            <a:pPr marL="457200" indent="-457200"/>
            <a:r>
              <a:rPr lang="en-US" sz="2400"/>
              <a:t>manipulate the underlying Collection </a:t>
            </a:r>
          </a:p>
          <a:p>
            <a:pPr marL="457200" indent="-457200"/>
            <a:r>
              <a:rPr lang="en-US" sz="2400"/>
              <a:t>data structure.</a:t>
            </a:r>
          </a:p>
        </p:txBody>
      </p:sp>
      <p:sp>
        <p:nvSpPr>
          <p:cNvPr id="24581" name="Text Box 4"/>
          <p:cNvSpPr txBox="1">
            <a:spLocks noChangeArrowheads="1"/>
          </p:cNvSpPr>
          <p:nvPr/>
        </p:nvSpPr>
        <p:spPr bwMode="auto">
          <a:xfrm>
            <a:off x="1371600" y="3733800"/>
            <a:ext cx="184150" cy="519113"/>
          </a:xfrm>
          <a:prstGeom prst="rect">
            <a:avLst/>
          </a:prstGeom>
          <a:noFill/>
          <a:ln w="9525">
            <a:noFill/>
            <a:miter lim="800000"/>
            <a:headEnd/>
            <a:tailEnd/>
          </a:ln>
        </p:spPr>
        <p:txBody>
          <a:bodyPr wrap="none">
            <a:spAutoFit/>
          </a:bodyPr>
          <a:lstStyle/>
          <a:p>
            <a:endParaRPr lang="en-US"/>
          </a:p>
        </p:txBody>
      </p:sp>
      <p:sp>
        <p:nvSpPr>
          <p:cNvPr id="24582" name="Rectangle 5"/>
          <p:cNvSpPr>
            <a:spLocks noChangeArrowheads="1"/>
          </p:cNvSpPr>
          <p:nvPr/>
        </p:nvSpPr>
        <p:spPr bwMode="auto">
          <a:xfrm>
            <a:off x="1752600" y="44196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1</a:t>
            </a:r>
          </a:p>
        </p:txBody>
      </p:sp>
      <p:sp>
        <p:nvSpPr>
          <p:cNvPr id="24583" name="Rectangle 6"/>
          <p:cNvSpPr>
            <a:spLocks noChangeArrowheads="1"/>
          </p:cNvSpPr>
          <p:nvPr/>
        </p:nvSpPr>
        <p:spPr bwMode="auto">
          <a:xfrm>
            <a:off x="3124200" y="44196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2</a:t>
            </a:r>
          </a:p>
        </p:txBody>
      </p:sp>
      <p:sp>
        <p:nvSpPr>
          <p:cNvPr id="24584" name="Rectangle 7"/>
          <p:cNvSpPr>
            <a:spLocks noChangeArrowheads="1"/>
          </p:cNvSpPr>
          <p:nvPr/>
        </p:nvSpPr>
        <p:spPr bwMode="auto">
          <a:xfrm>
            <a:off x="4495800" y="44196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3</a:t>
            </a:r>
          </a:p>
        </p:txBody>
      </p:sp>
      <p:sp>
        <p:nvSpPr>
          <p:cNvPr id="24585" name="Rectangle 8"/>
          <p:cNvSpPr>
            <a:spLocks noChangeArrowheads="1"/>
          </p:cNvSpPr>
          <p:nvPr/>
        </p:nvSpPr>
        <p:spPr bwMode="auto">
          <a:xfrm>
            <a:off x="5867400" y="44196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4</a:t>
            </a:r>
          </a:p>
        </p:txBody>
      </p:sp>
      <p:sp>
        <p:nvSpPr>
          <p:cNvPr id="10" name="Rectangle 9"/>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What is an </a:t>
            </a:r>
            <a:r>
              <a:rPr lang="en-US" sz="5400" dirty="0" err="1"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iterator</a:t>
            </a: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752600" y="1600200"/>
            <a:ext cx="5638800" cy="2308324"/>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err="1" smtClean="0">
                <a:ln w="11430">
                  <a:solidFill>
                    <a:srgbClr val="FFFF00"/>
                  </a:solidFill>
                </a:ln>
                <a:solidFill>
                  <a:srgbClr val="0066FF"/>
                </a:solidFill>
                <a:effectLst>
                  <a:outerShdw blurRad="50800" dist="39000" dir="5460000" algn="tl">
                    <a:srgbClr val="000000">
                      <a:alpha val="38000"/>
                    </a:srgbClr>
                  </a:outerShdw>
                </a:effectLst>
              </a:rPr>
              <a:t>Iteratator</a:t>
            </a:r>
            <a:r>
              <a:rPr lang="en-US" sz="7200" dirty="0" smtClean="0">
                <a:ln w="11430">
                  <a:solidFill>
                    <a:srgbClr val="FFFF00"/>
                  </a:solidFill>
                </a:ln>
                <a:solidFill>
                  <a:srgbClr val="0066FF"/>
                </a:solidFill>
                <a:effectLst>
                  <a:outerShdw blurRad="50800" dist="39000" dir="5460000" algn="tl">
                    <a:srgbClr val="000000">
                      <a:alpha val="38000"/>
                    </a:srgbClr>
                  </a:outerShdw>
                </a:effectLst>
              </a:rPr>
              <a:t/>
            </a:r>
            <a:br>
              <a:rPr lang="en-US" sz="7200" dirty="0" smtClean="0">
                <a:ln w="11430">
                  <a:solidFill>
                    <a:srgbClr val="FFFF00"/>
                  </a:solidFill>
                </a:ln>
                <a:solidFill>
                  <a:srgbClr val="0066FF"/>
                </a:solidFill>
                <a:effectLst>
                  <a:outerShdw blurRad="50800" dist="39000" dir="5460000" algn="tl">
                    <a:srgbClr val="000000">
                      <a:alpha val="38000"/>
                    </a:srgbClr>
                  </a:outerShdw>
                </a:effectLst>
              </a:rPr>
            </a:br>
            <a:r>
              <a:rPr lang="en-US" sz="7200" dirty="0" smtClean="0">
                <a:ln w="11430">
                  <a:solidFill>
                    <a:srgbClr val="FFFF00"/>
                  </a:solidFill>
                </a:ln>
                <a:solidFill>
                  <a:srgbClr val="0066FF"/>
                </a:solidFill>
                <a:effectLst>
                  <a:outerShdw blurRad="50800" dist="39000" dir="5460000" algn="tl">
                    <a:srgbClr val="000000">
                      <a:alpha val="38000"/>
                    </a:srgbClr>
                  </a:outerShdw>
                </a:effectLst>
              </a:rPr>
              <a:t>Interface</a:t>
            </a:r>
          </a:p>
        </p:txBody>
      </p:sp>
      <p:sp>
        <p:nvSpPr>
          <p:cNvPr id="8" name="Footer Placeholder 2"/>
          <p:cNvSpPr>
            <a:spLocks noGrp="1"/>
          </p:cNvSpPr>
          <p:nvPr>
            <p:ph type="ftr" sz="quarter" idx="4294967295"/>
          </p:nvPr>
        </p:nvSpPr>
        <p:spPr>
          <a:xfrm>
            <a:off x="3124200" y="6248400"/>
            <a:ext cx="2895600" cy="457200"/>
          </a:xfrm>
          <a:prstGeom prst="rect">
            <a:avLst/>
          </a:prstGeo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graphicFrame>
        <p:nvGraphicFramePr>
          <p:cNvPr id="157726" name="Group 30"/>
          <p:cNvGraphicFramePr>
            <a:graphicFrameLocks noGrp="1"/>
          </p:cNvGraphicFramePr>
          <p:nvPr/>
        </p:nvGraphicFramePr>
        <p:xfrm>
          <a:off x="609600" y="533400"/>
          <a:ext cx="8077200" cy="3530601"/>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smtClean="0">
                          <a:ln>
                            <a:noFill/>
                          </a:ln>
                          <a:solidFill>
                            <a:srgbClr val="FF0000"/>
                          </a:solidFill>
                          <a:effectLst/>
                          <a:latin typeface="Tahoma" pitchFamily="34" charset="0"/>
                        </a:rPr>
                        <a:t>Iterator</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returns a reference to the next item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removes the last ref returned by next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hasNext()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checks to see there are more items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6646" name="Text Box 31"/>
          <p:cNvSpPr txBox="1">
            <a:spLocks noChangeArrowheads="1"/>
          </p:cNvSpPr>
          <p:nvPr/>
        </p:nvSpPr>
        <p:spPr bwMode="auto">
          <a:xfrm>
            <a:off x="2057400" y="5029200"/>
            <a:ext cx="5105400" cy="531813"/>
          </a:xfrm>
          <a:prstGeom prst="rect">
            <a:avLst/>
          </a:prstGeom>
          <a:noFill/>
          <a:ln w="12700">
            <a:solidFill>
              <a:srgbClr val="0000FF"/>
            </a:solidFill>
            <a:miter lim="800000"/>
            <a:headEnd type="none" w="sm" len="sm"/>
            <a:tailEnd type="none" w="sm" len="sm"/>
          </a:ln>
        </p:spPr>
        <p:txBody>
          <a:bodyPr>
            <a:spAutoFit/>
          </a:bodyPr>
          <a:lstStyle/>
          <a:p>
            <a:pPr eaLnBrk="1" hangingPunct="1"/>
            <a:r>
              <a:rPr lang="en-US">
                <a:solidFill>
                  <a:schemeClr val="accent2"/>
                </a:solidFill>
              </a:rPr>
              <a:t>import  java.util.Iterator;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7652" name="Text Box 12"/>
          <p:cNvSpPr txBox="1">
            <a:spLocks noChangeArrowheads="1"/>
          </p:cNvSpPr>
          <p:nvPr/>
        </p:nvSpPr>
        <p:spPr bwMode="auto">
          <a:xfrm>
            <a:off x="533400" y="1600200"/>
            <a:ext cx="8229600" cy="3935413"/>
          </a:xfrm>
          <a:prstGeom prst="rect">
            <a:avLst/>
          </a:prstGeom>
          <a:noFill/>
          <a:ln w="9525">
            <a:noFill/>
            <a:miter lim="800000"/>
            <a:headEnd/>
            <a:tailEnd/>
          </a:ln>
        </p:spPr>
        <p:txBody>
          <a:bodyPr>
            <a:spAutoFit/>
          </a:bodyPr>
          <a:lstStyle/>
          <a:p>
            <a:r>
              <a:rPr lang="en-US" dirty="0" err="1"/>
              <a:t>ArrayList</a:t>
            </a:r>
            <a:r>
              <a:rPr lang="en-US" dirty="0"/>
              <a:t>&lt;String&gt; words;</a:t>
            </a:r>
          </a:p>
          <a:p>
            <a:r>
              <a:rPr lang="en-US" dirty="0"/>
              <a:t>words = new </a:t>
            </a:r>
            <a:r>
              <a:rPr lang="en-US" dirty="0" err="1"/>
              <a:t>ArrayList</a:t>
            </a:r>
            <a:r>
              <a:rPr lang="en-US" dirty="0"/>
              <a:t>&lt;String&gt;();</a:t>
            </a:r>
          </a:p>
          <a:p>
            <a:r>
              <a:rPr lang="en-US" dirty="0" err="1"/>
              <a:t>words.add</a:t>
            </a:r>
            <a:r>
              <a:rPr lang="en-US" dirty="0"/>
              <a:t>("at");</a:t>
            </a:r>
          </a:p>
          <a:p>
            <a:r>
              <a:rPr lang="en-US" dirty="0" err="1"/>
              <a:t>words.add</a:t>
            </a:r>
            <a:r>
              <a:rPr lang="en-US" dirty="0"/>
              <a:t>("is");</a:t>
            </a:r>
          </a:p>
          <a:p>
            <a:r>
              <a:rPr lang="en-US" dirty="0" err="1"/>
              <a:t>words.add</a:t>
            </a:r>
            <a:r>
              <a:rPr lang="en-US" dirty="0"/>
              <a:t>("of");</a:t>
            </a:r>
          </a:p>
          <a:p>
            <a:r>
              <a:rPr lang="en-US" dirty="0" err="1"/>
              <a:t>words.add</a:t>
            </a:r>
            <a:r>
              <a:rPr lang="en-US" dirty="0"/>
              <a:t>("us");</a:t>
            </a:r>
          </a:p>
          <a:p>
            <a:endParaRPr lang="en-US" dirty="0"/>
          </a:p>
          <a:p>
            <a:r>
              <a:rPr lang="en-US" dirty="0" err="1"/>
              <a:t>Iterator</a:t>
            </a:r>
            <a:r>
              <a:rPr lang="en-US" dirty="0"/>
              <a:t>&lt;String&gt; it = </a:t>
            </a:r>
            <a:r>
              <a:rPr lang="en-US" dirty="0" err="1"/>
              <a:t>words.iterator</a:t>
            </a:r>
            <a:r>
              <a:rPr lang="en-US" dirty="0"/>
              <a:t>();</a:t>
            </a:r>
          </a:p>
          <a:p>
            <a:r>
              <a:rPr lang="en-US" dirty="0" err="1"/>
              <a:t>System.out.println</a:t>
            </a:r>
            <a:r>
              <a:rPr lang="en-US" dirty="0"/>
              <a:t>(</a:t>
            </a:r>
            <a:r>
              <a:rPr lang="en-US" dirty="0" err="1"/>
              <a:t>it.next</a:t>
            </a:r>
            <a:r>
              <a:rPr lang="en-US" dirty="0"/>
              <a:t>());</a:t>
            </a:r>
          </a:p>
        </p:txBody>
      </p:sp>
      <p:sp>
        <p:nvSpPr>
          <p:cNvPr id="27653" name="Text Box 14"/>
          <p:cNvSpPr txBox="1">
            <a:spLocks noChangeArrowheads="1"/>
          </p:cNvSpPr>
          <p:nvPr/>
        </p:nvSpPr>
        <p:spPr bwMode="auto">
          <a:xfrm>
            <a:off x="7010400" y="2286000"/>
            <a:ext cx="1905000" cy="1079500"/>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r>
              <a:rPr lang="en-US" sz="3200"/>
              <a:t>at</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next()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8675" name="Text Box 3"/>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28676" name="Text Box 4"/>
          <p:cNvSpPr txBox="1">
            <a:spLocks noChangeArrowheads="1"/>
          </p:cNvSpPr>
          <p:nvPr/>
        </p:nvSpPr>
        <p:spPr bwMode="auto">
          <a:xfrm>
            <a:off x="762000" y="4114800"/>
            <a:ext cx="549275" cy="701675"/>
          </a:xfrm>
          <a:prstGeom prst="rect">
            <a:avLst/>
          </a:prstGeom>
          <a:noFill/>
          <a:ln w="9525">
            <a:noFill/>
            <a:miter lim="800000"/>
            <a:headEnd/>
            <a:tailEnd/>
          </a:ln>
        </p:spPr>
        <p:txBody>
          <a:bodyPr wrap="none">
            <a:spAutoFit/>
          </a:bodyPr>
          <a:lstStyle/>
          <a:p>
            <a:r>
              <a:rPr lang="en-US" sz="4000"/>
              <a:t>it</a:t>
            </a:r>
          </a:p>
        </p:txBody>
      </p:sp>
      <p:sp>
        <p:nvSpPr>
          <p:cNvPr id="28677" name="Line 5"/>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28678" name="Rectangle 6"/>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28679" name="Rectangle 7"/>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28680" name="Rectangle 8"/>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28681" name="Rectangle 9"/>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28682" name="Text Box 10"/>
          <p:cNvSpPr txBox="1">
            <a:spLocks noChangeArrowheads="1"/>
          </p:cNvSpPr>
          <p:nvPr/>
        </p:nvSpPr>
        <p:spPr bwMode="auto">
          <a:xfrm>
            <a:off x="457200" y="1447800"/>
            <a:ext cx="965200" cy="701675"/>
          </a:xfrm>
          <a:prstGeom prst="rect">
            <a:avLst/>
          </a:prstGeom>
          <a:noFill/>
          <a:ln w="9525">
            <a:noFill/>
            <a:miter lim="800000"/>
            <a:headEnd/>
            <a:tailEnd/>
          </a:ln>
        </p:spPr>
        <p:txBody>
          <a:bodyPr wrap="none">
            <a:spAutoFit/>
          </a:bodyPr>
          <a:lstStyle/>
          <a:p>
            <a:r>
              <a:rPr lang="en-US" sz="4000"/>
              <a:t>list</a:t>
            </a:r>
          </a:p>
        </p:txBody>
      </p:sp>
      <p:sp>
        <p:nvSpPr>
          <p:cNvPr id="28683" name="Text Box 11"/>
          <p:cNvSpPr txBox="1">
            <a:spLocks noChangeArrowheads="1"/>
          </p:cNvSpPr>
          <p:nvPr/>
        </p:nvSpPr>
        <p:spPr bwMode="auto">
          <a:xfrm>
            <a:off x="1600200" y="4876800"/>
            <a:ext cx="5029200" cy="946150"/>
          </a:xfrm>
          <a:prstGeom prst="rect">
            <a:avLst/>
          </a:prstGeom>
          <a:noFill/>
          <a:ln w="9525">
            <a:noFill/>
            <a:miter lim="800000"/>
            <a:headEnd/>
            <a:tailEnd/>
          </a:ln>
        </p:spPr>
        <p:txBody>
          <a:bodyPr>
            <a:spAutoFit/>
          </a:bodyPr>
          <a:lstStyle/>
          <a:p>
            <a:pPr>
              <a:spcBef>
                <a:spcPct val="50000"/>
              </a:spcBef>
            </a:pPr>
            <a:r>
              <a:rPr lang="en-US"/>
              <a:t>Iterator it = list.iterator(); </a:t>
            </a:r>
            <a:br>
              <a:rPr lang="en-US"/>
            </a:br>
            <a:endParaRPr lang="en-US"/>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next()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9699" name="Text Box 10"/>
          <p:cNvSpPr txBox="1">
            <a:spLocks noChangeArrowheads="1"/>
          </p:cNvSpPr>
          <p:nvPr/>
        </p:nvSpPr>
        <p:spPr bwMode="auto">
          <a:xfrm>
            <a:off x="762000" y="1676400"/>
            <a:ext cx="8839200" cy="3503613"/>
          </a:xfrm>
          <a:prstGeom prst="rect">
            <a:avLst/>
          </a:prstGeom>
          <a:noFill/>
          <a:ln w="9525">
            <a:noFill/>
            <a:miter lim="800000"/>
            <a:headEnd/>
            <a:tailEnd/>
          </a:ln>
        </p:spPr>
        <p:txBody>
          <a:bodyPr>
            <a:spAutoFit/>
          </a:bodyPr>
          <a:lstStyle/>
          <a:p>
            <a:pPr>
              <a:spcBef>
                <a:spcPct val="50000"/>
              </a:spcBef>
            </a:pPr>
            <a:r>
              <a:rPr lang="en-US" sz="3200"/>
              <a:t>method next()</a:t>
            </a:r>
            <a:br>
              <a:rPr lang="en-US" sz="3200"/>
            </a:br>
            <a:r>
              <a:rPr lang="en-US" sz="3200"/>
              <a:t>{</a:t>
            </a:r>
            <a:br>
              <a:rPr lang="en-US" sz="3200"/>
            </a:br>
            <a:r>
              <a:rPr lang="en-US" sz="3200"/>
              <a:t>   oldRef = currRef</a:t>
            </a:r>
            <a:br>
              <a:rPr lang="en-US" sz="3200"/>
            </a:br>
            <a:r>
              <a:rPr lang="en-US" sz="3200"/>
              <a:t>   currRef = next ref in the collection</a:t>
            </a:r>
            <a:br>
              <a:rPr lang="en-US" sz="3200"/>
            </a:br>
            <a:r>
              <a:rPr lang="en-US" sz="3200"/>
              <a:t>   return oldRef</a:t>
            </a:r>
            <a:br>
              <a:rPr lang="en-US" sz="3200"/>
            </a:br>
            <a:r>
              <a:rPr lang="en-US" sz="3200"/>
              <a:t>}</a:t>
            </a:r>
            <a:br>
              <a:rPr lang="en-US" sz="3200"/>
            </a:br>
            <a:endParaRPr lang="en-US" sz="3200"/>
          </a:p>
        </p:txBody>
      </p:sp>
      <p:sp>
        <p:nvSpPr>
          <p:cNvPr id="5" name="Rectangle 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next()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0723" name="Text Box 2"/>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30724" name="Text Box 3"/>
          <p:cNvSpPr txBox="1">
            <a:spLocks noChangeArrowheads="1"/>
          </p:cNvSpPr>
          <p:nvPr/>
        </p:nvSpPr>
        <p:spPr bwMode="auto">
          <a:xfrm>
            <a:off x="2057400" y="4114800"/>
            <a:ext cx="549275" cy="701675"/>
          </a:xfrm>
          <a:prstGeom prst="rect">
            <a:avLst/>
          </a:prstGeom>
          <a:noFill/>
          <a:ln w="9525">
            <a:noFill/>
            <a:miter lim="800000"/>
            <a:headEnd/>
            <a:tailEnd/>
          </a:ln>
        </p:spPr>
        <p:txBody>
          <a:bodyPr wrap="none">
            <a:spAutoFit/>
          </a:bodyPr>
          <a:lstStyle/>
          <a:p>
            <a:r>
              <a:rPr lang="en-US" sz="4000"/>
              <a:t>it</a:t>
            </a:r>
          </a:p>
        </p:txBody>
      </p:sp>
      <p:sp>
        <p:nvSpPr>
          <p:cNvPr id="30725" name="Line 4"/>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30726" name="Text Box 6"/>
          <p:cNvSpPr txBox="1">
            <a:spLocks noChangeArrowheads="1"/>
          </p:cNvSpPr>
          <p:nvPr/>
        </p:nvSpPr>
        <p:spPr bwMode="auto">
          <a:xfrm>
            <a:off x="1600200" y="4800600"/>
            <a:ext cx="7239000" cy="823913"/>
          </a:xfrm>
          <a:prstGeom prst="rect">
            <a:avLst/>
          </a:prstGeom>
          <a:noFill/>
          <a:ln w="9525">
            <a:noFill/>
            <a:miter lim="800000"/>
            <a:headEnd/>
            <a:tailEnd/>
          </a:ln>
        </p:spPr>
        <p:txBody>
          <a:bodyPr>
            <a:spAutoFit/>
          </a:bodyPr>
          <a:lstStyle/>
          <a:p>
            <a:pPr>
              <a:spcBef>
                <a:spcPct val="50000"/>
              </a:spcBef>
            </a:pPr>
            <a:r>
              <a:rPr lang="en-US"/>
              <a:t>it.next();</a:t>
            </a:r>
            <a:br>
              <a:rPr lang="en-US"/>
            </a:br>
            <a:endParaRPr lang="en-US" sz="2000">
              <a:solidFill>
                <a:schemeClr val="accent2"/>
              </a:solidFill>
            </a:endParaRPr>
          </a:p>
        </p:txBody>
      </p:sp>
      <p:sp>
        <p:nvSpPr>
          <p:cNvPr id="30727" name="Text Box 7"/>
          <p:cNvSpPr txBox="1">
            <a:spLocks noChangeArrowheads="1"/>
          </p:cNvSpPr>
          <p:nvPr/>
        </p:nvSpPr>
        <p:spPr bwMode="auto">
          <a:xfrm>
            <a:off x="457200" y="1447800"/>
            <a:ext cx="965200" cy="701675"/>
          </a:xfrm>
          <a:prstGeom prst="rect">
            <a:avLst/>
          </a:prstGeom>
          <a:noFill/>
          <a:ln w="9525">
            <a:noFill/>
            <a:miter lim="800000"/>
            <a:headEnd/>
            <a:tailEnd/>
          </a:ln>
        </p:spPr>
        <p:txBody>
          <a:bodyPr wrap="none">
            <a:spAutoFit/>
          </a:bodyPr>
          <a:lstStyle/>
          <a:p>
            <a:r>
              <a:rPr lang="en-US" sz="4000"/>
              <a:t>list</a:t>
            </a:r>
          </a:p>
        </p:txBody>
      </p:sp>
      <p:sp>
        <p:nvSpPr>
          <p:cNvPr id="30728" name="Text Box 8"/>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1</a:t>
            </a:r>
            <a:r>
              <a:rPr lang="en-US" sz="2000" baseline="30000">
                <a:solidFill>
                  <a:schemeClr val="accent2"/>
                </a:solidFill>
              </a:rPr>
              <a:t>st</a:t>
            </a:r>
            <a:r>
              <a:rPr lang="en-US" sz="2000">
                <a:solidFill>
                  <a:schemeClr val="accent2"/>
                </a:solidFill>
              </a:rPr>
              <a:t> item.</a:t>
            </a:r>
            <a:endParaRPr lang="en-US" sz="2000"/>
          </a:p>
        </p:txBody>
      </p:sp>
      <p:sp>
        <p:nvSpPr>
          <p:cNvPr id="30729" name="Rectangle 9"/>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30730" name="Rectangle 10"/>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30731" name="Rectangle 11"/>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30732" name="Rectangle 12"/>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next()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1747" name="Text Box 3"/>
          <p:cNvSpPr txBox="1">
            <a:spLocks noChangeArrowheads="1"/>
          </p:cNvSpPr>
          <p:nvPr/>
        </p:nvSpPr>
        <p:spPr bwMode="auto">
          <a:xfrm>
            <a:off x="533400" y="1676400"/>
            <a:ext cx="8001000" cy="4524315"/>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r>
              <a:rPr lang="en-US" sz="2400" dirty="0" err="1"/>
              <a:t>words.add</a:t>
            </a:r>
            <a:r>
              <a:rPr lang="en-US" sz="2400" dirty="0"/>
              <a:t>("at");</a:t>
            </a:r>
          </a:p>
          <a:p>
            <a:r>
              <a:rPr lang="en-US" sz="2400" dirty="0" err="1"/>
              <a:t>words.add</a:t>
            </a:r>
            <a:r>
              <a:rPr lang="en-US" sz="2400" dirty="0"/>
              <a:t>("is");</a:t>
            </a:r>
          </a:p>
          <a:p>
            <a:r>
              <a:rPr lang="en-US" sz="2400" dirty="0" err="1"/>
              <a:t>words.add</a:t>
            </a:r>
            <a:r>
              <a:rPr lang="en-US" sz="2400" dirty="0"/>
              <a:t>("of");</a:t>
            </a:r>
          </a:p>
          <a:p>
            <a:r>
              <a:rPr lang="en-US" sz="2400" dirty="0" err="1"/>
              <a:t>words.add</a:t>
            </a:r>
            <a:r>
              <a:rPr lang="en-US" sz="2400" dirty="0"/>
              <a:t>("us");</a:t>
            </a:r>
          </a:p>
          <a:p>
            <a:endParaRPr lang="en-US" sz="2400" dirty="0"/>
          </a:p>
          <a:p>
            <a:r>
              <a:rPr lang="en-US" sz="2400" dirty="0" err="1"/>
              <a:t>Iterator</a:t>
            </a:r>
            <a:r>
              <a:rPr lang="en-US" sz="2400" dirty="0"/>
              <a:t>&lt;String&gt; it = </a:t>
            </a:r>
            <a:r>
              <a:rPr lang="en-US" sz="2400" dirty="0" err="1"/>
              <a:t>words.iterator</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it.next</a:t>
            </a:r>
            <a:r>
              <a:rPr lang="en-US" sz="2400" dirty="0"/>
              <a:t>());</a:t>
            </a:r>
          </a:p>
        </p:txBody>
      </p:sp>
      <p:sp>
        <p:nvSpPr>
          <p:cNvPr id="31748" name="Text Box 4"/>
          <p:cNvSpPr txBox="1">
            <a:spLocks noChangeArrowheads="1"/>
          </p:cNvSpPr>
          <p:nvPr/>
        </p:nvSpPr>
        <p:spPr bwMode="auto">
          <a:xfrm>
            <a:off x="6934200" y="1981200"/>
            <a:ext cx="1905000" cy="2786063"/>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pPr>
              <a:spcBef>
                <a:spcPct val="50000"/>
              </a:spcBef>
            </a:pPr>
            <a:r>
              <a:rPr lang="en-US" sz="3200"/>
              <a:t>at</a:t>
            </a:r>
            <a:br>
              <a:rPr lang="en-US" sz="3200"/>
            </a:br>
            <a:r>
              <a:rPr lang="en-US" sz="3200"/>
              <a:t>is</a:t>
            </a:r>
            <a:br>
              <a:rPr lang="en-US" sz="3200"/>
            </a:br>
            <a:r>
              <a:rPr lang="en-US" sz="3200"/>
              <a:t>of</a:t>
            </a:r>
            <a:br>
              <a:rPr lang="en-US" sz="3200"/>
            </a:br>
            <a:r>
              <a:rPr lang="en-US" sz="3200"/>
              <a:t>us</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next()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3795" name="Text Box 3"/>
          <p:cNvSpPr txBox="1">
            <a:spLocks noChangeArrowheads="1"/>
          </p:cNvSpPr>
          <p:nvPr/>
        </p:nvSpPr>
        <p:spPr bwMode="auto">
          <a:xfrm>
            <a:off x="533400" y="1447800"/>
            <a:ext cx="7696200" cy="4893647"/>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endParaRPr lang="en-US" sz="2400" dirty="0"/>
          </a:p>
          <a:p>
            <a:r>
              <a:rPr lang="en-US" sz="2400" dirty="0" err="1"/>
              <a:t>words.add</a:t>
            </a:r>
            <a:r>
              <a:rPr lang="en-US" sz="2400" dirty="0"/>
              <a:t>("at");</a:t>
            </a:r>
          </a:p>
          <a:p>
            <a:r>
              <a:rPr lang="en-US" sz="2400" dirty="0" err="1"/>
              <a:t>words.add</a:t>
            </a:r>
            <a:r>
              <a:rPr lang="en-US" sz="2400" dirty="0"/>
              <a:t>("is");</a:t>
            </a:r>
          </a:p>
          <a:p>
            <a:r>
              <a:rPr lang="en-US" sz="2400" dirty="0" err="1"/>
              <a:t>words.add</a:t>
            </a:r>
            <a:r>
              <a:rPr lang="en-US" sz="2400" dirty="0"/>
              <a:t>("of");</a:t>
            </a:r>
          </a:p>
          <a:p>
            <a:r>
              <a:rPr lang="en-US" sz="2400" dirty="0" err="1"/>
              <a:t>words.add</a:t>
            </a:r>
            <a:r>
              <a:rPr lang="en-US" sz="2400" dirty="0"/>
              <a:t>("us");</a:t>
            </a:r>
          </a:p>
          <a:p>
            <a:endParaRPr lang="en-US" sz="2400" dirty="0"/>
          </a:p>
          <a:p>
            <a:r>
              <a:rPr lang="en-US" sz="2400" dirty="0" err="1"/>
              <a:t>Iterator</a:t>
            </a:r>
            <a:r>
              <a:rPr lang="en-US" sz="2400" dirty="0"/>
              <a:t>&lt;String&gt; it = </a:t>
            </a:r>
            <a:r>
              <a:rPr lang="en-US" sz="2400" dirty="0" err="1"/>
              <a:t>words.iterator</a:t>
            </a:r>
            <a:r>
              <a:rPr lang="en-US" sz="2400" dirty="0"/>
              <a:t>();</a:t>
            </a:r>
          </a:p>
          <a:p>
            <a:r>
              <a:rPr lang="en-US" sz="2400" dirty="0"/>
              <a:t>while(</a:t>
            </a:r>
            <a:r>
              <a:rPr lang="en-US" sz="2400" dirty="0" err="1"/>
              <a:t>it.hasNext</a:t>
            </a:r>
            <a:r>
              <a:rPr lang="en-US" sz="2400" dirty="0"/>
              <a:t>())</a:t>
            </a:r>
          </a:p>
          <a:p>
            <a:r>
              <a:rPr lang="en-US" sz="2400" dirty="0"/>
              <a:t>{</a:t>
            </a:r>
          </a:p>
          <a:p>
            <a:r>
              <a:rPr lang="en-US" sz="2400" dirty="0"/>
              <a:t>   </a:t>
            </a:r>
            <a:r>
              <a:rPr lang="en-US" sz="2400" dirty="0" err="1"/>
              <a:t>System.out.println</a:t>
            </a:r>
            <a:r>
              <a:rPr lang="en-US" sz="2400" dirty="0"/>
              <a:t>(</a:t>
            </a:r>
            <a:r>
              <a:rPr lang="en-US" sz="2400" dirty="0" err="1"/>
              <a:t>it.next</a:t>
            </a:r>
            <a:r>
              <a:rPr lang="en-US" sz="2400" dirty="0"/>
              <a:t>());</a:t>
            </a:r>
          </a:p>
          <a:p>
            <a:r>
              <a:rPr lang="en-US" sz="2400" dirty="0"/>
              <a:t>}</a:t>
            </a:r>
          </a:p>
        </p:txBody>
      </p:sp>
      <p:sp>
        <p:nvSpPr>
          <p:cNvPr id="33796" name="Text Box 4"/>
          <p:cNvSpPr txBox="1">
            <a:spLocks noChangeArrowheads="1"/>
          </p:cNvSpPr>
          <p:nvPr/>
        </p:nvSpPr>
        <p:spPr bwMode="auto">
          <a:xfrm>
            <a:off x="7010400" y="1828800"/>
            <a:ext cx="1905000" cy="2541588"/>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r>
              <a:rPr lang="en-US" sz="3200"/>
              <a:t>at</a:t>
            </a:r>
            <a:br>
              <a:rPr lang="en-US" sz="3200"/>
            </a:br>
            <a:r>
              <a:rPr lang="en-US" sz="3200"/>
              <a:t>is</a:t>
            </a:r>
            <a:br>
              <a:rPr lang="en-US" sz="3200"/>
            </a:br>
            <a:r>
              <a:rPr lang="en-US" sz="3200"/>
              <a:t>of</a:t>
            </a:r>
            <a:br>
              <a:rPr lang="en-US" sz="3200"/>
            </a:br>
            <a:r>
              <a:rPr lang="en-US" sz="3200"/>
              <a:t>us</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err="1"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hasNext</a:t>
            </a: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5843" name="Text Box 3"/>
          <p:cNvSpPr txBox="1">
            <a:spLocks noChangeArrowheads="1"/>
          </p:cNvSpPr>
          <p:nvPr/>
        </p:nvSpPr>
        <p:spPr bwMode="auto">
          <a:xfrm>
            <a:off x="533400" y="1600200"/>
            <a:ext cx="7696200" cy="4524315"/>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endParaRPr lang="en-US" sz="2400" dirty="0"/>
          </a:p>
          <a:p>
            <a:r>
              <a:rPr lang="en-US" sz="2400" dirty="0" err="1"/>
              <a:t>words.add</a:t>
            </a:r>
            <a:r>
              <a:rPr lang="en-US" sz="2400" dirty="0"/>
              <a:t>("at");</a:t>
            </a:r>
          </a:p>
          <a:p>
            <a:r>
              <a:rPr lang="en-US" sz="2400" dirty="0" err="1"/>
              <a:t>words.add</a:t>
            </a:r>
            <a:r>
              <a:rPr lang="en-US" sz="2400" dirty="0"/>
              <a:t>("is");</a:t>
            </a:r>
          </a:p>
          <a:p>
            <a:r>
              <a:rPr lang="en-US" sz="2400" dirty="0" err="1"/>
              <a:t>words.add</a:t>
            </a:r>
            <a:r>
              <a:rPr lang="en-US" sz="2400" dirty="0"/>
              <a:t>("of");</a:t>
            </a:r>
          </a:p>
          <a:p>
            <a:endParaRPr lang="en-US" sz="2400" dirty="0"/>
          </a:p>
          <a:p>
            <a:r>
              <a:rPr lang="en-US" sz="2400" dirty="0" err="1"/>
              <a:t>Iterator</a:t>
            </a:r>
            <a:r>
              <a:rPr lang="en-US" sz="2400" dirty="0"/>
              <a:t>&lt;String&gt; it = </a:t>
            </a:r>
            <a:r>
              <a:rPr lang="en-US" sz="2400" dirty="0" err="1"/>
              <a:t>words.iterator</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it.remove</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(words);</a:t>
            </a:r>
          </a:p>
        </p:txBody>
      </p:sp>
      <p:sp>
        <p:nvSpPr>
          <p:cNvPr id="35844" name="Text Box 4"/>
          <p:cNvSpPr txBox="1">
            <a:spLocks noChangeArrowheads="1"/>
          </p:cNvSpPr>
          <p:nvPr/>
        </p:nvSpPr>
        <p:spPr bwMode="auto">
          <a:xfrm>
            <a:off x="6934200" y="2057400"/>
            <a:ext cx="1905000" cy="2298700"/>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pPr>
              <a:spcBef>
                <a:spcPct val="50000"/>
              </a:spcBef>
            </a:pPr>
            <a:r>
              <a:rPr lang="en-US" sz="3200"/>
              <a:t>at</a:t>
            </a:r>
            <a:br>
              <a:rPr lang="en-US" sz="3200"/>
            </a:br>
            <a:r>
              <a:rPr lang="en-US" sz="3200"/>
              <a:t>is</a:t>
            </a:r>
            <a:br>
              <a:rPr lang="en-US" sz="3200"/>
            </a:br>
            <a:r>
              <a:rPr lang="en-US" sz="3200"/>
              <a:t>[is, of]</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6867" name="Text Box 3"/>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36868" name="Text Box 4"/>
          <p:cNvSpPr txBox="1">
            <a:spLocks noChangeArrowheads="1"/>
          </p:cNvSpPr>
          <p:nvPr/>
        </p:nvSpPr>
        <p:spPr bwMode="auto">
          <a:xfrm>
            <a:off x="762000" y="4114800"/>
            <a:ext cx="549275" cy="701675"/>
          </a:xfrm>
          <a:prstGeom prst="rect">
            <a:avLst/>
          </a:prstGeom>
          <a:noFill/>
          <a:ln w="9525">
            <a:noFill/>
            <a:miter lim="800000"/>
            <a:headEnd/>
            <a:tailEnd/>
          </a:ln>
        </p:spPr>
        <p:txBody>
          <a:bodyPr wrap="none">
            <a:spAutoFit/>
          </a:bodyPr>
          <a:lstStyle/>
          <a:p>
            <a:r>
              <a:rPr lang="en-US" sz="4000"/>
              <a:t>it</a:t>
            </a:r>
          </a:p>
        </p:txBody>
      </p:sp>
      <p:sp>
        <p:nvSpPr>
          <p:cNvPr id="36869" name="Line 5"/>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36870" name="Rectangle 6"/>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36871" name="Rectangle 7"/>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36872" name="Rectangle 8"/>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36873" name="Rectangle 9"/>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36874" name="Text Box 10"/>
          <p:cNvSpPr txBox="1">
            <a:spLocks noChangeArrowheads="1"/>
          </p:cNvSpPr>
          <p:nvPr/>
        </p:nvSpPr>
        <p:spPr bwMode="auto">
          <a:xfrm>
            <a:off x="457200" y="1447800"/>
            <a:ext cx="965200" cy="701675"/>
          </a:xfrm>
          <a:prstGeom prst="rect">
            <a:avLst/>
          </a:prstGeom>
          <a:noFill/>
          <a:ln w="9525">
            <a:noFill/>
            <a:miter lim="800000"/>
            <a:headEnd/>
            <a:tailEnd/>
          </a:ln>
        </p:spPr>
        <p:txBody>
          <a:bodyPr wrap="none">
            <a:spAutoFit/>
          </a:bodyPr>
          <a:lstStyle/>
          <a:p>
            <a:r>
              <a:rPr lang="en-US" sz="4000"/>
              <a:t>list</a:t>
            </a:r>
          </a:p>
        </p:txBody>
      </p:sp>
      <p:sp>
        <p:nvSpPr>
          <p:cNvPr id="36875" name="Text Box 11"/>
          <p:cNvSpPr txBox="1">
            <a:spLocks noChangeArrowheads="1"/>
          </p:cNvSpPr>
          <p:nvPr/>
        </p:nvSpPr>
        <p:spPr bwMode="auto">
          <a:xfrm>
            <a:off x="1600200" y="4876800"/>
            <a:ext cx="5029200" cy="946150"/>
          </a:xfrm>
          <a:prstGeom prst="rect">
            <a:avLst/>
          </a:prstGeom>
          <a:noFill/>
          <a:ln w="9525">
            <a:noFill/>
            <a:miter lim="800000"/>
            <a:headEnd/>
            <a:tailEnd/>
          </a:ln>
        </p:spPr>
        <p:txBody>
          <a:bodyPr>
            <a:spAutoFit/>
          </a:bodyPr>
          <a:lstStyle/>
          <a:p>
            <a:pPr>
              <a:spcBef>
                <a:spcPct val="50000"/>
              </a:spcBef>
            </a:pPr>
            <a:r>
              <a:rPr lang="en-US"/>
              <a:t>Iterator it = list.iterator(); </a:t>
            </a:r>
            <a:br>
              <a:rPr lang="en-US"/>
            </a:br>
            <a:endParaRPr lang="en-US"/>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7891" name="Text Box 2"/>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37892" name="Text Box 3"/>
          <p:cNvSpPr txBox="1">
            <a:spLocks noChangeArrowheads="1"/>
          </p:cNvSpPr>
          <p:nvPr/>
        </p:nvSpPr>
        <p:spPr bwMode="auto">
          <a:xfrm>
            <a:off x="2057400" y="4114800"/>
            <a:ext cx="549275" cy="701675"/>
          </a:xfrm>
          <a:prstGeom prst="rect">
            <a:avLst/>
          </a:prstGeom>
          <a:noFill/>
          <a:ln w="9525">
            <a:noFill/>
            <a:miter lim="800000"/>
            <a:headEnd/>
            <a:tailEnd/>
          </a:ln>
        </p:spPr>
        <p:txBody>
          <a:bodyPr wrap="none">
            <a:spAutoFit/>
          </a:bodyPr>
          <a:lstStyle/>
          <a:p>
            <a:r>
              <a:rPr lang="en-US" sz="4000"/>
              <a:t>it</a:t>
            </a:r>
          </a:p>
        </p:txBody>
      </p:sp>
      <p:sp>
        <p:nvSpPr>
          <p:cNvPr id="37893" name="Line 4"/>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37894" name="Text Box 6"/>
          <p:cNvSpPr txBox="1">
            <a:spLocks noChangeArrowheads="1"/>
          </p:cNvSpPr>
          <p:nvPr/>
        </p:nvSpPr>
        <p:spPr bwMode="auto">
          <a:xfrm>
            <a:off x="1600200" y="4800600"/>
            <a:ext cx="7239000" cy="823913"/>
          </a:xfrm>
          <a:prstGeom prst="rect">
            <a:avLst/>
          </a:prstGeom>
          <a:noFill/>
          <a:ln w="9525">
            <a:noFill/>
            <a:miter lim="800000"/>
            <a:headEnd/>
            <a:tailEnd/>
          </a:ln>
        </p:spPr>
        <p:txBody>
          <a:bodyPr>
            <a:spAutoFit/>
          </a:bodyPr>
          <a:lstStyle/>
          <a:p>
            <a:pPr>
              <a:spcBef>
                <a:spcPct val="50000"/>
              </a:spcBef>
            </a:pPr>
            <a:r>
              <a:rPr lang="en-US"/>
              <a:t>it.next();</a:t>
            </a:r>
            <a:br>
              <a:rPr lang="en-US"/>
            </a:br>
            <a:endParaRPr lang="en-US" sz="2000">
              <a:solidFill>
                <a:schemeClr val="accent2"/>
              </a:solidFill>
            </a:endParaRPr>
          </a:p>
        </p:txBody>
      </p:sp>
      <p:sp>
        <p:nvSpPr>
          <p:cNvPr id="37895" name="Text Box 7"/>
          <p:cNvSpPr txBox="1">
            <a:spLocks noChangeArrowheads="1"/>
          </p:cNvSpPr>
          <p:nvPr/>
        </p:nvSpPr>
        <p:spPr bwMode="auto">
          <a:xfrm>
            <a:off x="457200" y="1447800"/>
            <a:ext cx="965200" cy="701675"/>
          </a:xfrm>
          <a:prstGeom prst="rect">
            <a:avLst/>
          </a:prstGeom>
          <a:noFill/>
          <a:ln w="9525">
            <a:noFill/>
            <a:miter lim="800000"/>
            <a:headEnd/>
            <a:tailEnd/>
          </a:ln>
        </p:spPr>
        <p:txBody>
          <a:bodyPr wrap="none">
            <a:spAutoFit/>
          </a:bodyPr>
          <a:lstStyle/>
          <a:p>
            <a:r>
              <a:rPr lang="en-US" sz="4000"/>
              <a:t>list</a:t>
            </a:r>
          </a:p>
        </p:txBody>
      </p:sp>
      <p:sp>
        <p:nvSpPr>
          <p:cNvPr id="37896" name="Text Box 8"/>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1</a:t>
            </a:r>
            <a:r>
              <a:rPr lang="en-US" sz="2000" baseline="30000">
                <a:solidFill>
                  <a:schemeClr val="accent2"/>
                </a:solidFill>
              </a:rPr>
              <a:t>st</a:t>
            </a:r>
            <a:r>
              <a:rPr lang="en-US" sz="2000">
                <a:solidFill>
                  <a:schemeClr val="accent2"/>
                </a:solidFill>
              </a:rPr>
              <a:t> item.</a:t>
            </a:r>
            <a:endParaRPr lang="en-US" sz="2000"/>
          </a:p>
        </p:txBody>
      </p:sp>
      <p:sp>
        <p:nvSpPr>
          <p:cNvPr id="37897" name="Rectangle 9"/>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37898" name="Rectangle 10"/>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37899" name="Rectangle 11"/>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37900" name="Rectangle 12"/>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8915" name="Text Box 2"/>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38916" name="Text Box 3"/>
          <p:cNvSpPr txBox="1">
            <a:spLocks noChangeArrowheads="1"/>
          </p:cNvSpPr>
          <p:nvPr/>
        </p:nvSpPr>
        <p:spPr bwMode="auto">
          <a:xfrm>
            <a:off x="2057400" y="4114800"/>
            <a:ext cx="549275" cy="701675"/>
          </a:xfrm>
          <a:prstGeom prst="rect">
            <a:avLst/>
          </a:prstGeom>
          <a:noFill/>
          <a:ln w="9525">
            <a:noFill/>
            <a:miter lim="800000"/>
            <a:headEnd/>
            <a:tailEnd/>
          </a:ln>
        </p:spPr>
        <p:txBody>
          <a:bodyPr wrap="none">
            <a:spAutoFit/>
          </a:bodyPr>
          <a:lstStyle/>
          <a:p>
            <a:r>
              <a:rPr lang="en-US" sz="4000"/>
              <a:t>it</a:t>
            </a:r>
          </a:p>
        </p:txBody>
      </p:sp>
      <p:sp>
        <p:nvSpPr>
          <p:cNvPr id="38917" name="Line 4"/>
          <p:cNvSpPr>
            <a:spLocks noChangeShapeType="1"/>
          </p:cNvSpPr>
          <p:nvPr/>
        </p:nvSpPr>
        <p:spPr bwMode="auto">
          <a:xfrm flipV="1">
            <a:off x="22860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38918" name="Text Box 6"/>
          <p:cNvSpPr txBox="1">
            <a:spLocks noChangeArrowheads="1"/>
          </p:cNvSpPr>
          <p:nvPr/>
        </p:nvSpPr>
        <p:spPr bwMode="auto">
          <a:xfrm>
            <a:off x="1600200" y="4800600"/>
            <a:ext cx="6553200" cy="946150"/>
          </a:xfrm>
          <a:prstGeom prst="rect">
            <a:avLst/>
          </a:prstGeom>
          <a:noFill/>
          <a:ln w="9525">
            <a:noFill/>
            <a:miter lim="800000"/>
            <a:headEnd/>
            <a:tailEnd/>
          </a:ln>
        </p:spPr>
        <p:txBody>
          <a:bodyPr>
            <a:spAutoFit/>
          </a:bodyPr>
          <a:lstStyle/>
          <a:p>
            <a:pPr>
              <a:spcBef>
                <a:spcPct val="50000"/>
              </a:spcBef>
            </a:pPr>
            <a:r>
              <a:rPr lang="en-US"/>
              <a:t>it.remove();</a:t>
            </a:r>
            <a:br>
              <a:rPr lang="en-US"/>
            </a:br>
            <a:r>
              <a:rPr lang="en-US"/>
              <a:t>		</a:t>
            </a:r>
          </a:p>
        </p:txBody>
      </p:sp>
      <p:sp>
        <p:nvSpPr>
          <p:cNvPr id="38919" name="Text Box 7"/>
          <p:cNvSpPr txBox="1">
            <a:spLocks noChangeArrowheads="1"/>
          </p:cNvSpPr>
          <p:nvPr/>
        </p:nvSpPr>
        <p:spPr bwMode="auto">
          <a:xfrm>
            <a:off x="1752600" y="1447800"/>
            <a:ext cx="965200" cy="701675"/>
          </a:xfrm>
          <a:prstGeom prst="rect">
            <a:avLst/>
          </a:prstGeom>
          <a:noFill/>
          <a:ln w="9525">
            <a:noFill/>
            <a:miter lim="800000"/>
            <a:headEnd/>
            <a:tailEnd/>
          </a:ln>
        </p:spPr>
        <p:txBody>
          <a:bodyPr wrap="none">
            <a:spAutoFit/>
          </a:bodyPr>
          <a:lstStyle/>
          <a:p>
            <a:r>
              <a:rPr lang="en-US" sz="4000"/>
              <a:t>list</a:t>
            </a:r>
          </a:p>
        </p:txBody>
      </p:sp>
      <p:sp>
        <p:nvSpPr>
          <p:cNvPr id="38920" name="Text Box 8"/>
          <p:cNvSpPr txBox="1">
            <a:spLocks noChangeArrowheads="1"/>
          </p:cNvSpPr>
          <p:nvPr/>
        </p:nvSpPr>
        <p:spPr bwMode="auto">
          <a:xfrm>
            <a:off x="4800600" y="4800600"/>
            <a:ext cx="37338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remove always modifies the last reference returned by next.</a:t>
            </a:r>
            <a:endParaRPr lang="en-US" sz="2000"/>
          </a:p>
        </p:txBody>
      </p:sp>
      <p:sp>
        <p:nvSpPr>
          <p:cNvPr id="38921" name="Rectangle 9"/>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38922" name="Rectangle 10"/>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38923" name="Rectangle 11"/>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38924" name="Rectangle 12"/>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38925" name="Line 13"/>
          <p:cNvSpPr>
            <a:spLocks noChangeShapeType="1"/>
          </p:cNvSpPr>
          <p:nvPr/>
        </p:nvSpPr>
        <p:spPr bwMode="auto">
          <a:xfrm>
            <a:off x="1371600" y="2209800"/>
            <a:ext cx="1143000" cy="914400"/>
          </a:xfrm>
          <a:prstGeom prst="line">
            <a:avLst/>
          </a:prstGeom>
          <a:noFill/>
          <a:ln w="50800">
            <a:solidFill>
              <a:srgbClr val="FF0000"/>
            </a:solidFill>
            <a:round/>
            <a:headEnd/>
            <a:tailEnd/>
          </a:ln>
        </p:spPr>
        <p:txBody>
          <a:bodyPr/>
          <a:lstStyle/>
          <a:p>
            <a:endParaRPr lang="en-US"/>
          </a:p>
        </p:txBody>
      </p:sp>
      <p:sp>
        <p:nvSpPr>
          <p:cNvPr id="38926" name="Line 14"/>
          <p:cNvSpPr>
            <a:spLocks noChangeShapeType="1"/>
          </p:cNvSpPr>
          <p:nvPr/>
        </p:nvSpPr>
        <p:spPr bwMode="auto">
          <a:xfrm flipH="1">
            <a:off x="1371600" y="2209800"/>
            <a:ext cx="1143000" cy="914400"/>
          </a:xfrm>
          <a:prstGeom prst="line">
            <a:avLst/>
          </a:prstGeom>
          <a:noFill/>
          <a:ln w="50800">
            <a:solidFill>
              <a:srgbClr val="FF0000"/>
            </a:solidFill>
            <a:round/>
            <a:headEnd/>
            <a:tailEnd/>
          </a:ln>
        </p:spPr>
        <p:txBody>
          <a:bodyPr/>
          <a:lstStyle/>
          <a:p>
            <a:endParaRPr lang="en-US"/>
          </a:p>
        </p:txBody>
      </p:sp>
      <p:sp>
        <p:nvSpPr>
          <p:cNvPr id="16" name="Rectangle 1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9939" name="Text Box 3"/>
          <p:cNvSpPr txBox="1">
            <a:spLocks noChangeArrowheads="1"/>
          </p:cNvSpPr>
          <p:nvPr/>
        </p:nvSpPr>
        <p:spPr bwMode="auto">
          <a:xfrm>
            <a:off x="457200" y="1447800"/>
            <a:ext cx="7696200" cy="5216525"/>
          </a:xfrm>
          <a:prstGeom prst="rect">
            <a:avLst/>
          </a:prstGeom>
          <a:noFill/>
          <a:ln w="9525">
            <a:noFill/>
            <a:miter lim="800000"/>
            <a:headEnd/>
            <a:tailEnd/>
          </a:ln>
        </p:spPr>
        <p:txBody>
          <a:bodyPr>
            <a:spAutoFit/>
          </a:bodyPr>
          <a:lstStyle/>
          <a:p>
            <a:r>
              <a:rPr lang="en-US" dirty="0" err="1"/>
              <a:t>ArrayList</a:t>
            </a:r>
            <a:r>
              <a:rPr lang="en-US" dirty="0"/>
              <a:t>&lt;String&gt; words;</a:t>
            </a:r>
          </a:p>
          <a:p>
            <a:r>
              <a:rPr lang="en-US" dirty="0"/>
              <a:t>words = new </a:t>
            </a:r>
            <a:r>
              <a:rPr lang="en-US" dirty="0" err="1"/>
              <a:t>ArrayList</a:t>
            </a:r>
            <a:r>
              <a:rPr lang="en-US" dirty="0"/>
              <a:t>&lt;String&gt;();</a:t>
            </a:r>
          </a:p>
          <a:p>
            <a:endParaRPr lang="en-US" dirty="0"/>
          </a:p>
          <a:p>
            <a:r>
              <a:rPr lang="en-US" dirty="0" err="1"/>
              <a:t>words.add</a:t>
            </a:r>
            <a:r>
              <a:rPr lang="en-US" dirty="0"/>
              <a:t>("at");</a:t>
            </a:r>
          </a:p>
          <a:p>
            <a:r>
              <a:rPr lang="en-US" dirty="0" err="1"/>
              <a:t>words.add</a:t>
            </a:r>
            <a:r>
              <a:rPr lang="en-US" dirty="0"/>
              <a:t>("is");</a:t>
            </a:r>
          </a:p>
          <a:p>
            <a:r>
              <a:rPr lang="en-US" dirty="0" err="1"/>
              <a:t>words.add</a:t>
            </a:r>
            <a:r>
              <a:rPr lang="en-US" dirty="0"/>
              <a:t>("of");</a:t>
            </a:r>
          </a:p>
          <a:p>
            <a:endParaRPr lang="en-US" dirty="0"/>
          </a:p>
          <a:p>
            <a:r>
              <a:rPr lang="en-US" dirty="0" err="1"/>
              <a:t>Iterator</a:t>
            </a:r>
            <a:r>
              <a:rPr lang="en-US" dirty="0"/>
              <a:t>&lt;String&gt; it = </a:t>
            </a:r>
            <a:r>
              <a:rPr lang="en-US" dirty="0" err="1"/>
              <a:t>words.iterator</a:t>
            </a:r>
            <a:r>
              <a:rPr lang="en-US" dirty="0"/>
              <a:t>();</a:t>
            </a:r>
          </a:p>
          <a:p>
            <a:r>
              <a:rPr lang="en-US" dirty="0" err="1"/>
              <a:t>System.out.println</a:t>
            </a:r>
            <a:r>
              <a:rPr lang="en-US" dirty="0"/>
              <a:t>(</a:t>
            </a:r>
            <a:r>
              <a:rPr lang="en-US" dirty="0" err="1"/>
              <a:t>it.next</a:t>
            </a:r>
            <a:r>
              <a:rPr lang="en-US" dirty="0"/>
              <a:t>());</a:t>
            </a:r>
          </a:p>
          <a:p>
            <a:r>
              <a:rPr lang="en-US" dirty="0" err="1"/>
              <a:t>it.remove</a:t>
            </a:r>
            <a:r>
              <a:rPr lang="en-US" dirty="0"/>
              <a:t>();</a:t>
            </a:r>
          </a:p>
          <a:p>
            <a:r>
              <a:rPr lang="en-US" dirty="0" err="1"/>
              <a:t>it.remove</a:t>
            </a:r>
            <a:r>
              <a:rPr lang="en-US" dirty="0"/>
              <a:t>();</a:t>
            </a:r>
          </a:p>
          <a:p>
            <a:endParaRPr lang="en-US" dirty="0"/>
          </a:p>
        </p:txBody>
      </p:sp>
      <p:sp>
        <p:nvSpPr>
          <p:cNvPr id="39940" name="Text Box 4"/>
          <p:cNvSpPr txBox="1">
            <a:spLocks noChangeArrowheads="1"/>
          </p:cNvSpPr>
          <p:nvPr/>
        </p:nvSpPr>
        <p:spPr bwMode="auto">
          <a:xfrm>
            <a:off x="7010400" y="1447800"/>
            <a:ext cx="1905000" cy="1811338"/>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pPr>
              <a:spcBef>
                <a:spcPct val="50000"/>
              </a:spcBef>
            </a:pPr>
            <a:r>
              <a:rPr lang="en-US" sz="3200"/>
              <a:t>at</a:t>
            </a:r>
            <a:br>
              <a:rPr lang="en-US" sz="3200"/>
            </a:br>
            <a:r>
              <a:rPr lang="en-US" sz="3200"/>
              <a:t>error</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0963" name="Text Box 3"/>
          <p:cNvSpPr txBox="1">
            <a:spLocks noChangeArrowheads="1"/>
          </p:cNvSpPr>
          <p:nvPr/>
        </p:nvSpPr>
        <p:spPr bwMode="auto">
          <a:xfrm>
            <a:off x="762000" y="4114800"/>
            <a:ext cx="549275" cy="701675"/>
          </a:xfrm>
          <a:prstGeom prst="rect">
            <a:avLst/>
          </a:prstGeom>
          <a:noFill/>
          <a:ln w="9525">
            <a:noFill/>
            <a:miter lim="800000"/>
            <a:headEnd/>
            <a:tailEnd/>
          </a:ln>
        </p:spPr>
        <p:txBody>
          <a:bodyPr wrap="none">
            <a:spAutoFit/>
          </a:bodyPr>
          <a:lstStyle/>
          <a:p>
            <a:r>
              <a:rPr lang="en-US" sz="4000"/>
              <a:t>it</a:t>
            </a:r>
          </a:p>
        </p:txBody>
      </p:sp>
      <p:sp>
        <p:nvSpPr>
          <p:cNvPr id="40964" name="Line 4"/>
          <p:cNvSpPr>
            <a:spLocks noChangeShapeType="1"/>
          </p:cNvSpPr>
          <p:nvPr/>
        </p:nvSpPr>
        <p:spPr bwMode="auto">
          <a:xfrm flipV="1">
            <a:off x="9906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40965" name="Text Box 13"/>
          <p:cNvSpPr txBox="1">
            <a:spLocks noChangeArrowheads="1"/>
          </p:cNvSpPr>
          <p:nvPr/>
        </p:nvSpPr>
        <p:spPr bwMode="auto">
          <a:xfrm>
            <a:off x="1752600" y="1447800"/>
            <a:ext cx="965200" cy="701675"/>
          </a:xfrm>
          <a:prstGeom prst="rect">
            <a:avLst/>
          </a:prstGeom>
          <a:noFill/>
          <a:ln w="9525">
            <a:noFill/>
            <a:miter lim="800000"/>
            <a:headEnd/>
            <a:tailEnd/>
          </a:ln>
        </p:spPr>
        <p:txBody>
          <a:bodyPr wrap="none">
            <a:spAutoFit/>
          </a:bodyPr>
          <a:lstStyle/>
          <a:p>
            <a:r>
              <a:rPr lang="en-US" sz="4000"/>
              <a:t>list</a:t>
            </a:r>
          </a:p>
        </p:txBody>
      </p:sp>
      <p:sp>
        <p:nvSpPr>
          <p:cNvPr id="40967" name="Rectangle 20"/>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40968" name="Rectangle 21"/>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40969" name="Rectangle 22"/>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40970" name="Rectangle 23"/>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11" name="Rectangle 10"/>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1987" name="Text Box 2"/>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41988" name="Text Box 3"/>
          <p:cNvSpPr txBox="1">
            <a:spLocks noChangeArrowheads="1"/>
          </p:cNvSpPr>
          <p:nvPr/>
        </p:nvSpPr>
        <p:spPr bwMode="auto">
          <a:xfrm>
            <a:off x="2057400" y="4038600"/>
            <a:ext cx="549275" cy="701675"/>
          </a:xfrm>
          <a:prstGeom prst="rect">
            <a:avLst/>
          </a:prstGeom>
          <a:noFill/>
          <a:ln w="9525">
            <a:noFill/>
            <a:miter lim="800000"/>
            <a:headEnd/>
            <a:tailEnd/>
          </a:ln>
        </p:spPr>
        <p:txBody>
          <a:bodyPr wrap="none">
            <a:spAutoFit/>
          </a:bodyPr>
          <a:lstStyle/>
          <a:p>
            <a:r>
              <a:rPr lang="en-US" sz="4000"/>
              <a:t>it</a:t>
            </a:r>
          </a:p>
        </p:txBody>
      </p:sp>
      <p:sp>
        <p:nvSpPr>
          <p:cNvPr id="41989" name="Line 4"/>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41990" name="Text Box 10"/>
          <p:cNvSpPr txBox="1">
            <a:spLocks noChangeArrowheads="1"/>
          </p:cNvSpPr>
          <p:nvPr/>
        </p:nvSpPr>
        <p:spPr bwMode="auto">
          <a:xfrm>
            <a:off x="1600200" y="4876800"/>
            <a:ext cx="7086600" cy="823913"/>
          </a:xfrm>
          <a:prstGeom prst="rect">
            <a:avLst/>
          </a:prstGeom>
          <a:noFill/>
          <a:ln w="9525">
            <a:noFill/>
            <a:miter lim="800000"/>
            <a:headEnd/>
            <a:tailEnd/>
          </a:ln>
        </p:spPr>
        <p:txBody>
          <a:bodyPr>
            <a:spAutoFit/>
          </a:bodyPr>
          <a:lstStyle/>
          <a:p>
            <a:pPr>
              <a:spcBef>
                <a:spcPct val="50000"/>
              </a:spcBef>
            </a:pPr>
            <a:r>
              <a:rPr lang="en-US"/>
              <a:t>it.next();</a:t>
            </a:r>
            <a:br>
              <a:rPr lang="en-US"/>
            </a:br>
            <a:endParaRPr lang="en-US" sz="2000">
              <a:solidFill>
                <a:schemeClr val="accent2"/>
              </a:solidFill>
            </a:endParaRPr>
          </a:p>
        </p:txBody>
      </p:sp>
      <p:sp>
        <p:nvSpPr>
          <p:cNvPr id="41991" name="Text Box 11"/>
          <p:cNvSpPr txBox="1">
            <a:spLocks noChangeArrowheads="1"/>
          </p:cNvSpPr>
          <p:nvPr/>
        </p:nvSpPr>
        <p:spPr bwMode="auto">
          <a:xfrm>
            <a:off x="1752600" y="1447800"/>
            <a:ext cx="965200" cy="701675"/>
          </a:xfrm>
          <a:prstGeom prst="rect">
            <a:avLst/>
          </a:prstGeom>
          <a:noFill/>
          <a:ln w="9525">
            <a:noFill/>
            <a:miter lim="800000"/>
            <a:headEnd/>
            <a:tailEnd/>
          </a:ln>
        </p:spPr>
        <p:txBody>
          <a:bodyPr wrap="none">
            <a:spAutoFit/>
          </a:bodyPr>
          <a:lstStyle/>
          <a:p>
            <a:r>
              <a:rPr lang="en-US" sz="4000"/>
              <a:t>list</a:t>
            </a:r>
          </a:p>
        </p:txBody>
      </p:sp>
      <p:sp>
        <p:nvSpPr>
          <p:cNvPr id="41993" name="Text Box 16"/>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1</a:t>
            </a:r>
            <a:r>
              <a:rPr lang="en-US" sz="2000" baseline="30000">
                <a:solidFill>
                  <a:schemeClr val="accent2"/>
                </a:solidFill>
              </a:rPr>
              <a:t>st</a:t>
            </a:r>
            <a:r>
              <a:rPr lang="en-US" sz="2000">
                <a:solidFill>
                  <a:schemeClr val="accent2"/>
                </a:solidFill>
              </a:rPr>
              <a:t> item.</a:t>
            </a:r>
            <a:endParaRPr lang="en-US" sz="2000"/>
          </a:p>
        </p:txBody>
      </p:sp>
      <p:sp>
        <p:nvSpPr>
          <p:cNvPr id="41994" name="Rectangle 17"/>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41995" name="Rectangle 18"/>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41996" name="Rectangle 19"/>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41997" name="Rectangle 20"/>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3011" name="Text Box 3"/>
          <p:cNvSpPr txBox="1">
            <a:spLocks noChangeArrowheads="1"/>
          </p:cNvSpPr>
          <p:nvPr/>
        </p:nvSpPr>
        <p:spPr bwMode="auto">
          <a:xfrm>
            <a:off x="2057400" y="4038600"/>
            <a:ext cx="549275" cy="701675"/>
          </a:xfrm>
          <a:prstGeom prst="rect">
            <a:avLst/>
          </a:prstGeom>
          <a:noFill/>
          <a:ln w="9525">
            <a:noFill/>
            <a:miter lim="800000"/>
            <a:headEnd/>
            <a:tailEnd/>
          </a:ln>
        </p:spPr>
        <p:txBody>
          <a:bodyPr wrap="none">
            <a:spAutoFit/>
          </a:bodyPr>
          <a:lstStyle/>
          <a:p>
            <a:r>
              <a:rPr lang="en-US" sz="4000"/>
              <a:t>it</a:t>
            </a:r>
          </a:p>
        </p:txBody>
      </p:sp>
      <p:sp>
        <p:nvSpPr>
          <p:cNvPr id="43012" name="Line 4"/>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43013" name="Text Box 10"/>
          <p:cNvSpPr txBox="1">
            <a:spLocks noChangeArrowheads="1"/>
          </p:cNvSpPr>
          <p:nvPr/>
        </p:nvSpPr>
        <p:spPr bwMode="auto">
          <a:xfrm>
            <a:off x="1600200" y="4876800"/>
            <a:ext cx="6553200" cy="823913"/>
          </a:xfrm>
          <a:prstGeom prst="rect">
            <a:avLst/>
          </a:prstGeom>
          <a:noFill/>
          <a:ln w="9525">
            <a:noFill/>
            <a:miter lim="800000"/>
            <a:headEnd/>
            <a:tailEnd/>
          </a:ln>
        </p:spPr>
        <p:txBody>
          <a:bodyPr>
            <a:spAutoFit/>
          </a:bodyPr>
          <a:lstStyle/>
          <a:p>
            <a:pPr>
              <a:spcBef>
                <a:spcPct val="50000"/>
              </a:spcBef>
            </a:pPr>
            <a:r>
              <a:rPr lang="en-US"/>
              <a:t>it.remove();</a:t>
            </a:r>
            <a:br>
              <a:rPr lang="en-US"/>
            </a:br>
            <a:endParaRPr lang="en-US" sz="2000"/>
          </a:p>
        </p:txBody>
      </p:sp>
      <p:sp>
        <p:nvSpPr>
          <p:cNvPr id="43014" name="Text Box 11"/>
          <p:cNvSpPr txBox="1">
            <a:spLocks noChangeArrowheads="1"/>
          </p:cNvSpPr>
          <p:nvPr/>
        </p:nvSpPr>
        <p:spPr bwMode="auto">
          <a:xfrm>
            <a:off x="2743200" y="1447800"/>
            <a:ext cx="965200" cy="701675"/>
          </a:xfrm>
          <a:prstGeom prst="rect">
            <a:avLst/>
          </a:prstGeom>
          <a:noFill/>
          <a:ln w="9525">
            <a:noFill/>
            <a:miter lim="800000"/>
            <a:headEnd/>
            <a:tailEnd/>
          </a:ln>
        </p:spPr>
        <p:txBody>
          <a:bodyPr wrap="none">
            <a:spAutoFit/>
          </a:bodyPr>
          <a:lstStyle/>
          <a:p>
            <a:r>
              <a:rPr lang="en-US" sz="4000"/>
              <a:t>list</a:t>
            </a:r>
          </a:p>
        </p:txBody>
      </p:sp>
      <p:sp>
        <p:nvSpPr>
          <p:cNvPr id="43016" name="Text Box 16"/>
          <p:cNvSpPr txBox="1">
            <a:spLocks noChangeArrowheads="1"/>
          </p:cNvSpPr>
          <p:nvPr/>
        </p:nvSpPr>
        <p:spPr bwMode="auto">
          <a:xfrm>
            <a:off x="4800600" y="4800600"/>
            <a:ext cx="37338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remove always modifies the last reference returned by next.</a:t>
            </a:r>
            <a:endParaRPr lang="en-US" sz="2000"/>
          </a:p>
        </p:txBody>
      </p:sp>
      <p:sp>
        <p:nvSpPr>
          <p:cNvPr id="43017" name="Rectangle 18"/>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43018" name="Rectangle 19"/>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43019" name="Rectangle 20"/>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43020" name="Rectangle 21"/>
          <p:cNvSpPr>
            <a:spLocks noChangeArrowheads="1"/>
          </p:cNvSpPr>
          <p:nvPr/>
        </p:nvSpPr>
        <p:spPr bwMode="auto">
          <a:xfrm>
            <a:off x="13716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43021" name="Line 22"/>
          <p:cNvSpPr>
            <a:spLocks noChangeShapeType="1"/>
          </p:cNvSpPr>
          <p:nvPr/>
        </p:nvSpPr>
        <p:spPr bwMode="auto">
          <a:xfrm>
            <a:off x="1371600" y="2209800"/>
            <a:ext cx="1143000" cy="914400"/>
          </a:xfrm>
          <a:prstGeom prst="line">
            <a:avLst/>
          </a:prstGeom>
          <a:noFill/>
          <a:ln w="50800">
            <a:solidFill>
              <a:srgbClr val="FF0000"/>
            </a:solidFill>
            <a:round/>
            <a:headEnd/>
            <a:tailEnd/>
          </a:ln>
        </p:spPr>
        <p:txBody>
          <a:bodyPr/>
          <a:lstStyle/>
          <a:p>
            <a:endParaRPr lang="en-US"/>
          </a:p>
        </p:txBody>
      </p:sp>
      <p:sp>
        <p:nvSpPr>
          <p:cNvPr id="43022" name="Line 23"/>
          <p:cNvSpPr>
            <a:spLocks noChangeShapeType="1"/>
          </p:cNvSpPr>
          <p:nvPr/>
        </p:nvSpPr>
        <p:spPr bwMode="auto">
          <a:xfrm flipH="1">
            <a:off x="1371600" y="2209800"/>
            <a:ext cx="1143000" cy="914400"/>
          </a:xfrm>
          <a:prstGeom prst="line">
            <a:avLst/>
          </a:prstGeom>
          <a:noFill/>
          <a:ln w="50800">
            <a:solidFill>
              <a:srgbClr val="FF0000"/>
            </a:solidFill>
            <a:round/>
            <a:headEnd/>
            <a:tailEnd/>
          </a:ln>
        </p:spPr>
        <p:txBody>
          <a:bodyPr/>
          <a:lstStyle/>
          <a:p>
            <a:endParaRPr lang="en-US"/>
          </a:p>
        </p:txBody>
      </p:sp>
      <p:sp>
        <p:nvSpPr>
          <p:cNvPr id="15" name="Rectangle 1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4035" name="Text Box 2"/>
          <p:cNvSpPr txBox="1">
            <a:spLocks noChangeArrowheads="1"/>
          </p:cNvSpPr>
          <p:nvPr/>
        </p:nvSpPr>
        <p:spPr bwMode="auto">
          <a:xfrm>
            <a:off x="1371600" y="1905000"/>
            <a:ext cx="184150" cy="519113"/>
          </a:xfrm>
          <a:prstGeom prst="rect">
            <a:avLst/>
          </a:prstGeom>
          <a:noFill/>
          <a:ln w="9525">
            <a:noFill/>
            <a:miter lim="800000"/>
            <a:headEnd/>
            <a:tailEnd/>
          </a:ln>
        </p:spPr>
        <p:txBody>
          <a:bodyPr wrap="none">
            <a:spAutoFit/>
          </a:bodyPr>
          <a:lstStyle/>
          <a:p>
            <a:endParaRPr lang="en-US"/>
          </a:p>
        </p:txBody>
      </p:sp>
      <p:sp>
        <p:nvSpPr>
          <p:cNvPr id="44036" name="Text Box 3"/>
          <p:cNvSpPr txBox="1">
            <a:spLocks noChangeArrowheads="1"/>
          </p:cNvSpPr>
          <p:nvPr/>
        </p:nvSpPr>
        <p:spPr bwMode="auto">
          <a:xfrm>
            <a:off x="2057400" y="4038600"/>
            <a:ext cx="549275" cy="701675"/>
          </a:xfrm>
          <a:prstGeom prst="rect">
            <a:avLst/>
          </a:prstGeom>
          <a:noFill/>
          <a:ln w="9525">
            <a:noFill/>
            <a:miter lim="800000"/>
            <a:headEnd/>
            <a:tailEnd/>
          </a:ln>
        </p:spPr>
        <p:txBody>
          <a:bodyPr wrap="none">
            <a:spAutoFit/>
          </a:bodyPr>
          <a:lstStyle/>
          <a:p>
            <a:r>
              <a:rPr lang="en-US" sz="4000"/>
              <a:t>it</a:t>
            </a:r>
          </a:p>
        </p:txBody>
      </p:sp>
      <p:sp>
        <p:nvSpPr>
          <p:cNvPr id="44037" name="Line 4"/>
          <p:cNvSpPr>
            <a:spLocks noChangeShapeType="1"/>
          </p:cNvSpPr>
          <p:nvPr/>
        </p:nvSpPr>
        <p:spPr bwMode="auto">
          <a:xfrm flipV="1">
            <a:off x="2362200" y="3124200"/>
            <a:ext cx="304800" cy="990600"/>
          </a:xfrm>
          <a:prstGeom prst="line">
            <a:avLst/>
          </a:prstGeom>
          <a:noFill/>
          <a:ln w="50800">
            <a:solidFill>
              <a:schemeClr val="tx1"/>
            </a:solidFill>
            <a:round/>
            <a:headEnd/>
            <a:tailEnd type="triangle" w="med" len="med"/>
          </a:ln>
        </p:spPr>
        <p:txBody>
          <a:bodyPr/>
          <a:lstStyle/>
          <a:p>
            <a:endParaRPr lang="en-US"/>
          </a:p>
        </p:txBody>
      </p:sp>
      <p:sp>
        <p:nvSpPr>
          <p:cNvPr id="44038" name="Text Box 10"/>
          <p:cNvSpPr txBox="1">
            <a:spLocks noChangeArrowheads="1"/>
          </p:cNvSpPr>
          <p:nvPr/>
        </p:nvSpPr>
        <p:spPr bwMode="auto">
          <a:xfrm>
            <a:off x="1600200" y="4876800"/>
            <a:ext cx="7162800" cy="823913"/>
          </a:xfrm>
          <a:prstGeom prst="rect">
            <a:avLst/>
          </a:prstGeom>
          <a:noFill/>
          <a:ln w="9525">
            <a:noFill/>
            <a:miter lim="800000"/>
            <a:headEnd/>
            <a:tailEnd/>
          </a:ln>
        </p:spPr>
        <p:txBody>
          <a:bodyPr>
            <a:spAutoFit/>
          </a:bodyPr>
          <a:lstStyle/>
          <a:p>
            <a:pPr>
              <a:spcBef>
                <a:spcPct val="50000"/>
              </a:spcBef>
            </a:pPr>
            <a:r>
              <a:rPr lang="en-US"/>
              <a:t>it.remove();</a:t>
            </a:r>
            <a:br>
              <a:rPr lang="en-US"/>
            </a:br>
            <a:endParaRPr lang="en-US" sz="2000">
              <a:solidFill>
                <a:schemeClr val="accent2"/>
              </a:solidFill>
            </a:endParaRPr>
          </a:p>
        </p:txBody>
      </p:sp>
      <p:sp>
        <p:nvSpPr>
          <p:cNvPr id="44039" name="Text Box 11"/>
          <p:cNvSpPr txBox="1">
            <a:spLocks noChangeArrowheads="1"/>
          </p:cNvSpPr>
          <p:nvPr/>
        </p:nvSpPr>
        <p:spPr bwMode="auto">
          <a:xfrm>
            <a:off x="2743200" y="1447800"/>
            <a:ext cx="965200" cy="701675"/>
          </a:xfrm>
          <a:prstGeom prst="rect">
            <a:avLst/>
          </a:prstGeom>
          <a:noFill/>
          <a:ln w="9525">
            <a:noFill/>
            <a:miter lim="800000"/>
            <a:headEnd/>
            <a:tailEnd/>
          </a:ln>
        </p:spPr>
        <p:txBody>
          <a:bodyPr wrap="none">
            <a:spAutoFit/>
          </a:bodyPr>
          <a:lstStyle/>
          <a:p>
            <a:r>
              <a:rPr lang="en-US" sz="4000"/>
              <a:t>list</a:t>
            </a:r>
          </a:p>
        </p:txBody>
      </p:sp>
      <p:sp>
        <p:nvSpPr>
          <p:cNvPr id="44041" name="Text Box 14"/>
          <p:cNvSpPr txBox="1">
            <a:spLocks noChangeArrowheads="1"/>
          </p:cNvSpPr>
          <p:nvPr/>
        </p:nvSpPr>
        <p:spPr bwMode="auto">
          <a:xfrm>
            <a:off x="4800600" y="4800600"/>
            <a:ext cx="3657600" cy="13208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remove call blows up because there was no call to next; thus, there was no reference to modify.</a:t>
            </a:r>
          </a:p>
        </p:txBody>
      </p:sp>
      <p:sp>
        <p:nvSpPr>
          <p:cNvPr id="44042" name="Rectangle 16"/>
          <p:cNvSpPr>
            <a:spLocks noChangeArrowheads="1"/>
          </p:cNvSpPr>
          <p:nvPr/>
        </p:nvSpPr>
        <p:spPr bwMode="auto">
          <a:xfrm>
            <a:off x="27432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44043" name="Rectangle 17"/>
          <p:cNvSpPr>
            <a:spLocks noChangeArrowheads="1"/>
          </p:cNvSpPr>
          <p:nvPr/>
        </p:nvSpPr>
        <p:spPr bwMode="auto">
          <a:xfrm>
            <a:off x="41148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of</a:t>
            </a:r>
          </a:p>
        </p:txBody>
      </p:sp>
      <p:sp>
        <p:nvSpPr>
          <p:cNvPr id="44044" name="Rectangle 18"/>
          <p:cNvSpPr>
            <a:spLocks noChangeArrowheads="1"/>
          </p:cNvSpPr>
          <p:nvPr/>
        </p:nvSpPr>
        <p:spPr bwMode="auto">
          <a:xfrm>
            <a:off x="5486400" y="22098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44045" name="Line 20"/>
          <p:cNvSpPr>
            <a:spLocks noChangeShapeType="1"/>
          </p:cNvSpPr>
          <p:nvPr/>
        </p:nvSpPr>
        <p:spPr bwMode="auto">
          <a:xfrm>
            <a:off x="1371600" y="2209800"/>
            <a:ext cx="1143000" cy="914400"/>
          </a:xfrm>
          <a:prstGeom prst="line">
            <a:avLst/>
          </a:prstGeom>
          <a:noFill/>
          <a:ln w="50800">
            <a:solidFill>
              <a:srgbClr val="FF0000"/>
            </a:solidFill>
            <a:round/>
            <a:headEnd/>
            <a:tailEnd/>
          </a:ln>
        </p:spPr>
        <p:txBody>
          <a:bodyPr/>
          <a:lstStyle/>
          <a:p>
            <a:endParaRPr lang="en-US"/>
          </a:p>
        </p:txBody>
      </p:sp>
      <p:sp>
        <p:nvSpPr>
          <p:cNvPr id="44046" name="Line 21"/>
          <p:cNvSpPr>
            <a:spLocks noChangeShapeType="1"/>
          </p:cNvSpPr>
          <p:nvPr/>
        </p:nvSpPr>
        <p:spPr bwMode="auto">
          <a:xfrm flipH="1">
            <a:off x="1371600" y="2209800"/>
            <a:ext cx="1143000" cy="914400"/>
          </a:xfrm>
          <a:prstGeom prst="line">
            <a:avLst/>
          </a:prstGeom>
          <a:noFill/>
          <a:ln w="50800">
            <a:solidFill>
              <a:srgbClr val="FF0000"/>
            </a:solidFill>
            <a:round/>
            <a:headEnd/>
            <a:tailEnd/>
          </a:ln>
        </p:spPr>
        <p:txBody>
          <a:bodyPr/>
          <a:lstStyle/>
          <a:p>
            <a:endParaRPr lang="en-US"/>
          </a:p>
        </p:txBody>
      </p:sp>
      <p:sp>
        <p:nvSpPr>
          <p:cNvPr id="15" name="Rectangle 1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remove()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219200" y="1600200"/>
            <a:ext cx="6629400" cy="2308324"/>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err="1" smtClean="0">
                <a:ln w="11430">
                  <a:solidFill>
                    <a:srgbClr val="FFFF00"/>
                  </a:solidFill>
                </a:ln>
                <a:solidFill>
                  <a:srgbClr val="0066FF"/>
                </a:solidFill>
                <a:effectLst>
                  <a:outerShdw blurRad="50800" dist="39000" dir="5460000" algn="tl">
                    <a:srgbClr val="000000">
                      <a:alpha val="38000"/>
                    </a:srgbClr>
                  </a:outerShdw>
                </a:effectLst>
              </a:rPr>
              <a:t>ListIteratator</a:t>
            </a:r>
            <a:r>
              <a:rPr lang="en-US" sz="7200" dirty="0" smtClean="0">
                <a:ln w="11430">
                  <a:solidFill>
                    <a:srgbClr val="FFFF00"/>
                  </a:solidFill>
                </a:ln>
                <a:solidFill>
                  <a:srgbClr val="0066FF"/>
                </a:solidFill>
                <a:effectLst>
                  <a:outerShdw blurRad="50800" dist="39000" dir="5460000" algn="tl">
                    <a:srgbClr val="000000">
                      <a:alpha val="38000"/>
                    </a:srgbClr>
                  </a:outerShdw>
                </a:effectLst>
              </a:rPr>
              <a:t/>
            </a:r>
            <a:br>
              <a:rPr lang="en-US" sz="7200" dirty="0" smtClean="0">
                <a:ln w="11430">
                  <a:solidFill>
                    <a:srgbClr val="FFFF00"/>
                  </a:solidFill>
                </a:ln>
                <a:solidFill>
                  <a:srgbClr val="0066FF"/>
                </a:solidFill>
                <a:effectLst>
                  <a:outerShdw blurRad="50800" dist="39000" dir="5460000" algn="tl">
                    <a:srgbClr val="000000">
                      <a:alpha val="38000"/>
                    </a:srgbClr>
                  </a:outerShdw>
                </a:effectLst>
              </a:rPr>
            </a:br>
            <a:r>
              <a:rPr lang="en-US" sz="7200" dirty="0" smtClean="0">
                <a:ln w="11430">
                  <a:solidFill>
                    <a:srgbClr val="FFFF00"/>
                  </a:solidFill>
                </a:ln>
                <a:solidFill>
                  <a:srgbClr val="0066FF"/>
                </a:solidFill>
                <a:effectLst>
                  <a:outerShdw blurRad="50800" dist="39000" dir="5460000" algn="tl">
                    <a:srgbClr val="000000">
                      <a:alpha val="38000"/>
                    </a:srgbClr>
                  </a:outerShdw>
                </a:effectLst>
              </a:rPr>
              <a:t>Interface</a:t>
            </a:r>
          </a:p>
        </p:txBody>
      </p:sp>
      <p:sp>
        <p:nvSpPr>
          <p:cNvPr id="8" name="Footer Placeholder 2"/>
          <p:cNvSpPr>
            <a:spLocks noGrp="1"/>
          </p:cNvSpPr>
          <p:nvPr>
            <p:ph type="ftr" sz="quarter" idx="4294967295"/>
          </p:nvPr>
        </p:nvSpPr>
        <p:spPr>
          <a:xfrm>
            <a:off x="3124200" y="6248400"/>
            <a:ext cx="2895600" cy="457200"/>
          </a:xfrm>
          <a:prstGeom prst="rect">
            <a:avLst/>
          </a:prstGeo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graphicFrame>
        <p:nvGraphicFramePr>
          <p:cNvPr id="159779" name="Group 35"/>
          <p:cNvGraphicFramePr>
            <a:graphicFrameLocks noGrp="1"/>
          </p:cNvGraphicFramePr>
          <p:nvPr/>
        </p:nvGraphicFramePr>
        <p:xfrm>
          <a:off x="533400" y="228600"/>
          <a:ext cx="8077200" cy="5383531"/>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smtClean="0">
                          <a:ln>
                            <a:noFill/>
                          </a:ln>
                          <a:solidFill>
                            <a:srgbClr val="FF0000"/>
                          </a:solidFill>
                          <a:effectLst/>
                          <a:latin typeface="Tahoma" pitchFamily="34" charset="0"/>
                        </a:rPr>
                        <a:t>ListIterator</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returns a reference to the next item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remove()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removes the last ref returned by next or previous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hasNext()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checks to see there are more items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add()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adds in a new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8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set()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sets the last ref returned by next or previous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previous()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goes back and returns a ref to prev item</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7135" name="Text Box 36"/>
          <p:cNvSpPr txBox="1">
            <a:spLocks noChangeArrowheads="1"/>
          </p:cNvSpPr>
          <p:nvPr/>
        </p:nvSpPr>
        <p:spPr bwMode="auto">
          <a:xfrm>
            <a:off x="1600200" y="5715000"/>
            <a:ext cx="5562600" cy="531813"/>
          </a:xfrm>
          <a:prstGeom prst="rect">
            <a:avLst/>
          </a:prstGeom>
          <a:noFill/>
          <a:ln w="12700">
            <a:solidFill>
              <a:srgbClr val="0000FF"/>
            </a:solidFill>
            <a:miter lim="800000"/>
            <a:headEnd type="none" w="sm" len="sm"/>
            <a:tailEnd type="none" w="sm" len="sm"/>
          </a:ln>
        </p:spPr>
        <p:txBody>
          <a:bodyPr>
            <a:spAutoFit/>
          </a:bodyPr>
          <a:lstStyle/>
          <a:p>
            <a:pPr eaLnBrk="1" hangingPunct="1"/>
            <a:r>
              <a:rPr lang="en-US">
                <a:solidFill>
                  <a:schemeClr val="accent2"/>
                </a:solidFill>
              </a:rPr>
              <a:t>import  java.util.ListIterator;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8132" name="Text Box 3"/>
          <p:cNvSpPr txBox="1">
            <a:spLocks noChangeArrowheads="1"/>
          </p:cNvSpPr>
          <p:nvPr/>
        </p:nvSpPr>
        <p:spPr bwMode="auto">
          <a:xfrm>
            <a:off x="304800" y="1524000"/>
            <a:ext cx="8534400" cy="4789488"/>
          </a:xfrm>
          <a:prstGeom prst="rect">
            <a:avLst/>
          </a:prstGeom>
          <a:noFill/>
          <a:ln w="9525">
            <a:noFill/>
            <a:miter lim="800000"/>
            <a:headEnd/>
            <a:tailEnd/>
          </a:ln>
        </p:spPr>
        <p:txBody>
          <a:bodyPr>
            <a:spAutoFit/>
          </a:bodyPr>
          <a:lstStyle/>
          <a:p>
            <a:r>
              <a:rPr lang="en-US" dirty="0" err="1"/>
              <a:t>ArrayList</a:t>
            </a:r>
            <a:r>
              <a:rPr lang="en-US" dirty="0"/>
              <a:t>&lt;String&gt; words;</a:t>
            </a:r>
          </a:p>
          <a:p>
            <a:r>
              <a:rPr lang="en-US" dirty="0"/>
              <a:t>words = new </a:t>
            </a:r>
            <a:r>
              <a:rPr lang="en-US" dirty="0" err="1"/>
              <a:t>ArrayList</a:t>
            </a:r>
            <a:r>
              <a:rPr lang="en-US" dirty="0"/>
              <a:t>&lt;String&gt;();</a:t>
            </a:r>
          </a:p>
          <a:p>
            <a:endParaRPr lang="en-US" dirty="0"/>
          </a:p>
          <a:p>
            <a:r>
              <a:rPr lang="en-US" dirty="0" err="1"/>
              <a:t>words.add</a:t>
            </a:r>
            <a:r>
              <a:rPr lang="en-US" dirty="0"/>
              <a:t>("at");</a:t>
            </a:r>
          </a:p>
          <a:p>
            <a:r>
              <a:rPr lang="en-US" dirty="0" err="1"/>
              <a:t>words.add</a:t>
            </a:r>
            <a:r>
              <a:rPr lang="en-US" dirty="0"/>
              <a:t>("is");</a:t>
            </a:r>
          </a:p>
          <a:p>
            <a:r>
              <a:rPr lang="en-US" dirty="0" err="1"/>
              <a:t>words.add</a:t>
            </a:r>
            <a:r>
              <a:rPr lang="en-US" dirty="0"/>
              <a:t>("of");</a:t>
            </a:r>
          </a:p>
          <a:p>
            <a:r>
              <a:rPr lang="en-US" dirty="0" err="1"/>
              <a:t>words.add</a:t>
            </a:r>
            <a:r>
              <a:rPr lang="en-US" dirty="0"/>
              <a:t>("us");</a:t>
            </a:r>
          </a:p>
          <a:p>
            <a:endParaRPr lang="en-US" dirty="0"/>
          </a:p>
          <a:p>
            <a:r>
              <a:rPr lang="en-US" dirty="0" err="1"/>
              <a:t>ListIterator</a:t>
            </a:r>
            <a:r>
              <a:rPr lang="en-US" dirty="0"/>
              <a:t>&lt;String&gt; it = </a:t>
            </a:r>
            <a:r>
              <a:rPr lang="en-US" dirty="0" err="1"/>
              <a:t>words.listIterator</a:t>
            </a:r>
            <a:r>
              <a:rPr lang="en-US" dirty="0"/>
              <a:t>();</a:t>
            </a:r>
          </a:p>
          <a:p>
            <a:r>
              <a:rPr lang="en-US" dirty="0" err="1"/>
              <a:t>System.out.println</a:t>
            </a:r>
            <a:r>
              <a:rPr lang="en-US" dirty="0"/>
              <a:t>(</a:t>
            </a:r>
            <a:r>
              <a:rPr lang="en-US" dirty="0" err="1"/>
              <a:t>it.next</a:t>
            </a:r>
            <a:r>
              <a:rPr lang="en-US" dirty="0"/>
              <a:t>());</a:t>
            </a:r>
          </a:p>
          <a:p>
            <a:r>
              <a:rPr lang="en-US" dirty="0" err="1"/>
              <a:t>System.out.println</a:t>
            </a:r>
            <a:r>
              <a:rPr lang="en-US" dirty="0"/>
              <a:t>(</a:t>
            </a:r>
            <a:r>
              <a:rPr lang="en-US" dirty="0" err="1"/>
              <a:t>it.next</a:t>
            </a:r>
            <a:r>
              <a:rPr lang="en-US" dirty="0"/>
              <a:t>());</a:t>
            </a:r>
          </a:p>
        </p:txBody>
      </p:sp>
      <p:sp>
        <p:nvSpPr>
          <p:cNvPr id="48133" name="Text Box 4"/>
          <p:cNvSpPr txBox="1">
            <a:spLocks noChangeArrowheads="1"/>
          </p:cNvSpPr>
          <p:nvPr/>
        </p:nvSpPr>
        <p:spPr bwMode="auto">
          <a:xfrm>
            <a:off x="7010400" y="2362200"/>
            <a:ext cx="1905000" cy="1566863"/>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r>
              <a:rPr lang="en-US" sz="3200"/>
              <a:t>at</a:t>
            </a:r>
            <a:br>
              <a:rPr lang="en-US" sz="3200"/>
            </a:br>
            <a:r>
              <a:rPr lang="en-US" sz="3200"/>
              <a:t>is</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err="1"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ListIterator</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0180" name="Text Box 3"/>
          <p:cNvSpPr txBox="1">
            <a:spLocks noChangeArrowheads="1"/>
          </p:cNvSpPr>
          <p:nvPr/>
        </p:nvSpPr>
        <p:spPr bwMode="auto">
          <a:xfrm>
            <a:off x="533400" y="1447800"/>
            <a:ext cx="8458200" cy="4524315"/>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endParaRPr lang="en-US" sz="2400" dirty="0"/>
          </a:p>
          <a:p>
            <a:r>
              <a:rPr lang="en-US" sz="2400" dirty="0" err="1"/>
              <a:t>words.add</a:t>
            </a:r>
            <a:r>
              <a:rPr lang="en-US" sz="2400" dirty="0"/>
              <a:t>("at");</a:t>
            </a:r>
          </a:p>
          <a:p>
            <a:r>
              <a:rPr lang="en-US" sz="2400" dirty="0" err="1"/>
              <a:t>words.add</a:t>
            </a:r>
            <a:r>
              <a:rPr lang="en-US" sz="2400" dirty="0"/>
              <a:t>("is");</a:t>
            </a:r>
          </a:p>
          <a:p>
            <a:r>
              <a:rPr lang="en-US" sz="2400" dirty="0" err="1"/>
              <a:t>words.add</a:t>
            </a:r>
            <a:r>
              <a:rPr lang="en-US" sz="2400" dirty="0"/>
              <a:t>("of");</a:t>
            </a:r>
          </a:p>
          <a:p>
            <a:r>
              <a:rPr lang="en-US" sz="2400" dirty="0" err="1"/>
              <a:t>words.add</a:t>
            </a:r>
            <a:r>
              <a:rPr lang="en-US" sz="2400" dirty="0"/>
              <a:t>("us");</a:t>
            </a:r>
          </a:p>
          <a:p>
            <a:endParaRPr lang="en-US" sz="2400" dirty="0"/>
          </a:p>
          <a:p>
            <a:r>
              <a:rPr lang="en-US" sz="2400" dirty="0" err="1"/>
              <a:t>ListIterator</a:t>
            </a:r>
            <a:r>
              <a:rPr lang="en-US" sz="2400" dirty="0"/>
              <a:t>&lt;String&gt; it = </a:t>
            </a:r>
            <a:r>
              <a:rPr lang="en-US" sz="2400" dirty="0" err="1"/>
              <a:t>words.listIterator</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it.previous</a:t>
            </a:r>
            <a:r>
              <a:rPr lang="en-US" sz="2400" dirty="0"/>
              <a:t>());</a:t>
            </a:r>
          </a:p>
        </p:txBody>
      </p:sp>
      <p:sp>
        <p:nvSpPr>
          <p:cNvPr id="50181" name="Text Box 4"/>
          <p:cNvSpPr txBox="1">
            <a:spLocks noChangeArrowheads="1"/>
          </p:cNvSpPr>
          <p:nvPr/>
        </p:nvSpPr>
        <p:spPr bwMode="auto">
          <a:xfrm>
            <a:off x="7010400" y="1828800"/>
            <a:ext cx="1905000" cy="2054225"/>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r>
              <a:rPr lang="en-US" sz="3200"/>
              <a:t>at</a:t>
            </a:r>
            <a:br>
              <a:rPr lang="en-US" sz="3200"/>
            </a:br>
            <a:r>
              <a:rPr lang="en-US" sz="3200"/>
              <a:t>is</a:t>
            </a:r>
            <a:br>
              <a:rPr lang="en-US" sz="3200"/>
            </a:br>
            <a:r>
              <a:rPr lang="en-US" sz="3200"/>
              <a:t>is</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previous()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2228" name="Text Box 3"/>
          <p:cNvSpPr txBox="1">
            <a:spLocks noChangeArrowheads="1"/>
          </p:cNvSpPr>
          <p:nvPr/>
        </p:nvSpPr>
        <p:spPr bwMode="auto">
          <a:xfrm>
            <a:off x="685800" y="1295400"/>
            <a:ext cx="8458200" cy="5262979"/>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r>
              <a:rPr lang="en-US" sz="2400" dirty="0" err="1"/>
              <a:t>words.add</a:t>
            </a:r>
            <a:r>
              <a:rPr lang="en-US" sz="2400" dirty="0"/>
              <a:t>("at");</a:t>
            </a:r>
          </a:p>
          <a:p>
            <a:r>
              <a:rPr lang="en-US" sz="2400" dirty="0" err="1"/>
              <a:t>words.add</a:t>
            </a:r>
            <a:r>
              <a:rPr lang="en-US" sz="2400" dirty="0"/>
              <a:t>("up");</a:t>
            </a:r>
          </a:p>
          <a:p>
            <a:r>
              <a:rPr lang="en-US" sz="2400" dirty="0" err="1"/>
              <a:t>words.add</a:t>
            </a:r>
            <a:r>
              <a:rPr lang="en-US" sz="2400" dirty="0"/>
              <a:t>("or");</a:t>
            </a:r>
          </a:p>
          <a:p>
            <a:endParaRPr lang="en-US" sz="2400" dirty="0"/>
          </a:p>
          <a:p>
            <a:r>
              <a:rPr lang="en-US" sz="2400" dirty="0" err="1"/>
              <a:t>ListIterator</a:t>
            </a:r>
            <a:r>
              <a:rPr lang="en-US" sz="2400" dirty="0"/>
              <a:t>&lt;String&gt; it = </a:t>
            </a:r>
            <a:r>
              <a:rPr lang="en-US" sz="2400" dirty="0" err="1"/>
              <a:t>words.listIterator</a:t>
            </a:r>
            <a:r>
              <a:rPr lang="en-US" sz="2400" dirty="0"/>
              <a:t>();</a:t>
            </a:r>
          </a:p>
          <a:p>
            <a:r>
              <a:rPr lang="en-US" sz="2400" dirty="0" err="1"/>
              <a:t>it.next</a:t>
            </a:r>
            <a:r>
              <a:rPr lang="en-US" sz="2400" dirty="0"/>
              <a:t>();</a:t>
            </a:r>
          </a:p>
          <a:p>
            <a:r>
              <a:rPr lang="en-US" sz="2400" dirty="0" err="1"/>
              <a:t>it.next</a:t>
            </a:r>
            <a:r>
              <a:rPr lang="en-US" sz="2400" dirty="0"/>
              <a:t>();</a:t>
            </a:r>
          </a:p>
          <a:p>
            <a:r>
              <a:rPr lang="en-US" sz="2400" dirty="0" err="1"/>
              <a:t>it.next</a:t>
            </a:r>
            <a:r>
              <a:rPr lang="en-US" sz="2400" dirty="0"/>
              <a:t>();</a:t>
            </a:r>
          </a:p>
          <a:p>
            <a:r>
              <a:rPr lang="en-US" sz="2400" dirty="0" err="1"/>
              <a:t>System.out.println</a:t>
            </a:r>
            <a:r>
              <a:rPr lang="en-US" sz="2400" dirty="0"/>
              <a:t>(</a:t>
            </a:r>
            <a:r>
              <a:rPr lang="en-US" sz="2400" dirty="0" err="1"/>
              <a:t>it.previous</a:t>
            </a:r>
            <a:r>
              <a:rPr lang="en-US" sz="2400" dirty="0"/>
              <a:t>());</a:t>
            </a:r>
          </a:p>
          <a:p>
            <a:r>
              <a:rPr lang="en-US" sz="2400" dirty="0" err="1"/>
              <a:t>System.out.println</a:t>
            </a:r>
            <a:r>
              <a:rPr lang="en-US" sz="2400" dirty="0"/>
              <a:t>(</a:t>
            </a:r>
            <a:r>
              <a:rPr lang="en-US" sz="2400" dirty="0" err="1"/>
              <a:t>it.previous</a:t>
            </a:r>
            <a:r>
              <a:rPr lang="en-US" sz="2400" dirty="0"/>
              <a:t>());</a:t>
            </a:r>
          </a:p>
          <a:p>
            <a:r>
              <a:rPr lang="en-US" sz="2400" dirty="0" err="1"/>
              <a:t>it.set</a:t>
            </a:r>
            <a:r>
              <a:rPr lang="en-US" sz="2400" dirty="0"/>
              <a:t>("33");</a:t>
            </a:r>
          </a:p>
          <a:p>
            <a:r>
              <a:rPr lang="en-US" sz="2400" dirty="0" err="1"/>
              <a:t>System.out.println</a:t>
            </a:r>
            <a:r>
              <a:rPr lang="en-US" sz="2400" dirty="0"/>
              <a:t>(words);</a:t>
            </a:r>
          </a:p>
        </p:txBody>
      </p:sp>
      <p:sp>
        <p:nvSpPr>
          <p:cNvPr id="52229" name="Text Box 4"/>
          <p:cNvSpPr txBox="1">
            <a:spLocks noChangeArrowheads="1"/>
          </p:cNvSpPr>
          <p:nvPr/>
        </p:nvSpPr>
        <p:spPr bwMode="auto">
          <a:xfrm>
            <a:off x="6629400" y="1143000"/>
            <a:ext cx="2286000" cy="1873250"/>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br>
              <a:rPr lang="en-US" sz="3200" u="sng">
                <a:solidFill>
                  <a:srgbClr val="FF0000"/>
                </a:solidFill>
              </a:rPr>
            </a:br>
            <a:r>
              <a:rPr lang="en-US"/>
              <a:t>or</a:t>
            </a:r>
            <a:br>
              <a:rPr lang="en-US"/>
            </a:br>
            <a:r>
              <a:rPr lang="en-US"/>
              <a:t>up</a:t>
            </a:r>
            <a:br>
              <a:rPr lang="en-US"/>
            </a:br>
            <a:r>
              <a:rPr lang="en-US"/>
              <a:t>[at, 33, or]</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previous()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4276" name="Text Box 3"/>
          <p:cNvSpPr txBox="1">
            <a:spLocks noChangeArrowheads="1"/>
          </p:cNvSpPr>
          <p:nvPr/>
        </p:nvSpPr>
        <p:spPr bwMode="auto">
          <a:xfrm>
            <a:off x="457200" y="1524000"/>
            <a:ext cx="8686800" cy="4524315"/>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endParaRPr lang="en-US" sz="2400" dirty="0"/>
          </a:p>
          <a:p>
            <a:r>
              <a:rPr lang="en-US" sz="2400" dirty="0" err="1"/>
              <a:t>words.add</a:t>
            </a:r>
            <a:r>
              <a:rPr lang="en-US" sz="2400" dirty="0"/>
              <a:t>("at");</a:t>
            </a:r>
          </a:p>
          <a:p>
            <a:r>
              <a:rPr lang="en-US" sz="2400" dirty="0" err="1"/>
              <a:t>words.add</a:t>
            </a:r>
            <a:r>
              <a:rPr lang="en-US" sz="2400" dirty="0"/>
              <a:t>("is");</a:t>
            </a:r>
          </a:p>
          <a:p>
            <a:r>
              <a:rPr lang="en-US" sz="2400" dirty="0" err="1"/>
              <a:t>words.add</a:t>
            </a:r>
            <a:r>
              <a:rPr lang="en-US" sz="2400" dirty="0"/>
              <a:t>("us");</a:t>
            </a:r>
          </a:p>
          <a:p>
            <a:endParaRPr lang="en-US" sz="2400" dirty="0"/>
          </a:p>
          <a:p>
            <a:r>
              <a:rPr lang="en-US" sz="2400" dirty="0" err="1"/>
              <a:t>ListIterator</a:t>
            </a:r>
            <a:r>
              <a:rPr lang="en-US" sz="2400" dirty="0"/>
              <a:t>&lt;String&gt; it = </a:t>
            </a:r>
            <a:r>
              <a:rPr lang="en-US" sz="2400" dirty="0" err="1"/>
              <a:t>words.listIterator</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it.set</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(words);</a:t>
            </a:r>
          </a:p>
        </p:txBody>
      </p:sp>
      <p:sp>
        <p:nvSpPr>
          <p:cNvPr id="54277" name="Text Box 4"/>
          <p:cNvSpPr txBox="1">
            <a:spLocks noChangeArrowheads="1"/>
          </p:cNvSpPr>
          <p:nvPr/>
        </p:nvSpPr>
        <p:spPr bwMode="auto">
          <a:xfrm>
            <a:off x="6172200" y="2057400"/>
            <a:ext cx="2590800" cy="1873250"/>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r>
              <a:rPr lang="en-US"/>
              <a:t>at</a:t>
            </a:r>
          </a:p>
          <a:p>
            <a:r>
              <a:rPr lang="en-US"/>
              <a:t>is</a:t>
            </a:r>
          </a:p>
          <a:p>
            <a:r>
              <a:rPr lang="en-US"/>
              <a:t>[###, is, us]</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set()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5299"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55300" name="Text Box 3"/>
          <p:cNvSpPr txBox="1">
            <a:spLocks noChangeArrowheads="1"/>
          </p:cNvSpPr>
          <p:nvPr/>
        </p:nvSpPr>
        <p:spPr bwMode="auto">
          <a:xfrm>
            <a:off x="1295400" y="3733800"/>
            <a:ext cx="549275" cy="701675"/>
          </a:xfrm>
          <a:prstGeom prst="rect">
            <a:avLst/>
          </a:prstGeom>
          <a:noFill/>
          <a:ln w="9525">
            <a:noFill/>
            <a:miter lim="800000"/>
            <a:headEnd/>
            <a:tailEnd/>
          </a:ln>
        </p:spPr>
        <p:txBody>
          <a:bodyPr wrap="none">
            <a:spAutoFit/>
          </a:bodyPr>
          <a:lstStyle/>
          <a:p>
            <a:r>
              <a:rPr lang="en-US" sz="4000"/>
              <a:t>it</a:t>
            </a:r>
          </a:p>
        </p:txBody>
      </p:sp>
      <p:sp>
        <p:nvSpPr>
          <p:cNvPr id="55301" name="Line 4"/>
          <p:cNvSpPr>
            <a:spLocks noChangeShapeType="1"/>
          </p:cNvSpPr>
          <p:nvPr/>
        </p:nvSpPr>
        <p:spPr bwMode="auto">
          <a:xfrm flipV="1">
            <a:off x="1600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55302" name="Rectangle 5"/>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55303" name="Rectangle 6"/>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55304" name="Text Box 9"/>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55305" name="Rectangle 10"/>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11" name="Rectangle 10"/>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set()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6323"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56324" name="Rectangle 5"/>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56325" name="Rectangle 6"/>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56326" name="Text Box 7"/>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56327" name="Rectangle 8"/>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a:t>
            </a:r>
          </a:p>
        </p:txBody>
      </p:sp>
      <p:sp>
        <p:nvSpPr>
          <p:cNvPr id="56329" name="Text Box 10"/>
          <p:cNvSpPr txBox="1">
            <a:spLocks noChangeArrowheads="1"/>
          </p:cNvSpPr>
          <p:nvPr/>
        </p:nvSpPr>
        <p:spPr bwMode="auto">
          <a:xfrm>
            <a:off x="1600200" y="4876800"/>
            <a:ext cx="7239000" cy="823913"/>
          </a:xfrm>
          <a:prstGeom prst="rect">
            <a:avLst/>
          </a:prstGeom>
          <a:noFill/>
          <a:ln w="9525">
            <a:noFill/>
            <a:miter lim="800000"/>
            <a:headEnd/>
            <a:tailEnd/>
          </a:ln>
        </p:spPr>
        <p:txBody>
          <a:bodyPr>
            <a:spAutoFit/>
          </a:bodyPr>
          <a:lstStyle/>
          <a:p>
            <a:pPr>
              <a:spcBef>
                <a:spcPct val="50000"/>
              </a:spcBef>
            </a:pPr>
            <a:r>
              <a:rPr lang="en-US"/>
              <a:t>it.next();</a:t>
            </a:r>
            <a:br>
              <a:rPr lang="en-US"/>
            </a:br>
            <a:endParaRPr lang="en-US" sz="2000">
              <a:solidFill>
                <a:schemeClr val="accent2"/>
              </a:solidFill>
            </a:endParaRPr>
          </a:p>
        </p:txBody>
      </p:sp>
      <p:sp>
        <p:nvSpPr>
          <p:cNvPr id="56330" name="Text Box 13"/>
          <p:cNvSpPr txBox="1">
            <a:spLocks noChangeArrowheads="1"/>
          </p:cNvSpPr>
          <p:nvPr/>
        </p:nvSpPr>
        <p:spPr bwMode="auto">
          <a:xfrm>
            <a:off x="3200400" y="3733800"/>
            <a:ext cx="549275" cy="701675"/>
          </a:xfrm>
          <a:prstGeom prst="rect">
            <a:avLst/>
          </a:prstGeom>
          <a:noFill/>
          <a:ln w="9525">
            <a:noFill/>
            <a:miter lim="800000"/>
            <a:headEnd/>
            <a:tailEnd/>
          </a:ln>
        </p:spPr>
        <p:txBody>
          <a:bodyPr wrap="none">
            <a:spAutoFit/>
          </a:bodyPr>
          <a:lstStyle/>
          <a:p>
            <a:r>
              <a:rPr lang="en-US" sz="4000"/>
              <a:t>it</a:t>
            </a:r>
          </a:p>
        </p:txBody>
      </p:sp>
      <p:sp>
        <p:nvSpPr>
          <p:cNvPr id="56331" name="Line 14"/>
          <p:cNvSpPr>
            <a:spLocks noChangeShapeType="1"/>
          </p:cNvSpPr>
          <p:nvPr/>
        </p:nvSpPr>
        <p:spPr bwMode="auto">
          <a:xfrm flipV="1">
            <a:off x="3505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56332" name="Text Box 15"/>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1</a:t>
            </a:r>
            <a:r>
              <a:rPr lang="en-US" sz="2000" baseline="30000">
                <a:solidFill>
                  <a:schemeClr val="accent2"/>
                </a:solidFill>
              </a:rPr>
              <a:t>st</a:t>
            </a:r>
            <a:r>
              <a:rPr lang="en-US" sz="2000">
                <a:solidFill>
                  <a:schemeClr val="accent2"/>
                </a:solidFill>
              </a:rPr>
              <a:t> item.</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set()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7347"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57348" name="Rectangle 5"/>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57349" name="Rectangle 6"/>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57350" name="Text Box 7"/>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57351" name="Rectangle 8"/>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57353" name="Text Box 10"/>
          <p:cNvSpPr txBox="1">
            <a:spLocks noChangeArrowheads="1"/>
          </p:cNvSpPr>
          <p:nvPr/>
        </p:nvSpPr>
        <p:spPr bwMode="auto">
          <a:xfrm>
            <a:off x="1600200" y="4876800"/>
            <a:ext cx="6019800" cy="1235075"/>
          </a:xfrm>
          <a:prstGeom prst="rect">
            <a:avLst/>
          </a:prstGeom>
          <a:noFill/>
          <a:ln w="9525">
            <a:noFill/>
            <a:miter lim="800000"/>
            <a:headEnd/>
            <a:tailEnd/>
          </a:ln>
        </p:spPr>
        <p:txBody>
          <a:bodyPr>
            <a:spAutoFit/>
          </a:bodyPr>
          <a:lstStyle/>
          <a:p>
            <a:pPr>
              <a:lnSpc>
                <a:spcPct val="125000"/>
              </a:lnSpc>
            </a:pPr>
            <a:r>
              <a:rPr lang="en-US"/>
              <a:t>it.set("###");</a:t>
            </a:r>
          </a:p>
          <a:p>
            <a:r>
              <a:rPr lang="en-US" sz="2000">
                <a:solidFill>
                  <a:schemeClr val="accent2"/>
                </a:solidFill>
              </a:rPr>
              <a:t/>
            </a:r>
            <a:br>
              <a:rPr lang="en-US" sz="2000">
                <a:solidFill>
                  <a:schemeClr val="accent2"/>
                </a:solidFill>
              </a:rPr>
            </a:br>
            <a:endParaRPr lang="en-US" sz="2000">
              <a:solidFill>
                <a:schemeClr val="accent2"/>
              </a:solidFill>
            </a:endParaRPr>
          </a:p>
        </p:txBody>
      </p:sp>
      <p:sp>
        <p:nvSpPr>
          <p:cNvPr id="57354" name="Text Box 12"/>
          <p:cNvSpPr txBox="1">
            <a:spLocks noChangeArrowheads="1"/>
          </p:cNvSpPr>
          <p:nvPr/>
        </p:nvSpPr>
        <p:spPr bwMode="auto">
          <a:xfrm>
            <a:off x="4800600" y="4800600"/>
            <a:ext cx="32766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set always modifies the last reference returned by next or previous.</a:t>
            </a:r>
          </a:p>
        </p:txBody>
      </p:sp>
      <p:sp>
        <p:nvSpPr>
          <p:cNvPr id="57355" name="Text Box 13"/>
          <p:cNvSpPr txBox="1">
            <a:spLocks noChangeArrowheads="1"/>
          </p:cNvSpPr>
          <p:nvPr/>
        </p:nvSpPr>
        <p:spPr bwMode="auto">
          <a:xfrm>
            <a:off x="3200400" y="3733800"/>
            <a:ext cx="549275" cy="701675"/>
          </a:xfrm>
          <a:prstGeom prst="rect">
            <a:avLst/>
          </a:prstGeom>
          <a:noFill/>
          <a:ln w="9525">
            <a:noFill/>
            <a:miter lim="800000"/>
            <a:headEnd/>
            <a:tailEnd/>
          </a:ln>
        </p:spPr>
        <p:txBody>
          <a:bodyPr wrap="none">
            <a:spAutoFit/>
          </a:bodyPr>
          <a:lstStyle/>
          <a:p>
            <a:r>
              <a:rPr lang="en-US" sz="4000"/>
              <a:t>it</a:t>
            </a:r>
          </a:p>
        </p:txBody>
      </p:sp>
      <p:sp>
        <p:nvSpPr>
          <p:cNvPr id="57356" name="Line 14"/>
          <p:cNvSpPr>
            <a:spLocks noChangeShapeType="1"/>
          </p:cNvSpPr>
          <p:nvPr/>
        </p:nvSpPr>
        <p:spPr bwMode="auto">
          <a:xfrm flipV="1">
            <a:off x="3505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set()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8371"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58372" name="Rectangle 5"/>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58373" name="Rectangle 6"/>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58374" name="Text Box 7"/>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58375" name="Rectangle 8"/>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a:t>###</a:t>
            </a:r>
          </a:p>
        </p:txBody>
      </p:sp>
      <p:sp>
        <p:nvSpPr>
          <p:cNvPr id="58377" name="Text Box 10"/>
          <p:cNvSpPr txBox="1">
            <a:spLocks noChangeArrowheads="1"/>
          </p:cNvSpPr>
          <p:nvPr/>
        </p:nvSpPr>
        <p:spPr bwMode="auto">
          <a:xfrm>
            <a:off x="1447800" y="4953000"/>
            <a:ext cx="7315200" cy="823913"/>
          </a:xfrm>
          <a:prstGeom prst="rect">
            <a:avLst/>
          </a:prstGeom>
          <a:noFill/>
          <a:ln w="9525">
            <a:noFill/>
            <a:miter lim="800000"/>
            <a:headEnd/>
            <a:tailEnd/>
          </a:ln>
        </p:spPr>
        <p:txBody>
          <a:bodyPr>
            <a:spAutoFit/>
          </a:bodyPr>
          <a:lstStyle/>
          <a:p>
            <a:pPr>
              <a:spcBef>
                <a:spcPct val="50000"/>
              </a:spcBef>
            </a:pPr>
            <a:r>
              <a:rPr lang="en-US"/>
              <a:t>it.next();</a:t>
            </a:r>
            <a:br>
              <a:rPr lang="en-US"/>
            </a:br>
            <a:endParaRPr lang="en-US" sz="2000">
              <a:solidFill>
                <a:schemeClr val="accent2"/>
              </a:solidFill>
            </a:endParaRPr>
          </a:p>
        </p:txBody>
      </p:sp>
      <p:sp>
        <p:nvSpPr>
          <p:cNvPr id="58378" name="Text Box 13"/>
          <p:cNvSpPr txBox="1">
            <a:spLocks noChangeArrowheads="1"/>
          </p:cNvSpPr>
          <p:nvPr/>
        </p:nvSpPr>
        <p:spPr bwMode="auto">
          <a:xfrm>
            <a:off x="5105400" y="3733800"/>
            <a:ext cx="549275" cy="701675"/>
          </a:xfrm>
          <a:prstGeom prst="rect">
            <a:avLst/>
          </a:prstGeom>
          <a:noFill/>
          <a:ln w="9525">
            <a:noFill/>
            <a:miter lim="800000"/>
            <a:headEnd/>
            <a:tailEnd/>
          </a:ln>
        </p:spPr>
        <p:txBody>
          <a:bodyPr wrap="none">
            <a:spAutoFit/>
          </a:bodyPr>
          <a:lstStyle/>
          <a:p>
            <a:r>
              <a:rPr lang="en-US" sz="4000"/>
              <a:t>it</a:t>
            </a:r>
          </a:p>
        </p:txBody>
      </p:sp>
      <p:sp>
        <p:nvSpPr>
          <p:cNvPr id="58379" name="Line 14"/>
          <p:cNvSpPr>
            <a:spLocks noChangeShapeType="1"/>
          </p:cNvSpPr>
          <p:nvPr/>
        </p:nvSpPr>
        <p:spPr bwMode="auto">
          <a:xfrm flipV="1">
            <a:off x="5410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58380" name="Text Box 15"/>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2</a:t>
            </a:r>
            <a:r>
              <a:rPr lang="en-US" sz="2000" baseline="30000">
                <a:solidFill>
                  <a:schemeClr val="accent2"/>
                </a:solidFill>
              </a:rPr>
              <a:t>nd</a:t>
            </a:r>
            <a:r>
              <a:rPr lang="en-US" sz="2000">
                <a:solidFill>
                  <a:schemeClr val="accent2"/>
                </a:solidFill>
              </a:rPr>
              <a:t> item.</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set()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0420" name="Text Box 3"/>
          <p:cNvSpPr txBox="1">
            <a:spLocks noChangeArrowheads="1"/>
          </p:cNvSpPr>
          <p:nvPr/>
        </p:nvSpPr>
        <p:spPr bwMode="auto">
          <a:xfrm>
            <a:off x="457200" y="1295400"/>
            <a:ext cx="8686800" cy="5203825"/>
          </a:xfrm>
          <a:prstGeom prst="rect">
            <a:avLst/>
          </a:prstGeom>
          <a:noFill/>
          <a:ln w="9525">
            <a:noFill/>
            <a:miter lim="800000"/>
            <a:headEnd/>
            <a:tailEnd/>
          </a:ln>
        </p:spPr>
        <p:txBody>
          <a:bodyPr>
            <a:spAutoFit/>
          </a:bodyPr>
          <a:lstStyle/>
          <a:p>
            <a:r>
              <a:rPr lang="en-US" sz="2400" dirty="0" err="1"/>
              <a:t>ArrayList</a:t>
            </a:r>
            <a:r>
              <a:rPr lang="en-US" sz="2400" dirty="0"/>
              <a:t>&lt;String&gt; words;</a:t>
            </a:r>
          </a:p>
          <a:p>
            <a:r>
              <a:rPr lang="en-US" sz="2400" dirty="0"/>
              <a:t>words = new </a:t>
            </a:r>
            <a:r>
              <a:rPr lang="en-US" sz="2400" dirty="0" err="1"/>
              <a:t>ArrayList</a:t>
            </a:r>
            <a:r>
              <a:rPr lang="en-US" sz="2400" dirty="0"/>
              <a:t>&lt;String&gt;();</a:t>
            </a:r>
          </a:p>
          <a:p>
            <a:endParaRPr lang="en-US" sz="2400" dirty="0"/>
          </a:p>
          <a:p>
            <a:r>
              <a:rPr lang="en-US" sz="2400" dirty="0" err="1"/>
              <a:t>words.add</a:t>
            </a:r>
            <a:r>
              <a:rPr lang="en-US" sz="2400" dirty="0"/>
              <a:t>("is");</a:t>
            </a:r>
          </a:p>
          <a:p>
            <a:r>
              <a:rPr lang="en-US" sz="2400" dirty="0" err="1"/>
              <a:t>words.add</a:t>
            </a:r>
            <a:r>
              <a:rPr lang="en-US" sz="2400" dirty="0"/>
              <a:t>("us");</a:t>
            </a:r>
          </a:p>
          <a:p>
            <a:endParaRPr lang="en-US" sz="2400" dirty="0"/>
          </a:p>
          <a:p>
            <a:endParaRPr lang="en-US" sz="2400" dirty="0"/>
          </a:p>
          <a:p>
            <a:r>
              <a:rPr lang="en-US" sz="2400" dirty="0" err="1"/>
              <a:t>ListIterator</a:t>
            </a:r>
            <a:r>
              <a:rPr lang="en-US" sz="2400" dirty="0"/>
              <a:t>&lt;String&gt; it = </a:t>
            </a:r>
            <a:r>
              <a:rPr lang="en-US" sz="2400" dirty="0" err="1"/>
              <a:t>words.listIterator</a:t>
            </a:r>
            <a:r>
              <a:rPr lang="en-US" sz="2400" dirty="0"/>
              <a:t>();</a:t>
            </a:r>
          </a:p>
          <a:p>
            <a:r>
              <a:rPr lang="en-US" sz="2400" dirty="0" err="1"/>
              <a:t>it.add</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it.next</a:t>
            </a:r>
            <a:r>
              <a:rPr lang="en-US" sz="2400" dirty="0"/>
              <a:t>());</a:t>
            </a:r>
          </a:p>
          <a:p>
            <a:r>
              <a:rPr lang="en-US" sz="2400" dirty="0" err="1"/>
              <a:t>System.out.println</a:t>
            </a:r>
            <a:r>
              <a:rPr lang="en-US" sz="2400" dirty="0"/>
              <a:t>(</a:t>
            </a:r>
            <a:r>
              <a:rPr lang="en-US" sz="2400" dirty="0" err="1"/>
              <a:t>it.previous</a:t>
            </a:r>
            <a:r>
              <a:rPr lang="en-US" sz="2400" dirty="0"/>
              <a:t>());</a:t>
            </a:r>
          </a:p>
          <a:p>
            <a:r>
              <a:rPr lang="en-US" sz="2400" dirty="0" err="1"/>
              <a:t>it.set</a:t>
            </a:r>
            <a:r>
              <a:rPr lang="en-US" sz="2400" dirty="0"/>
              <a:t>("##");</a:t>
            </a:r>
          </a:p>
          <a:p>
            <a:r>
              <a:rPr lang="en-US" sz="2400" dirty="0" err="1"/>
              <a:t>System.out.println</a:t>
            </a:r>
            <a:r>
              <a:rPr lang="en-US" sz="2400" dirty="0"/>
              <a:t>(words);</a:t>
            </a:r>
          </a:p>
        </p:txBody>
      </p:sp>
      <p:sp>
        <p:nvSpPr>
          <p:cNvPr id="60421" name="Text Box 4"/>
          <p:cNvSpPr txBox="1">
            <a:spLocks noChangeArrowheads="1"/>
          </p:cNvSpPr>
          <p:nvPr/>
        </p:nvSpPr>
        <p:spPr bwMode="auto">
          <a:xfrm>
            <a:off x="6477000" y="1295400"/>
            <a:ext cx="2438400" cy="2300288"/>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r>
              <a:rPr lang="en-US"/>
              <a:t>is</a:t>
            </a:r>
          </a:p>
          <a:p>
            <a:r>
              <a:rPr lang="en-US"/>
              <a:t>us</a:t>
            </a:r>
          </a:p>
          <a:p>
            <a:r>
              <a:rPr lang="en-US"/>
              <a:t>us</a:t>
            </a:r>
          </a:p>
          <a:p>
            <a:r>
              <a:rPr lang="en-US"/>
              <a:t>[##, is, ##]</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1443"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1444" name="Text Box 3"/>
          <p:cNvSpPr txBox="1">
            <a:spLocks noChangeArrowheads="1"/>
          </p:cNvSpPr>
          <p:nvPr/>
        </p:nvSpPr>
        <p:spPr bwMode="auto">
          <a:xfrm>
            <a:off x="2743200" y="3733800"/>
            <a:ext cx="549275" cy="701675"/>
          </a:xfrm>
          <a:prstGeom prst="rect">
            <a:avLst/>
          </a:prstGeom>
          <a:noFill/>
          <a:ln w="9525">
            <a:noFill/>
            <a:miter lim="800000"/>
            <a:headEnd/>
            <a:tailEnd/>
          </a:ln>
        </p:spPr>
        <p:txBody>
          <a:bodyPr wrap="none">
            <a:spAutoFit/>
          </a:bodyPr>
          <a:lstStyle/>
          <a:p>
            <a:r>
              <a:rPr lang="en-US" sz="4000"/>
              <a:t>it</a:t>
            </a:r>
          </a:p>
        </p:txBody>
      </p:sp>
      <p:sp>
        <p:nvSpPr>
          <p:cNvPr id="61445" name="Line 4"/>
          <p:cNvSpPr>
            <a:spLocks noChangeShapeType="1"/>
          </p:cNvSpPr>
          <p:nvPr/>
        </p:nvSpPr>
        <p:spPr bwMode="auto">
          <a:xfrm flipV="1">
            <a:off x="30480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61446" name="Rectangle 5"/>
          <p:cNvSpPr>
            <a:spLocks noChangeArrowheads="1"/>
          </p:cNvSpPr>
          <p:nvPr/>
        </p:nvSpPr>
        <p:spPr bwMode="auto">
          <a:xfrm>
            <a:off x="3352800" y="23622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1447" name="Rectangle 6"/>
          <p:cNvSpPr>
            <a:spLocks noChangeArrowheads="1"/>
          </p:cNvSpPr>
          <p:nvPr/>
        </p:nvSpPr>
        <p:spPr bwMode="auto">
          <a:xfrm>
            <a:off x="5257800" y="23622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61448" name="Text Box 7"/>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10" name="Rectangle 9"/>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2467"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2468" name="Rectangle 3"/>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2469" name="Rectangle 4"/>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62470" name="Text Box 5"/>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62471" name="Rectangle 6"/>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2472" name="Text Box 9"/>
          <p:cNvSpPr txBox="1">
            <a:spLocks noChangeArrowheads="1"/>
          </p:cNvSpPr>
          <p:nvPr/>
        </p:nvSpPr>
        <p:spPr bwMode="auto">
          <a:xfrm>
            <a:off x="3200400" y="3733800"/>
            <a:ext cx="549275" cy="701675"/>
          </a:xfrm>
          <a:prstGeom prst="rect">
            <a:avLst/>
          </a:prstGeom>
          <a:noFill/>
          <a:ln w="9525">
            <a:noFill/>
            <a:miter lim="800000"/>
            <a:headEnd/>
            <a:tailEnd/>
          </a:ln>
        </p:spPr>
        <p:txBody>
          <a:bodyPr wrap="none">
            <a:spAutoFit/>
          </a:bodyPr>
          <a:lstStyle/>
          <a:p>
            <a:r>
              <a:rPr lang="en-US" sz="4000"/>
              <a:t>it</a:t>
            </a:r>
          </a:p>
        </p:txBody>
      </p:sp>
      <p:sp>
        <p:nvSpPr>
          <p:cNvPr id="62473" name="Line 10"/>
          <p:cNvSpPr>
            <a:spLocks noChangeShapeType="1"/>
          </p:cNvSpPr>
          <p:nvPr/>
        </p:nvSpPr>
        <p:spPr bwMode="auto">
          <a:xfrm flipV="1">
            <a:off x="3505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62475" name="Text Box 13"/>
          <p:cNvSpPr txBox="1">
            <a:spLocks noChangeArrowheads="1"/>
          </p:cNvSpPr>
          <p:nvPr/>
        </p:nvSpPr>
        <p:spPr bwMode="auto">
          <a:xfrm>
            <a:off x="1600200" y="4876800"/>
            <a:ext cx="7239000" cy="946150"/>
          </a:xfrm>
          <a:prstGeom prst="rect">
            <a:avLst/>
          </a:prstGeom>
          <a:noFill/>
          <a:ln w="9525">
            <a:noFill/>
            <a:miter lim="800000"/>
            <a:headEnd/>
            <a:tailEnd/>
          </a:ln>
        </p:spPr>
        <p:txBody>
          <a:bodyPr>
            <a:spAutoFit/>
          </a:bodyPr>
          <a:lstStyle/>
          <a:p>
            <a:pPr>
              <a:spcBef>
                <a:spcPct val="50000"/>
              </a:spcBef>
            </a:pPr>
            <a:r>
              <a:rPr lang="en-US"/>
              <a:t>it.add("##");</a:t>
            </a:r>
            <a:br>
              <a:rPr lang="en-US"/>
            </a:br>
            <a:endParaRPr lang="en-US"/>
          </a:p>
        </p:txBody>
      </p:sp>
      <p:sp>
        <p:nvSpPr>
          <p:cNvPr id="62476" name="Text Box 14"/>
          <p:cNvSpPr txBox="1">
            <a:spLocks noChangeArrowheads="1"/>
          </p:cNvSpPr>
          <p:nvPr/>
        </p:nvSpPr>
        <p:spPr bwMode="auto">
          <a:xfrm>
            <a:off x="4800600" y="4800600"/>
            <a:ext cx="37338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add always adds the new item in front of the current spot.</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3491"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3492" name="Rectangle 3"/>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3493" name="Rectangle 4"/>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63494" name="Text Box 5"/>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63495" name="Rectangle 6"/>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3496" name="Text Box 7"/>
          <p:cNvSpPr txBox="1">
            <a:spLocks noChangeArrowheads="1"/>
          </p:cNvSpPr>
          <p:nvPr/>
        </p:nvSpPr>
        <p:spPr bwMode="auto">
          <a:xfrm>
            <a:off x="5029200" y="3733800"/>
            <a:ext cx="549275" cy="701675"/>
          </a:xfrm>
          <a:prstGeom prst="rect">
            <a:avLst/>
          </a:prstGeom>
          <a:noFill/>
          <a:ln w="9525">
            <a:noFill/>
            <a:miter lim="800000"/>
            <a:headEnd/>
            <a:tailEnd/>
          </a:ln>
        </p:spPr>
        <p:txBody>
          <a:bodyPr wrap="none">
            <a:spAutoFit/>
          </a:bodyPr>
          <a:lstStyle/>
          <a:p>
            <a:r>
              <a:rPr lang="en-US" sz="4000"/>
              <a:t>it</a:t>
            </a:r>
          </a:p>
        </p:txBody>
      </p:sp>
      <p:sp>
        <p:nvSpPr>
          <p:cNvPr id="63497" name="Line 8"/>
          <p:cNvSpPr>
            <a:spLocks noChangeShapeType="1"/>
          </p:cNvSpPr>
          <p:nvPr/>
        </p:nvSpPr>
        <p:spPr bwMode="auto">
          <a:xfrm flipV="1">
            <a:off x="53340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63499" name="Text Box 10"/>
          <p:cNvSpPr txBox="1">
            <a:spLocks noChangeArrowheads="1"/>
          </p:cNvSpPr>
          <p:nvPr/>
        </p:nvSpPr>
        <p:spPr bwMode="auto">
          <a:xfrm>
            <a:off x="1600200" y="4876800"/>
            <a:ext cx="7239000" cy="946150"/>
          </a:xfrm>
          <a:prstGeom prst="rect">
            <a:avLst/>
          </a:prstGeom>
          <a:noFill/>
          <a:ln w="9525">
            <a:noFill/>
            <a:miter lim="800000"/>
            <a:headEnd/>
            <a:tailEnd/>
          </a:ln>
        </p:spPr>
        <p:txBody>
          <a:bodyPr>
            <a:spAutoFit/>
          </a:bodyPr>
          <a:lstStyle/>
          <a:p>
            <a:pPr>
              <a:spcBef>
                <a:spcPct val="50000"/>
              </a:spcBef>
            </a:pPr>
            <a:r>
              <a:rPr lang="en-US"/>
              <a:t>it.next();</a:t>
            </a:r>
            <a:br>
              <a:rPr lang="en-US"/>
            </a:br>
            <a:endParaRPr lang="en-US"/>
          </a:p>
        </p:txBody>
      </p:sp>
      <p:sp>
        <p:nvSpPr>
          <p:cNvPr id="63500" name="Text Box 12"/>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2</a:t>
            </a:r>
            <a:r>
              <a:rPr lang="en-US" sz="2000" baseline="30000">
                <a:solidFill>
                  <a:schemeClr val="accent2"/>
                </a:solidFill>
              </a:rPr>
              <a:t>nd</a:t>
            </a:r>
            <a:r>
              <a:rPr lang="en-US" sz="2000">
                <a:solidFill>
                  <a:schemeClr val="accent2"/>
                </a:solidFill>
              </a:rPr>
              <a:t> item.</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4515"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4516" name="Rectangle 3"/>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4517" name="Rectangle 4"/>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64518" name="Text Box 5"/>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64519" name="Rectangle 6"/>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4520" name="Text Box 7"/>
          <p:cNvSpPr txBox="1">
            <a:spLocks noChangeArrowheads="1"/>
          </p:cNvSpPr>
          <p:nvPr/>
        </p:nvSpPr>
        <p:spPr bwMode="auto">
          <a:xfrm>
            <a:off x="6553200" y="3810000"/>
            <a:ext cx="549275" cy="701675"/>
          </a:xfrm>
          <a:prstGeom prst="rect">
            <a:avLst/>
          </a:prstGeom>
          <a:noFill/>
          <a:ln w="9525">
            <a:noFill/>
            <a:miter lim="800000"/>
            <a:headEnd/>
            <a:tailEnd/>
          </a:ln>
        </p:spPr>
        <p:txBody>
          <a:bodyPr wrap="none">
            <a:spAutoFit/>
          </a:bodyPr>
          <a:lstStyle/>
          <a:p>
            <a:r>
              <a:rPr lang="en-US" sz="4000"/>
              <a:t>it</a:t>
            </a:r>
          </a:p>
        </p:txBody>
      </p:sp>
      <p:sp>
        <p:nvSpPr>
          <p:cNvPr id="64521" name="Line 8"/>
          <p:cNvSpPr>
            <a:spLocks noChangeShapeType="1"/>
          </p:cNvSpPr>
          <p:nvPr/>
        </p:nvSpPr>
        <p:spPr bwMode="auto">
          <a:xfrm flipV="1">
            <a:off x="6858000" y="3200400"/>
            <a:ext cx="228600" cy="685800"/>
          </a:xfrm>
          <a:prstGeom prst="line">
            <a:avLst/>
          </a:prstGeom>
          <a:noFill/>
          <a:ln w="50800">
            <a:solidFill>
              <a:schemeClr val="tx1"/>
            </a:solidFill>
            <a:round/>
            <a:headEnd/>
            <a:tailEnd type="triangle" w="med" len="med"/>
          </a:ln>
        </p:spPr>
        <p:txBody>
          <a:bodyPr/>
          <a:lstStyle/>
          <a:p>
            <a:endParaRPr lang="en-US"/>
          </a:p>
        </p:txBody>
      </p:sp>
      <p:sp>
        <p:nvSpPr>
          <p:cNvPr id="64523" name="Text Box 10"/>
          <p:cNvSpPr txBox="1">
            <a:spLocks noChangeArrowheads="1"/>
          </p:cNvSpPr>
          <p:nvPr/>
        </p:nvSpPr>
        <p:spPr bwMode="auto">
          <a:xfrm>
            <a:off x="1600200" y="4876800"/>
            <a:ext cx="7239000" cy="946150"/>
          </a:xfrm>
          <a:prstGeom prst="rect">
            <a:avLst/>
          </a:prstGeom>
          <a:noFill/>
          <a:ln w="9525">
            <a:noFill/>
            <a:miter lim="800000"/>
            <a:headEnd/>
            <a:tailEnd/>
          </a:ln>
        </p:spPr>
        <p:txBody>
          <a:bodyPr>
            <a:spAutoFit/>
          </a:bodyPr>
          <a:lstStyle/>
          <a:p>
            <a:pPr>
              <a:spcBef>
                <a:spcPct val="50000"/>
              </a:spcBef>
            </a:pPr>
            <a:r>
              <a:rPr lang="en-US"/>
              <a:t>it.next();</a:t>
            </a:r>
            <a:br>
              <a:rPr lang="en-US"/>
            </a:br>
            <a:endParaRPr lang="en-US"/>
          </a:p>
        </p:txBody>
      </p:sp>
      <p:sp>
        <p:nvSpPr>
          <p:cNvPr id="64524" name="Text Box 11"/>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next moves the iterator up one spot and returns a  reference to the 3</a:t>
            </a:r>
            <a:r>
              <a:rPr lang="en-US" sz="2000" baseline="30000">
                <a:solidFill>
                  <a:schemeClr val="accent2"/>
                </a:solidFill>
              </a:rPr>
              <a:t>rd</a:t>
            </a:r>
            <a:r>
              <a:rPr lang="en-US" sz="2000">
                <a:solidFill>
                  <a:schemeClr val="accent2"/>
                </a:solidFill>
              </a:rPr>
              <a:t> item.</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5539"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5540" name="Rectangle 3"/>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5541" name="Rectangle 4"/>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us</a:t>
            </a:r>
          </a:p>
        </p:txBody>
      </p:sp>
      <p:sp>
        <p:nvSpPr>
          <p:cNvPr id="65542" name="Text Box 5"/>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65543" name="Rectangle 6"/>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5544" name="Text Box 7"/>
          <p:cNvSpPr txBox="1">
            <a:spLocks noChangeArrowheads="1"/>
          </p:cNvSpPr>
          <p:nvPr/>
        </p:nvSpPr>
        <p:spPr bwMode="auto">
          <a:xfrm>
            <a:off x="5105400" y="3733800"/>
            <a:ext cx="549275" cy="701675"/>
          </a:xfrm>
          <a:prstGeom prst="rect">
            <a:avLst/>
          </a:prstGeom>
          <a:noFill/>
          <a:ln w="9525">
            <a:noFill/>
            <a:miter lim="800000"/>
            <a:headEnd/>
            <a:tailEnd/>
          </a:ln>
        </p:spPr>
        <p:txBody>
          <a:bodyPr wrap="none">
            <a:spAutoFit/>
          </a:bodyPr>
          <a:lstStyle/>
          <a:p>
            <a:r>
              <a:rPr lang="en-US" sz="4000"/>
              <a:t>it</a:t>
            </a:r>
          </a:p>
        </p:txBody>
      </p:sp>
      <p:sp>
        <p:nvSpPr>
          <p:cNvPr id="65545" name="Line 8"/>
          <p:cNvSpPr>
            <a:spLocks noChangeShapeType="1"/>
          </p:cNvSpPr>
          <p:nvPr/>
        </p:nvSpPr>
        <p:spPr bwMode="auto">
          <a:xfrm flipV="1">
            <a:off x="5410200" y="3124200"/>
            <a:ext cx="228600" cy="685800"/>
          </a:xfrm>
          <a:prstGeom prst="line">
            <a:avLst/>
          </a:prstGeom>
          <a:noFill/>
          <a:ln w="50800">
            <a:solidFill>
              <a:schemeClr val="tx1"/>
            </a:solidFill>
            <a:round/>
            <a:headEnd/>
            <a:tailEnd type="triangle" w="med" len="med"/>
          </a:ln>
        </p:spPr>
        <p:txBody>
          <a:bodyPr/>
          <a:lstStyle/>
          <a:p>
            <a:endParaRPr lang="en-US"/>
          </a:p>
        </p:txBody>
      </p:sp>
      <p:sp>
        <p:nvSpPr>
          <p:cNvPr id="65547" name="Text Box 10"/>
          <p:cNvSpPr txBox="1">
            <a:spLocks noChangeArrowheads="1"/>
          </p:cNvSpPr>
          <p:nvPr/>
        </p:nvSpPr>
        <p:spPr bwMode="auto">
          <a:xfrm>
            <a:off x="1600200" y="4876800"/>
            <a:ext cx="7239000" cy="946150"/>
          </a:xfrm>
          <a:prstGeom prst="rect">
            <a:avLst/>
          </a:prstGeom>
          <a:noFill/>
          <a:ln w="9525">
            <a:noFill/>
            <a:miter lim="800000"/>
            <a:headEnd/>
            <a:tailEnd/>
          </a:ln>
        </p:spPr>
        <p:txBody>
          <a:bodyPr>
            <a:spAutoFit/>
          </a:bodyPr>
          <a:lstStyle/>
          <a:p>
            <a:pPr>
              <a:spcBef>
                <a:spcPct val="50000"/>
              </a:spcBef>
            </a:pPr>
            <a:r>
              <a:rPr lang="en-US"/>
              <a:t>it.previous();</a:t>
            </a:r>
            <a:br>
              <a:rPr lang="en-US"/>
            </a:br>
            <a:endParaRPr lang="en-US"/>
          </a:p>
        </p:txBody>
      </p:sp>
      <p:sp>
        <p:nvSpPr>
          <p:cNvPr id="65548" name="Text Box 11"/>
          <p:cNvSpPr txBox="1">
            <a:spLocks noChangeArrowheads="1"/>
          </p:cNvSpPr>
          <p:nvPr/>
        </p:nvSpPr>
        <p:spPr bwMode="auto">
          <a:xfrm>
            <a:off x="4800600" y="4800600"/>
            <a:ext cx="36576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previous backs the iterator up one spot and returns a  reference to the 3</a:t>
            </a:r>
            <a:r>
              <a:rPr lang="en-US" sz="2000" baseline="30000">
                <a:solidFill>
                  <a:schemeClr val="accent2"/>
                </a:solidFill>
              </a:rPr>
              <a:t>rd</a:t>
            </a:r>
            <a:r>
              <a:rPr lang="en-US" sz="2000">
                <a:solidFill>
                  <a:schemeClr val="accent2"/>
                </a:solidFill>
              </a:rPr>
              <a:t> item.</a:t>
            </a:r>
            <a:endParaRPr lang="en-US" sz="200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6563" name="Text Box 2"/>
          <p:cNvSpPr txBox="1">
            <a:spLocks noChangeArrowheads="1"/>
          </p:cNvSpPr>
          <p:nvPr/>
        </p:nvSpPr>
        <p:spPr bwMode="auto">
          <a:xfrm>
            <a:off x="1905000" y="1981200"/>
            <a:ext cx="184150" cy="519113"/>
          </a:xfrm>
          <a:prstGeom prst="rect">
            <a:avLst/>
          </a:prstGeom>
          <a:noFill/>
          <a:ln w="9525">
            <a:noFill/>
            <a:miter lim="800000"/>
            <a:headEnd/>
            <a:tailEnd/>
          </a:ln>
        </p:spPr>
        <p:txBody>
          <a:bodyPr wrap="none">
            <a:spAutoFit/>
          </a:bodyPr>
          <a:lstStyle/>
          <a:p>
            <a:endParaRPr lang="en-US"/>
          </a:p>
        </p:txBody>
      </p:sp>
      <p:sp>
        <p:nvSpPr>
          <p:cNvPr id="66564" name="Rectangle 3"/>
          <p:cNvSpPr>
            <a:spLocks noChangeArrowheads="1"/>
          </p:cNvSpPr>
          <p:nvPr/>
        </p:nvSpPr>
        <p:spPr bwMode="auto">
          <a:xfrm>
            <a:off x="3810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is</a:t>
            </a:r>
          </a:p>
        </p:txBody>
      </p:sp>
      <p:sp>
        <p:nvSpPr>
          <p:cNvPr id="66565" name="Rectangle 4"/>
          <p:cNvSpPr>
            <a:spLocks noChangeArrowheads="1"/>
          </p:cNvSpPr>
          <p:nvPr/>
        </p:nvSpPr>
        <p:spPr bwMode="auto">
          <a:xfrm>
            <a:off x="571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6566" name="Text Box 5"/>
          <p:cNvSpPr txBox="1">
            <a:spLocks noChangeArrowheads="1"/>
          </p:cNvSpPr>
          <p:nvPr/>
        </p:nvSpPr>
        <p:spPr bwMode="auto">
          <a:xfrm>
            <a:off x="2286000" y="1524000"/>
            <a:ext cx="965200" cy="701675"/>
          </a:xfrm>
          <a:prstGeom prst="rect">
            <a:avLst/>
          </a:prstGeom>
          <a:noFill/>
          <a:ln w="9525">
            <a:noFill/>
            <a:miter lim="800000"/>
            <a:headEnd/>
            <a:tailEnd/>
          </a:ln>
        </p:spPr>
        <p:txBody>
          <a:bodyPr wrap="none">
            <a:spAutoFit/>
          </a:bodyPr>
          <a:lstStyle/>
          <a:p>
            <a:r>
              <a:rPr lang="en-US" sz="4000"/>
              <a:t>list</a:t>
            </a:r>
          </a:p>
        </p:txBody>
      </p:sp>
      <p:sp>
        <p:nvSpPr>
          <p:cNvPr id="66567" name="Rectangle 6"/>
          <p:cNvSpPr>
            <a:spLocks noChangeArrowheads="1"/>
          </p:cNvSpPr>
          <p:nvPr/>
        </p:nvSpPr>
        <p:spPr bwMode="auto">
          <a:xfrm>
            <a:off x="1905000" y="2286000"/>
            <a:ext cx="1143000" cy="914400"/>
          </a:xfrm>
          <a:prstGeom prst="rect">
            <a:avLst/>
          </a:prstGeom>
          <a:solidFill>
            <a:srgbClr val="CCFFCC"/>
          </a:solidFill>
          <a:ln w="9525">
            <a:solidFill>
              <a:schemeClr val="tx1"/>
            </a:solidFill>
            <a:miter lim="800000"/>
            <a:headEnd/>
            <a:tailEnd/>
          </a:ln>
        </p:spPr>
        <p:txBody>
          <a:bodyPr wrap="none" anchor="ctr"/>
          <a:lstStyle/>
          <a:p>
            <a:pPr algn="ctr"/>
            <a:r>
              <a:rPr lang="en-US" sz="3600"/>
              <a:t>##</a:t>
            </a:r>
          </a:p>
        </p:txBody>
      </p:sp>
      <p:sp>
        <p:nvSpPr>
          <p:cNvPr id="66568" name="Text Box 7"/>
          <p:cNvSpPr txBox="1">
            <a:spLocks noChangeArrowheads="1"/>
          </p:cNvSpPr>
          <p:nvPr/>
        </p:nvSpPr>
        <p:spPr bwMode="auto">
          <a:xfrm>
            <a:off x="5105400" y="3657600"/>
            <a:ext cx="549275" cy="701675"/>
          </a:xfrm>
          <a:prstGeom prst="rect">
            <a:avLst/>
          </a:prstGeom>
          <a:noFill/>
          <a:ln w="9525">
            <a:noFill/>
            <a:miter lim="800000"/>
            <a:headEnd/>
            <a:tailEnd/>
          </a:ln>
        </p:spPr>
        <p:txBody>
          <a:bodyPr wrap="none">
            <a:spAutoFit/>
          </a:bodyPr>
          <a:lstStyle/>
          <a:p>
            <a:r>
              <a:rPr lang="en-US" sz="4000"/>
              <a:t>it</a:t>
            </a:r>
          </a:p>
        </p:txBody>
      </p:sp>
      <p:sp>
        <p:nvSpPr>
          <p:cNvPr id="66569" name="Line 8"/>
          <p:cNvSpPr>
            <a:spLocks noChangeShapeType="1"/>
          </p:cNvSpPr>
          <p:nvPr/>
        </p:nvSpPr>
        <p:spPr bwMode="auto">
          <a:xfrm flipV="1">
            <a:off x="5410200" y="3048000"/>
            <a:ext cx="228600" cy="685800"/>
          </a:xfrm>
          <a:prstGeom prst="line">
            <a:avLst/>
          </a:prstGeom>
          <a:noFill/>
          <a:ln w="50800">
            <a:solidFill>
              <a:schemeClr val="tx1"/>
            </a:solidFill>
            <a:round/>
            <a:headEnd/>
            <a:tailEnd type="triangle" w="med" len="med"/>
          </a:ln>
        </p:spPr>
        <p:txBody>
          <a:bodyPr/>
          <a:lstStyle/>
          <a:p>
            <a:endParaRPr lang="en-US"/>
          </a:p>
        </p:txBody>
      </p:sp>
      <p:sp>
        <p:nvSpPr>
          <p:cNvPr id="66571" name="Text Box 10"/>
          <p:cNvSpPr txBox="1">
            <a:spLocks noChangeArrowheads="1"/>
          </p:cNvSpPr>
          <p:nvPr/>
        </p:nvSpPr>
        <p:spPr bwMode="auto">
          <a:xfrm>
            <a:off x="1600200" y="4876800"/>
            <a:ext cx="7239000" cy="946150"/>
          </a:xfrm>
          <a:prstGeom prst="rect">
            <a:avLst/>
          </a:prstGeom>
          <a:noFill/>
          <a:ln w="9525">
            <a:noFill/>
            <a:miter lim="800000"/>
            <a:headEnd/>
            <a:tailEnd/>
          </a:ln>
        </p:spPr>
        <p:txBody>
          <a:bodyPr>
            <a:spAutoFit/>
          </a:bodyPr>
          <a:lstStyle/>
          <a:p>
            <a:pPr>
              <a:spcBef>
                <a:spcPct val="50000"/>
              </a:spcBef>
            </a:pPr>
            <a:r>
              <a:rPr lang="en-US"/>
              <a:t>it.set("##");</a:t>
            </a:r>
            <a:br>
              <a:rPr lang="en-US"/>
            </a:br>
            <a:endParaRPr lang="en-US"/>
          </a:p>
        </p:txBody>
      </p:sp>
      <p:sp>
        <p:nvSpPr>
          <p:cNvPr id="66572" name="Text Box 11"/>
          <p:cNvSpPr txBox="1">
            <a:spLocks noChangeArrowheads="1"/>
          </p:cNvSpPr>
          <p:nvPr/>
        </p:nvSpPr>
        <p:spPr bwMode="auto">
          <a:xfrm>
            <a:off x="4800600" y="4800600"/>
            <a:ext cx="3505200" cy="1016000"/>
          </a:xfrm>
          <a:prstGeom prst="rect">
            <a:avLst/>
          </a:prstGeom>
          <a:noFill/>
          <a:ln w="9525">
            <a:solidFill>
              <a:schemeClr val="accent2"/>
            </a:solidFill>
            <a:miter lim="800000"/>
            <a:headEnd/>
            <a:tailEnd/>
          </a:ln>
        </p:spPr>
        <p:txBody>
          <a:bodyPr>
            <a:spAutoFit/>
          </a:bodyPr>
          <a:lstStyle/>
          <a:p>
            <a:pPr>
              <a:spcBef>
                <a:spcPct val="50000"/>
              </a:spcBef>
            </a:pPr>
            <a:r>
              <a:rPr lang="en-US" sz="2000">
                <a:solidFill>
                  <a:schemeClr val="accent2"/>
                </a:solidFill>
              </a:rPr>
              <a:t>set always modifies the last reference returned by next or previous.</a:t>
            </a:r>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add()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68612" name="Text Box 3"/>
          <p:cNvSpPr txBox="1">
            <a:spLocks noChangeArrowheads="1"/>
          </p:cNvSpPr>
          <p:nvPr/>
        </p:nvSpPr>
        <p:spPr bwMode="auto">
          <a:xfrm>
            <a:off x="1447800" y="1676400"/>
            <a:ext cx="6400800" cy="4060825"/>
          </a:xfrm>
          <a:prstGeom prst="rect">
            <a:avLst/>
          </a:prstGeom>
          <a:noFill/>
          <a:ln w="9525">
            <a:noFill/>
            <a:miter lim="800000"/>
            <a:headEnd/>
            <a:tailEnd/>
          </a:ln>
        </p:spPr>
        <p:txBody>
          <a:bodyPr>
            <a:spAutoFit/>
          </a:bodyPr>
          <a:lstStyle/>
          <a:p>
            <a:r>
              <a:rPr lang="en-US" sz="2600"/>
              <a:t>Modifications through an Iterator or ListIterator are always applied to the reference returned by the last next or previous call.  </a:t>
            </a:r>
          </a:p>
          <a:p>
            <a:endParaRPr lang="en-US" sz="2600"/>
          </a:p>
          <a:p>
            <a:r>
              <a:rPr lang="en-US" sz="2600"/>
              <a:t>Pay attention to the direction you are going.</a:t>
            </a:r>
          </a:p>
          <a:p>
            <a:endParaRPr lang="en-US" sz="2600"/>
          </a:p>
          <a:p>
            <a:r>
              <a:rPr lang="en-US" sz="2600"/>
              <a:t>Iterator only goes one direction.</a:t>
            </a:r>
          </a:p>
          <a:p>
            <a:r>
              <a:rPr lang="en-US" sz="2600"/>
              <a:t>ListIterator can go either direction.</a:t>
            </a:r>
          </a:p>
        </p:txBody>
      </p:sp>
      <p:sp>
        <p:nvSpPr>
          <p:cNvPr id="5" name="Rectangle 4"/>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Modification rule</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752600" y="1600200"/>
            <a:ext cx="5638800" cy="3416320"/>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For</a:t>
            </a:r>
            <a:br>
              <a:rPr lang="en-US" sz="7200" dirty="0" smtClean="0">
                <a:ln w="11430">
                  <a:solidFill>
                    <a:srgbClr val="FFFF00"/>
                  </a:solidFill>
                </a:ln>
                <a:solidFill>
                  <a:srgbClr val="0066FF"/>
                </a:solidFill>
                <a:effectLst>
                  <a:outerShdw blurRad="50800" dist="39000" dir="5460000" algn="tl">
                    <a:srgbClr val="000000">
                      <a:alpha val="38000"/>
                    </a:srgbClr>
                  </a:outerShdw>
                </a:effectLst>
              </a:rPr>
            </a:br>
            <a:r>
              <a:rPr lang="en-US" sz="7200" dirty="0" smtClean="0">
                <a:ln w="11430">
                  <a:solidFill>
                    <a:srgbClr val="FFFF00"/>
                  </a:solidFill>
                </a:ln>
                <a:solidFill>
                  <a:srgbClr val="0066FF"/>
                </a:solidFill>
                <a:effectLst>
                  <a:outerShdw blurRad="50800" dist="39000" dir="5460000" algn="tl">
                    <a:srgbClr val="000000">
                      <a:alpha val="38000"/>
                    </a:srgbClr>
                  </a:outerShdw>
                </a:effectLst>
              </a:rPr>
              <a:t>each</a:t>
            </a:r>
          </a:p>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loop</a:t>
            </a:r>
          </a:p>
        </p:txBody>
      </p:sp>
      <p:sp>
        <p:nvSpPr>
          <p:cNvPr id="8" name="Footer Placeholder 2"/>
          <p:cNvSpPr>
            <a:spLocks noGrp="1"/>
          </p:cNvSpPr>
          <p:nvPr>
            <p:ph type="ftr" sz="quarter" idx="4294967295"/>
          </p:nvPr>
        </p:nvSpPr>
        <p:spPr>
          <a:xfrm>
            <a:off x="3124200" y="6248400"/>
            <a:ext cx="2895600" cy="457200"/>
          </a:xfrm>
          <a:prstGeom prst="rect">
            <a:avLst/>
          </a:prstGeo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70659" name="Rectangle 2"/>
          <p:cNvSpPr>
            <a:spLocks noChangeArrowheads="1"/>
          </p:cNvSpPr>
          <p:nvPr/>
        </p:nvSpPr>
        <p:spPr bwMode="auto">
          <a:xfrm>
            <a:off x="914400" y="1752600"/>
            <a:ext cx="8229600" cy="3935413"/>
          </a:xfrm>
          <a:prstGeom prst="rect">
            <a:avLst/>
          </a:prstGeom>
          <a:noFill/>
          <a:ln w="9525">
            <a:noFill/>
            <a:miter lim="800000"/>
            <a:headEnd/>
            <a:tailEnd/>
          </a:ln>
        </p:spPr>
        <p:txBody>
          <a:bodyPr lIns="92075" tIns="46038" rIns="92075" bIns="46038">
            <a:spAutoFit/>
          </a:bodyPr>
          <a:lstStyle/>
          <a:p>
            <a:pPr eaLnBrk="1" hangingPunct="1"/>
            <a:r>
              <a:rPr lang="en-US"/>
              <a:t>int[] array = {4,5,6,7};</a:t>
            </a:r>
          </a:p>
          <a:p>
            <a:pPr eaLnBrk="1" hangingPunct="1"/>
            <a:r>
              <a:rPr lang="en-US"/>
              <a:t>int sum = 0;</a:t>
            </a:r>
          </a:p>
          <a:p>
            <a:pPr eaLnBrk="1" hangingPunct="1"/>
            <a:endParaRPr lang="en-US"/>
          </a:p>
          <a:p>
            <a:pPr eaLnBrk="1" fontAlgn="b" hangingPunct="1"/>
            <a:r>
              <a:rPr lang="en-US"/>
              <a:t>for(int i=0; i&lt;array.length; i++) </a:t>
            </a:r>
          </a:p>
          <a:p>
            <a:pPr eaLnBrk="1" fontAlgn="b" hangingPunct="1"/>
            <a:r>
              <a:rPr lang="en-US"/>
              <a:t>{ </a:t>
            </a:r>
          </a:p>
          <a:p>
            <a:pPr eaLnBrk="1" fontAlgn="b" hangingPunct="1"/>
            <a:r>
              <a:rPr lang="en-US"/>
              <a:t>   sum += array[i]; </a:t>
            </a:r>
          </a:p>
          <a:p>
            <a:pPr eaLnBrk="1" fontAlgn="b" hangingPunct="1"/>
            <a:r>
              <a:rPr lang="en-US"/>
              <a:t>} </a:t>
            </a:r>
          </a:p>
          <a:p>
            <a:pPr eaLnBrk="1" hangingPunct="1"/>
            <a:endParaRPr lang="en-US"/>
          </a:p>
          <a:p>
            <a:pPr eaLnBrk="1" hangingPunct="1"/>
            <a:endParaRPr lang="en-US">
              <a:solidFill>
                <a:srgbClr val="FFFF00"/>
              </a:solidFill>
            </a:endParaRPr>
          </a:p>
        </p:txBody>
      </p:sp>
      <p:sp>
        <p:nvSpPr>
          <p:cNvPr id="70660" name="Text Box 3"/>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Counter based for loop</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71683" name="Rectangle 2"/>
          <p:cNvSpPr>
            <a:spLocks noChangeArrowheads="1"/>
          </p:cNvSpPr>
          <p:nvPr/>
        </p:nvSpPr>
        <p:spPr bwMode="auto">
          <a:xfrm>
            <a:off x="1143000" y="1295400"/>
            <a:ext cx="8229600" cy="3965575"/>
          </a:xfrm>
          <a:prstGeom prst="rect">
            <a:avLst/>
          </a:prstGeom>
          <a:noFill/>
          <a:ln w="9525">
            <a:noFill/>
            <a:miter lim="800000"/>
            <a:headEnd/>
            <a:tailEnd/>
          </a:ln>
        </p:spPr>
        <p:txBody>
          <a:bodyPr lIns="92075" tIns="46038" rIns="92075" bIns="46038">
            <a:spAutoFit/>
          </a:bodyPr>
          <a:lstStyle/>
          <a:p>
            <a:endParaRPr lang="en-US" sz="3000">
              <a:solidFill>
                <a:srgbClr val="A50021"/>
              </a:solidFill>
              <a:latin typeface="Arial" charset="0"/>
            </a:endParaRPr>
          </a:p>
          <a:p>
            <a:pPr eaLnBrk="1" hangingPunct="1"/>
            <a:r>
              <a:rPr lang="en-US">
                <a:solidFill>
                  <a:schemeClr val="tx2"/>
                </a:solidFill>
              </a:rPr>
              <a:t>int array[] = {4,9,6,2,3};</a:t>
            </a:r>
          </a:p>
          <a:p>
            <a:pPr eaLnBrk="1" hangingPunct="1"/>
            <a:r>
              <a:rPr lang="en-US">
                <a:solidFill>
                  <a:schemeClr val="tx2"/>
                </a:solidFill>
              </a:rPr>
              <a:t>int sum = 0;</a:t>
            </a:r>
          </a:p>
          <a:p>
            <a:pPr eaLnBrk="1" hangingPunct="1"/>
            <a:endParaRPr lang="en-US">
              <a:solidFill>
                <a:schemeClr val="tx2"/>
              </a:solidFill>
            </a:endParaRPr>
          </a:p>
          <a:p>
            <a:pPr eaLnBrk="1" hangingPunct="1"/>
            <a:r>
              <a:rPr lang="en-US">
                <a:solidFill>
                  <a:schemeClr val="tx2"/>
                </a:solidFill>
              </a:rPr>
              <a:t>for (int num  : array) </a:t>
            </a:r>
          </a:p>
          <a:p>
            <a:pPr eaLnBrk="1" hangingPunct="1"/>
            <a:r>
              <a:rPr lang="en-US">
                <a:solidFill>
                  <a:schemeClr val="tx2"/>
                </a:solidFill>
              </a:rPr>
              <a:t>    sum = sum + num;</a:t>
            </a:r>
          </a:p>
          <a:p>
            <a:pPr eaLnBrk="1" hangingPunct="1"/>
            <a:r>
              <a:rPr lang="en-US">
                <a:solidFill>
                  <a:schemeClr val="tx2"/>
                </a:solidFill>
              </a:rPr>
              <a:t>System.out.println(sum);</a:t>
            </a:r>
          </a:p>
          <a:p>
            <a:pPr eaLnBrk="1" hangingPunct="1"/>
            <a:endParaRPr lang="en-US">
              <a:solidFill>
                <a:schemeClr val="tx2"/>
              </a:solidFill>
            </a:endParaRPr>
          </a:p>
          <a:p>
            <a:pPr eaLnBrk="1" hangingPunct="1"/>
            <a:endParaRPr lang="en-US">
              <a:solidFill>
                <a:srgbClr val="FFFF00"/>
              </a:solidFill>
            </a:endParaRPr>
          </a:p>
        </p:txBody>
      </p:sp>
      <p:sp>
        <p:nvSpPr>
          <p:cNvPr id="71684" name="Text Box 3"/>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for each loop</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72707" name="Rectangle 2"/>
          <p:cNvSpPr>
            <a:spLocks noChangeArrowheads="1"/>
          </p:cNvSpPr>
          <p:nvPr/>
        </p:nvSpPr>
        <p:spPr bwMode="auto">
          <a:xfrm>
            <a:off x="990600" y="1219200"/>
            <a:ext cx="8534400" cy="4432300"/>
          </a:xfrm>
          <a:prstGeom prst="rect">
            <a:avLst/>
          </a:prstGeom>
          <a:noFill/>
          <a:ln w="9525">
            <a:noFill/>
            <a:miter lim="800000"/>
            <a:headEnd/>
            <a:tailEnd/>
          </a:ln>
        </p:spPr>
        <p:txBody>
          <a:bodyPr lIns="92075" tIns="46038" rIns="92075" bIns="46038">
            <a:spAutoFit/>
          </a:bodyPr>
          <a:lstStyle/>
          <a:p>
            <a:endParaRPr lang="en-US" sz="3000">
              <a:solidFill>
                <a:srgbClr val="A50021"/>
              </a:solidFill>
              <a:latin typeface="Arial" charset="0"/>
            </a:endParaRPr>
          </a:p>
          <a:p>
            <a:pPr eaLnBrk="1" hangingPunct="1"/>
            <a:r>
              <a:rPr lang="en-US"/>
              <a:t>ArrayList&lt;Integer&gt;  list;</a:t>
            </a:r>
            <a:br>
              <a:rPr lang="en-US"/>
            </a:br>
            <a:r>
              <a:rPr lang="en-US"/>
              <a:t>list  = new ArrayList&lt;Integer&gt;();</a:t>
            </a:r>
          </a:p>
          <a:p>
            <a:pPr eaLnBrk="1" hangingPunct="1"/>
            <a:r>
              <a:rPr lang="en-US"/>
              <a:t>list.add(3);</a:t>
            </a:r>
          </a:p>
          <a:p>
            <a:pPr eaLnBrk="1" hangingPunct="1"/>
            <a:r>
              <a:rPr lang="en-US"/>
              <a:t>list.add(9);</a:t>
            </a:r>
          </a:p>
          <a:p>
            <a:pPr eaLnBrk="1" hangingPunct="1"/>
            <a:endParaRPr lang="en-US"/>
          </a:p>
          <a:p>
            <a:pPr eaLnBrk="1" hangingPunct="1"/>
            <a:r>
              <a:rPr lang="en-US"/>
              <a:t>for (Integer  num  : list)</a:t>
            </a:r>
          </a:p>
          <a:p>
            <a:pPr eaLnBrk="1" hangingPunct="1"/>
            <a:r>
              <a:rPr lang="en-US"/>
              <a:t>     System.out.print(num + " ");</a:t>
            </a:r>
          </a:p>
          <a:p>
            <a:pPr eaLnBrk="1" hangingPunct="1"/>
            <a:endParaRPr lang="en-US"/>
          </a:p>
          <a:p>
            <a:pPr eaLnBrk="1" hangingPunct="1"/>
            <a:endParaRPr lang="en-US">
              <a:solidFill>
                <a:srgbClr val="FFFF00"/>
              </a:solidFill>
            </a:endParaRPr>
          </a:p>
        </p:txBody>
      </p:sp>
      <p:sp>
        <p:nvSpPr>
          <p:cNvPr id="72708" name="Text Box 3"/>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for each loop</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73731" name="Rectangle 2"/>
          <p:cNvSpPr>
            <a:spLocks noChangeArrowheads="1"/>
          </p:cNvSpPr>
          <p:nvPr/>
        </p:nvSpPr>
        <p:spPr bwMode="auto">
          <a:xfrm>
            <a:off x="990600" y="1219200"/>
            <a:ext cx="6553200" cy="4432300"/>
          </a:xfrm>
          <a:prstGeom prst="rect">
            <a:avLst/>
          </a:prstGeom>
          <a:noFill/>
          <a:ln w="9525">
            <a:noFill/>
            <a:miter lim="800000"/>
            <a:headEnd/>
            <a:tailEnd/>
          </a:ln>
        </p:spPr>
        <p:txBody>
          <a:bodyPr lIns="92075" tIns="46038" rIns="92075" bIns="46038">
            <a:spAutoFit/>
          </a:bodyPr>
          <a:lstStyle/>
          <a:p>
            <a:endParaRPr lang="en-US" sz="3000">
              <a:solidFill>
                <a:srgbClr val="A50021"/>
              </a:solidFill>
              <a:latin typeface="Arial" charset="0"/>
            </a:endParaRPr>
          </a:p>
          <a:p>
            <a:pPr eaLnBrk="1" hangingPunct="1"/>
            <a:r>
              <a:rPr lang="en-US"/>
              <a:t>ArrayList&lt;Integer&gt;  list;</a:t>
            </a:r>
            <a:br>
              <a:rPr lang="en-US"/>
            </a:br>
            <a:r>
              <a:rPr lang="en-US"/>
              <a:t>list  = new  ArrayList&lt;Integer&gt;();</a:t>
            </a:r>
          </a:p>
          <a:p>
            <a:pPr eaLnBrk="1" hangingPunct="1"/>
            <a:r>
              <a:rPr lang="en-US"/>
              <a:t>list.add(3);</a:t>
            </a:r>
          </a:p>
          <a:p>
            <a:pPr eaLnBrk="1" hangingPunct="1"/>
            <a:r>
              <a:rPr lang="en-US"/>
              <a:t>list.add(9);</a:t>
            </a:r>
          </a:p>
          <a:p>
            <a:pPr eaLnBrk="1" hangingPunct="1"/>
            <a:endParaRPr lang="en-US"/>
          </a:p>
          <a:p>
            <a:pPr eaLnBrk="1" hangingPunct="1"/>
            <a:r>
              <a:rPr lang="en-US"/>
              <a:t>for (int num  : list)</a:t>
            </a:r>
          </a:p>
          <a:p>
            <a:pPr eaLnBrk="1" hangingPunct="1"/>
            <a:r>
              <a:rPr lang="en-US"/>
              <a:t>     System.out.print(num + " ");</a:t>
            </a:r>
          </a:p>
          <a:p>
            <a:pPr eaLnBrk="1" hangingPunct="1"/>
            <a:endParaRPr lang="en-US"/>
          </a:p>
          <a:p>
            <a:pPr eaLnBrk="1" hangingPunct="1"/>
            <a:endParaRPr lang="en-US">
              <a:solidFill>
                <a:srgbClr val="FFFF00"/>
              </a:solidFill>
            </a:endParaRPr>
          </a:p>
        </p:txBody>
      </p:sp>
      <p:sp>
        <p:nvSpPr>
          <p:cNvPr id="73732" name="Text Box 3"/>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for each loop</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1"/>
          </p:nvPr>
        </p:nvSpPr>
        <p:spPr>
          <a:noFill/>
        </p:spPr>
        <p:txBody>
          <a:bodyPr/>
          <a:lstStyle/>
          <a:p>
            <a:endParaRPr lang="en-US" b="0" smtClean="0">
              <a:latin typeface="Times New Roman" pitchFamily="18" charset="0"/>
            </a:endParaRPr>
          </a:p>
          <a:p>
            <a:endParaRPr lang="en-US" smtClean="0"/>
          </a:p>
          <a:p>
            <a:endParaRPr lang="en-US" smtClean="0"/>
          </a:p>
          <a:p>
            <a:r>
              <a:rPr lang="en-US" smtClean="0"/>
              <a:t>© A+ Computer Science  -  www.apluscompsci.com</a:t>
            </a:r>
          </a:p>
        </p:txBody>
      </p:sp>
      <p:sp>
        <p:nvSpPr>
          <p:cNvPr id="7" name="Rectangle 6"/>
          <p:cNvSpPr/>
          <p:nvPr/>
        </p:nvSpPr>
        <p:spPr>
          <a:xfrm>
            <a:off x="533400" y="1219200"/>
            <a:ext cx="8153400" cy="4401205"/>
          </a:xfrm>
          <a:prstGeom prst="rect">
            <a:avLst/>
          </a:prstGeom>
          <a:effectLst>
            <a:glow rad="228600">
              <a:schemeClr val="accent4">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lIns="91440" tIns="45720" rIns="91440" bIns="45720">
            <a:spAutoFit/>
          </a:bodyPr>
          <a:lstStyle>
            <a:defPPr>
              <a:defRPr lang="en-US"/>
            </a:defPPr>
            <a:lvl1pPr algn="l" rtl="0" eaLnBrk="0" fontAlgn="base" hangingPunct="0">
              <a:spcBef>
                <a:spcPct val="0"/>
              </a:spcBef>
              <a:spcAft>
                <a:spcPct val="0"/>
              </a:spcAft>
              <a:defRPr sz="26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6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6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6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600" b="1" kern="1200">
                <a:solidFill>
                  <a:schemeClr val="tx1"/>
                </a:solidFill>
                <a:latin typeface="Tahoma" pitchFamily="34" charset="0"/>
                <a:ea typeface="+mn-ea"/>
                <a:cs typeface="+mn-cs"/>
              </a:defRPr>
            </a:lvl5pPr>
            <a:lvl6pPr marL="2286000" algn="l" defTabSz="914400" rtl="0" eaLnBrk="1" latinLnBrk="0" hangingPunct="1">
              <a:defRPr sz="2600" b="1" kern="1200">
                <a:solidFill>
                  <a:schemeClr val="tx1"/>
                </a:solidFill>
                <a:latin typeface="Tahoma" pitchFamily="34" charset="0"/>
                <a:ea typeface="+mn-ea"/>
                <a:cs typeface="+mn-cs"/>
              </a:defRPr>
            </a:lvl6pPr>
            <a:lvl7pPr marL="2743200" algn="l" defTabSz="914400" rtl="0" eaLnBrk="1" latinLnBrk="0" hangingPunct="1">
              <a:defRPr sz="2600" b="1" kern="1200">
                <a:solidFill>
                  <a:schemeClr val="tx1"/>
                </a:solidFill>
                <a:latin typeface="Tahoma" pitchFamily="34" charset="0"/>
                <a:ea typeface="+mn-ea"/>
                <a:cs typeface="+mn-cs"/>
              </a:defRPr>
            </a:lvl7pPr>
            <a:lvl8pPr marL="3200400" algn="l" defTabSz="914400" rtl="0" eaLnBrk="1" latinLnBrk="0" hangingPunct="1">
              <a:defRPr sz="2600" b="1" kern="1200">
                <a:solidFill>
                  <a:schemeClr val="tx1"/>
                </a:solidFill>
                <a:latin typeface="Tahoma" pitchFamily="34" charset="0"/>
                <a:ea typeface="+mn-ea"/>
                <a:cs typeface="+mn-cs"/>
              </a:defRPr>
            </a:lvl8pPr>
            <a:lvl9pPr marL="3657600" algn="l" defTabSz="914400" rtl="0" eaLnBrk="1" latinLnBrk="0" hangingPunct="1">
              <a:defRPr sz="2600" b="1" kern="1200">
                <a:solidFill>
                  <a:schemeClr val="tx1"/>
                </a:solidFill>
                <a:latin typeface="Tahoma" pitchFamily="34" charset="0"/>
                <a:ea typeface="+mn-ea"/>
                <a:cs typeface="+mn-cs"/>
              </a:defRPr>
            </a:lvl9pPr>
          </a:lstStyle>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t/>
            </a:r>
            <a:b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br>
            <a:r>
              <a:rPr lang="en-US" sz="4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A+ Computer Science</a:t>
            </a:r>
          </a:p>
          <a:p>
            <a:pPr algn="ctr"/>
            <a:r>
              <a:rPr lang="en-US" sz="8000" dirty="0" err="1"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Iterators</a:t>
            </a: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endParaRPr>
          </a:p>
          <a:p>
            <a:pPr algn="ct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968</TotalTime>
  <Words>2992</Words>
  <Application>Microsoft Office PowerPoint</Application>
  <PresentationFormat>On-screen Show (4:3)</PresentationFormat>
  <Paragraphs>827</Paragraphs>
  <Slides>52</Slides>
  <Notes>52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Comic Sans MS</vt:lpstr>
      <vt:lpstr>Courier New</vt:lpstr>
      <vt:lpstr>Eraser</vt:lpstr>
      <vt:lpstr>Tahoma</vt:lpstr>
      <vt:lpstr>Times New Roman</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iterators</dc:title>
  <dc:subject>Iterators</dc:subject>
  <dc:creator>A+ Computer Science</dc:creator>
  <cp:keywords>www.apluscompsci.com</cp:keywords>
  <dc:description>Iterators_x000d_
©A+ Computer Science_x000d_
www.apluscompsci.com</dc:description>
  <cp:lastModifiedBy>Stroud, Paul M (SLHS)</cp:lastModifiedBy>
  <cp:revision>373</cp:revision>
  <dcterms:created xsi:type="dcterms:W3CDTF">1997-10-20T19:37:18Z</dcterms:created>
  <dcterms:modified xsi:type="dcterms:W3CDTF">2017-09-25T14:03:02Z</dcterms:modified>
  <cp:category>www.apluscompsci.com</cp:category>
</cp:coreProperties>
</file>