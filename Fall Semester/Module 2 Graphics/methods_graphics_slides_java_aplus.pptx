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9"/>
  </p:notesMasterIdLst>
  <p:handoutMasterIdLst>
    <p:handoutMasterId r:id="rId40"/>
  </p:handoutMasterIdLst>
  <p:sldIdLst>
    <p:sldId id="256" r:id="rId2"/>
    <p:sldId id="324" r:id="rId3"/>
    <p:sldId id="327" r:id="rId4"/>
    <p:sldId id="365" r:id="rId5"/>
    <p:sldId id="339" r:id="rId6"/>
    <p:sldId id="340" r:id="rId7"/>
    <p:sldId id="341" r:id="rId8"/>
    <p:sldId id="362" r:id="rId9"/>
    <p:sldId id="330" r:id="rId10"/>
    <p:sldId id="353" r:id="rId11"/>
    <p:sldId id="354" r:id="rId12"/>
    <p:sldId id="345" r:id="rId13"/>
    <p:sldId id="370" r:id="rId14"/>
    <p:sldId id="366" r:id="rId15"/>
    <p:sldId id="335" r:id="rId16"/>
    <p:sldId id="347" r:id="rId17"/>
    <p:sldId id="336" r:id="rId18"/>
    <p:sldId id="363" r:id="rId19"/>
    <p:sldId id="352" r:id="rId20"/>
    <p:sldId id="337" r:id="rId21"/>
    <p:sldId id="367" r:id="rId22"/>
    <p:sldId id="355" r:id="rId23"/>
    <p:sldId id="267" r:id="rId24"/>
    <p:sldId id="269" r:id="rId25"/>
    <p:sldId id="271" r:id="rId26"/>
    <p:sldId id="356" r:id="rId27"/>
    <p:sldId id="300" r:id="rId28"/>
    <p:sldId id="302" r:id="rId29"/>
    <p:sldId id="357" r:id="rId30"/>
    <p:sldId id="320" r:id="rId31"/>
    <p:sldId id="301" r:id="rId32"/>
    <p:sldId id="361" r:id="rId33"/>
    <p:sldId id="358" r:id="rId34"/>
    <p:sldId id="359" r:id="rId35"/>
    <p:sldId id="360" r:id="rId36"/>
    <p:sldId id="369" r:id="rId37"/>
    <p:sldId id="364" r:id="rId38"/>
  </p:sldIdLst>
  <p:sldSz cx="9144000" cy="6858000" type="screen4x3"/>
  <p:notesSz cx="7315200" cy="9601200"/>
  <p:defaultTextStyle>
    <a:defPPr>
      <a:defRPr lang="en-US"/>
    </a:defPPr>
    <a:lvl1pPr algn="l" rtl="0" eaLnBrk="0" fontAlgn="base" hangingPunct="0">
      <a:spcBef>
        <a:spcPct val="0"/>
      </a:spcBef>
      <a:spcAft>
        <a:spcPct val="0"/>
      </a:spcAft>
      <a:defRPr sz="2000" b="1" kern="1200">
        <a:solidFill>
          <a:schemeClr val="tx1"/>
        </a:solidFill>
        <a:latin typeface="Tahoma" pitchFamily="34" charset="0"/>
        <a:ea typeface="+mn-ea"/>
        <a:cs typeface="+mn-cs"/>
      </a:defRPr>
    </a:lvl1pPr>
    <a:lvl2pPr marL="457200" algn="l" rtl="0" eaLnBrk="0" fontAlgn="base" hangingPunct="0">
      <a:spcBef>
        <a:spcPct val="0"/>
      </a:spcBef>
      <a:spcAft>
        <a:spcPct val="0"/>
      </a:spcAft>
      <a:defRPr sz="2000" b="1" kern="1200">
        <a:solidFill>
          <a:schemeClr val="tx1"/>
        </a:solidFill>
        <a:latin typeface="Tahoma" pitchFamily="34" charset="0"/>
        <a:ea typeface="+mn-ea"/>
        <a:cs typeface="+mn-cs"/>
      </a:defRPr>
    </a:lvl2pPr>
    <a:lvl3pPr marL="914400" algn="l" rtl="0" eaLnBrk="0" fontAlgn="base" hangingPunct="0">
      <a:spcBef>
        <a:spcPct val="0"/>
      </a:spcBef>
      <a:spcAft>
        <a:spcPct val="0"/>
      </a:spcAft>
      <a:defRPr sz="2000" b="1" kern="1200">
        <a:solidFill>
          <a:schemeClr val="tx1"/>
        </a:solidFill>
        <a:latin typeface="Tahoma" pitchFamily="34" charset="0"/>
        <a:ea typeface="+mn-ea"/>
        <a:cs typeface="+mn-cs"/>
      </a:defRPr>
    </a:lvl3pPr>
    <a:lvl4pPr marL="1371600" algn="l" rtl="0" eaLnBrk="0" fontAlgn="base" hangingPunct="0">
      <a:spcBef>
        <a:spcPct val="0"/>
      </a:spcBef>
      <a:spcAft>
        <a:spcPct val="0"/>
      </a:spcAft>
      <a:defRPr sz="2000" b="1" kern="1200">
        <a:solidFill>
          <a:schemeClr val="tx1"/>
        </a:solidFill>
        <a:latin typeface="Tahoma" pitchFamily="34" charset="0"/>
        <a:ea typeface="+mn-ea"/>
        <a:cs typeface="+mn-cs"/>
      </a:defRPr>
    </a:lvl4pPr>
    <a:lvl5pPr marL="1828800" algn="l" rtl="0" eaLnBrk="0" fontAlgn="base" hangingPunct="0">
      <a:spcBef>
        <a:spcPct val="0"/>
      </a:spcBef>
      <a:spcAft>
        <a:spcPct val="0"/>
      </a:spcAft>
      <a:defRPr sz="2000" b="1" kern="1200">
        <a:solidFill>
          <a:schemeClr val="tx1"/>
        </a:solidFill>
        <a:latin typeface="Tahoma" pitchFamily="34" charset="0"/>
        <a:ea typeface="+mn-ea"/>
        <a:cs typeface="+mn-cs"/>
      </a:defRPr>
    </a:lvl5pPr>
    <a:lvl6pPr marL="2286000" algn="l" defTabSz="914400" rtl="0" eaLnBrk="1" latinLnBrk="0" hangingPunct="1">
      <a:defRPr sz="2000" b="1" kern="1200">
        <a:solidFill>
          <a:schemeClr val="tx1"/>
        </a:solidFill>
        <a:latin typeface="Tahoma" pitchFamily="34" charset="0"/>
        <a:ea typeface="+mn-ea"/>
        <a:cs typeface="+mn-cs"/>
      </a:defRPr>
    </a:lvl6pPr>
    <a:lvl7pPr marL="2743200" algn="l" defTabSz="914400" rtl="0" eaLnBrk="1" latinLnBrk="0" hangingPunct="1">
      <a:defRPr sz="2000" b="1" kern="1200">
        <a:solidFill>
          <a:schemeClr val="tx1"/>
        </a:solidFill>
        <a:latin typeface="Tahoma" pitchFamily="34" charset="0"/>
        <a:ea typeface="+mn-ea"/>
        <a:cs typeface="+mn-cs"/>
      </a:defRPr>
    </a:lvl7pPr>
    <a:lvl8pPr marL="3200400" algn="l" defTabSz="914400" rtl="0" eaLnBrk="1" latinLnBrk="0" hangingPunct="1">
      <a:defRPr sz="2000" b="1" kern="1200">
        <a:solidFill>
          <a:schemeClr val="tx1"/>
        </a:solidFill>
        <a:latin typeface="Tahoma" pitchFamily="34" charset="0"/>
        <a:ea typeface="+mn-ea"/>
        <a:cs typeface="+mn-cs"/>
      </a:defRPr>
    </a:lvl8pPr>
    <a:lvl9pPr marL="3657600" algn="l" defTabSz="914400" rtl="0" eaLnBrk="1" latinLnBrk="0" hangingPunct="1">
      <a:defRPr sz="2000" b="1" kern="1200">
        <a:solidFill>
          <a:schemeClr val="tx1"/>
        </a:solidFill>
        <a:latin typeface="Tahoma"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CB628"/>
    <a:srgbClr val="FFFFCC"/>
    <a:srgbClr val="FFFF99"/>
    <a:srgbClr val="008000"/>
    <a:srgbClr val="CC0000"/>
    <a:srgbClr val="FF5050"/>
    <a:srgbClr val="0066CC"/>
    <a:srgbClr val="0099CC"/>
    <a:srgbClr val="000066"/>
    <a:srgbClr val="FFFF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40" autoAdjust="0"/>
    <p:restoredTop sz="71014" autoAdjust="0"/>
  </p:normalViewPr>
  <p:slideViewPr>
    <p:cSldViewPr>
      <p:cViewPr varScale="1">
        <p:scale>
          <a:sx n="51" d="100"/>
          <a:sy n="51" d="100"/>
        </p:scale>
        <p:origin x="-191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50"/>
    </p:cViewPr>
  </p:sorterViewPr>
  <p:notesViewPr>
    <p:cSldViewPr>
      <p:cViewPr>
        <p:scale>
          <a:sx n="66" d="100"/>
          <a:sy n="66" d="100"/>
        </p:scale>
        <p:origin x="-2370" y="24"/>
      </p:cViewPr>
      <p:guideLst>
        <p:guide orient="horz" pos="3024"/>
        <p:guide pos="2304"/>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bwMode="auto">
          <a:xfrm>
            <a:off x="0" y="0"/>
            <a:ext cx="3170238" cy="481013"/>
          </a:xfrm>
          <a:prstGeom prst="rect">
            <a:avLst/>
          </a:prstGeom>
          <a:noFill/>
          <a:ln w="9525">
            <a:noFill/>
            <a:miter lim="800000"/>
            <a:headEnd/>
            <a:tailEnd/>
          </a:ln>
          <a:effectLst/>
        </p:spPr>
        <p:txBody>
          <a:bodyPr vert="horz" wrap="square" lIns="95747" tIns="47873" rIns="95747" bIns="47873" numCol="1" anchor="t" anchorCtr="0" compatLnSpc="1">
            <a:prstTxWarp prst="textNoShape">
              <a:avLst/>
            </a:prstTxWarp>
          </a:bodyPr>
          <a:lstStyle>
            <a:lvl1pPr defTabSz="957263">
              <a:defRPr sz="1300"/>
            </a:lvl1pPr>
          </a:lstStyle>
          <a:p>
            <a:pPr>
              <a:defRPr/>
            </a:pPr>
            <a:endParaRPr lang="en-US"/>
          </a:p>
        </p:txBody>
      </p:sp>
      <p:sp>
        <p:nvSpPr>
          <p:cNvPr id="50179" name="Rectangle 3"/>
          <p:cNvSpPr>
            <a:spLocks noGrp="1" noChangeArrowheads="1"/>
          </p:cNvSpPr>
          <p:nvPr>
            <p:ph type="dt" sz="quarter" idx="1"/>
          </p:nvPr>
        </p:nvSpPr>
        <p:spPr bwMode="auto">
          <a:xfrm>
            <a:off x="4144963" y="0"/>
            <a:ext cx="3170237" cy="481013"/>
          </a:xfrm>
          <a:prstGeom prst="rect">
            <a:avLst/>
          </a:prstGeom>
          <a:noFill/>
          <a:ln w="9525">
            <a:noFill/>
            <a:miter lim="800000"/>
            <a:headEnd/>
            <a:tailEnd/>
          </a:ln>
          <a:effectLst/>
        </p:spPr>
        <p:txBody>
          <a:bodyPr vert="horz" wrap="square" lIns="95747" tIns="47873" rIns="95747" bIns="47873" numCol="1" anchor="t" anchorCtr="0" compatLnSpc="1">
            <a:prstTxWarp prst="textNoShape">
              <a:avLst/>
            </a:prstTxWarp>
          </a:bodyPr>
          <a:lstStyle>
            <a:lvl1pPr algn="r" defTabSz="957263">
              <a:defRPr sz="1300"/>
            </a:lvl1pPr>
          </a:lstStyle>
          <a:p>
            <a:pPr>
              <a:defRPr/>
            </a:pPr>
            <a:endParaRPr lang="en-US"/>
          </a:p>
        </p:txBody>
      </p:sp>
      <p:sp>
        <p:nvSpPr>
          <p:cNvPr id="50180" name="Rectangle 4"/>
          <p:cNvSpPr>
            <a:spLocks noGrp="1" noChangeArrowheads="1"/>
          </p:cNvSpPr>
          <p:nvPr>
            <p:ph type="ftr" sz="quarter" idx="2"/>
          </p:nvPr>
        </p:nvSpPr>
        <p:spPr bwMode="auto">
          <a:xfrm>
            <a:off x="0" y="9120188"/>
            <a:ext cx="3170238" cy="481012"/>
          </a:xfrm>
          <a:prstGeom prst="rect">
            <a:avLst/>
          </a:prstGeom>
          <a:noFill/>
          <a:ln w="9525">
            <a:noFill/>
            <a:miter lim="800000"/>
            <a:headEnd/>
            <a:tailEnd/>
          </a:ln>
          <a:effectLst/>
        </p:spPr>
        <p:txBody>
          <a:bodyPr vert="horz" wrap="square" lIns="95747" tIns="47873" rIns="95747" bIns="47873" numCol="1" anchor="b" anchorCtr="0" compatLnSpc="1">
            <a:prstTxWarp prst="textNoShape">
              <a:avLst/>
            </a:prstTxWarp>
          </a:bodyPr>
          <a:lstStyle>
            <a:lvl1pPr defTabSz="957263">
              <a:defRPr sz="1300"/>
            </a:lvl1pPr>
          </a:lstStyle>
          <a:p>
            <a:pPr>
              <a:defRPr/>
            </a:pPr>
            <a:endParaRPr lang="en-US"/>
          </a:p>
        </p:txBody>
      </p:sp>
      <p:sp>
        <p:nvSpPr>
          <p:cNvPr id="50181" name="Rectangle 5"/>
          <p:cNvSpPr>
            <a:spLocks noGrp="1" noChangeArrowheads="1"/>
          </p:cNvSpPr>
          <p:nvPr>
            <p:ph type="sldNum" sz="quarter" idx="3"/>
          </p:nvPr>
        </p:nvSpPr>
        <p:spPr bwMode="auto">
          <a:xfrm>
            <a:off x="4144963" y="9120188"/>
            <a:ext cx="3170237" cy="481012"/>
          </a:xfrm>
          <a:prstGeom prst="rect">
            <a:avLst/>
          </a:prstGeom>
          <a:noFill/>
          <a:ln w="9525">
            <a:noFill/>
            <a:miter lim="800000"/>
            <a:headEnd/>
            <a:tailEnd/>
          </a:ln>
          <a:effectLst/>
        </p:spPr>
        <p:txBody>
          <a:bodyPr vert="horz" wrap="square" lIns="95747" tIns="47873" rIns="95747" bIns="47873" numCol="1" anchor="b" anchorCtr="0" compatLnSpc="1">
            <a:prstTxWarp prst="textNoShape">
              <a:avLst/>
            </a:prstTxWarp>
          </a:bodyPr>
          <a:lstStyle>
            <a:lvl1pPr algn="r" defTabSz="957263">
              <a:defRPr sz="1300"/>
            </a:lvl1pPr>
          </a:lstStyle>
          <a:p>
            <a:pPr>
              <a:defRPr/>
            </a:pPr>
            <a:fld id="{340A4B70-AA21-4A8F-A67A-11E251D9B39D}"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3170238" cy="481013"/>
          </a:xfrm>
          <a:prstGeom prst="rect">
            <a:avLst/>
          </a:prstGeom>
          <a:noFill/>
          <a:ln w="9525">
            <a:noFill/>
            <a:miter lim="800000"/>
            <a:headEnd/>
            <a:tailEnd/>
          </a:ln>
          <a:effectLst/>
        </p:spPr>
        <p:txBody>
          <a:bodyPr vert="horz" wrap="square" lIns="95747" tIns="47873" rIns="95747" bIns="47873" numCol="1" anchor="t" anchorCtr="0" compatLnSpc="1">
            <a:prstTxWarp prst="textNoShape">
              <a:avLst/>
            </a:prstTxWarp>
          </a:bodyPr>
          <a:lstStyle>
            <a:lvl1pPr defTabSz="957263">
              <a:defRPr sz="1300"/>
            </a:lvl1pPr>
          </a:lstStyle>
          <a:p>
            <a:pPr>
              <a:defRPr/>
            </a:pPr>
            <a:endParaRPr lang="en-US"/>
          </a:p>
        </p:txBody>
      </p:sp>
      <p:sp>
        <p:nvSpPr>
          <p:cNvPr id="48131" name="Rectangle 3"/>
          <p:cNvSpPr>
            <a:spLocks noGrp="1" noChangeArrowheads="1"/>
          </p:cNvSpPr>
          <p:nvPr>
            <p:ph type="dt" idx="1"/>
          </p:nvPr>
        </p:nvSpPr>
        <p:spPr bwMode="auto">
          <a:xfrm>
            <a:off x="4144963" y="0"/>
            <a:ext cx="3170237" cy="481013"/>
          </a:xfrm>
          <a:prstGeom prst="rect">
            <a:avLst/>
          </a:prstGeom>
          <a:noFill/>
          <a:ln w="9525">
            <a:noFill/>
            <a:miter lim="800000"/>
            <a:headEnd/>
            <a:tailEnd/>
          </a:ln>
          <a:effectLst/>
        </p:spPr>
        <p:txBody>
          <a:bodyPr vert="horz" wrap="square" lIns="95747" tIns="47873" rIns="95747" bIns="47873" numCol="1" anchor="t" anchorCtr="0" compatLnSpc="1">
            <a:prstTxWarp prst="textNoShape">
              <a:avLst/>
            </a:prstTxWarp>
          </a:bodyPr>
          <a:lstStyle>
            <a:lvl1pPr algn="r" defTabSz="957263">
              <a:defRPr sz="1300"/>
            </a:lvl1pPr>
          </a:lstStyle>
          <a:p>
            <a:pPr>
              <a:defRPr/>
            </a:pPr>
            <a:endParaRPr lang="en-US"/>
          </a:p>
        </p:txBody>
      </p:sp>
      <p:sp>
        <p:nvSpPr>
          <p:cNvPr id="53252" name="Rectangle 4"/>
          <p:cNvSpPr>
            <a:spLocks noGrp="1" noRot="1" noChangeAspect="1" noChangeArrowheads="1" noTextEdit="1"/>
          </p:cNvSpPr>
          <p:nvPr>
            <p:ph type="sldImg" idx="2"/>
          </p:nvPr>
        </p:nvSpPr>
        <p:spPr bwMode="auto">
          <a:xfrm>
            <a:off x="1257300" y="719138"/>
            <a:ext cx="4800600" cy="3600450"/>
          </a:xfrm>
          <a:prstGeom prst="rect">
            <a:avLst/>
          </a:prstGeom>
          <a:noFill/>
          <a:ln w="9525">
            <a:solidFill>
              <a:srgbClr val="000000"/>
            </a:solidFill>
            <a:miter lim="800000"/>
            <a:headEnd/>
            <a:tailEnd/>
          </a:ln>
        </p:spPr>
      </p:sp>
      <p:sp>
        <p:nvSpPr>
          <p:cNvPr id="48133" name="Rectangle 5"/>
          <p:cNvSpPr>
            <a:spLocks noGrp="1" noChangeArrowheads="1"/>
          </p:cNvSpPr>
          <p:nvPr>
            <p:ph type="body" sz="quarter" idx="3"/>
          </p:nvPr>
        </p:nvSpPr>
        <p:spPr bwMode="auto">
          <a:xfrm>
            <a:off x="974725" y="4560888"/>
            <a:ext cx="5365750" cy="4321175"/>
          </a:xfrm>
          <a:prstGeom prst="rect">
            <a:avLst/>
          </a:prstGeom>
          <a:noFill/>
          <a:ln w="9525">
            <a:noFill/>
            <a:miter lim="800000"/>
            <a:headEnd/>
            <a:tailEnd/>
          </a:ln>
          <a:effectLst/>
        </p:spPr>
        <p:txBody>
          <a:bodyPr vert="horz" wrap="square" lIns="95747" tIns="47873" rIns="95747" bIns="47873"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8136" name="Rectangle 8"/>
          <p:cNvSpPr>
            <a:spLocks noChangeArrowheads="1"/>
          </p:cNvSpPr>
          <p:nvPr/>
        </p:nvSpPr>
        <p:spPr bwMode="auto">
          <a:xfrm>
            <a:off x="1463675" y="9129713"/>
            <a:ext cx="5851525" cy="471487"/>
          </a:xfrm>
          <a:prstGeom prst="rect">
            <a:avLst/>
          </a:prstGeom>
          <a:noFill/>
          <a:ln w="9525">
            <a:noFill/>
            <a:miter lim="800000"/>
            <a:headEnd/>
            <a:tailEnd/>
          </a:ln>
          <a:effectLst/>
        </p:spPr>
        <p:txBody>
          <a:bodyPr lIns="96412" tIns="48206" rIns="96412" bIns="48206" anchor="b"/>
          <a:lstStyle/>
          <a:p>
            <a:pPr algn="r" defTabSz="957263">
              <a:defRPr/>
            </a:pPr>
            <a:r>
              <a:rPr lang="en-US" sz="1300"/>
              <a:t>©A+ Computer Science     www.apluscompsci.com                 </a:t>
            </a:r>
            <a:fld id="{DA549AE5-1F8D-4FB8-BC7E-5BE549BC87D7}" type="slidenum">
              <a:rPr lang="en-US" sz="1300"/>
              <a:pPr algn="r" defTabSz="957263">
                <a:defRPr/>
              </a:pPr>
              <a:t>‹#›</a:t>
            </a:fld>
            <a:endParaRPr lang="en-US" sz="210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a:xfrm>
            <a:off x="731838" y="4560888"/>
            <a:ext cx="5851525" cy="4321175"/>
          </a:xfrm>
          <a:noFill/>
          <a:ln/>
        </p:spPr>
        <p:txBody>
          <a:bodyPr/>
          <a:lstStyle/>
          <a:p>
            <a:r>
              <a:rPr lang="en-US" sz="1600" dirty="0" smtClean="0">
                <a:latin typeface="Courier New" pitchFamily="49" charset="0"/>
              </a:rPr>
              <a:t>dude </a:t>
            </a:r>
            <a:r>
              <a:rPr lang="en-US" sz="1600" dirty="0" smtClean="0"/>
              <a:t>is an</a:t>
            </a:r>
            <a:r>
              <a:rPr lang="en-US" sz="1600" baseline="0" dirty="0" smtClean="0"/>
              <a:t> </a:t>
            </a:r>
            <a:r>
              <a:rPr lang="en-US" sz="1600" baseline="0" dirty="0" err="1" smtClean="0"/>
              <a:t>AplusBug</a:t>
            </a:r>
            <a:r>
              <a:rPr lang="en-US" sz="1600" dirty="0" smtClean="0"/>
              <a:t> reference.  </a:t>
            </a:r>
            <a:br>
              <a:rPr lang="en-US" sz="1600" dirty="0" smtClean="0"/>
            </a:br>
            <a:r>
              <a:rPr lang="en-US" sz="1600" dirty="0" smtClean="0">
                <a:latin typeface="Courier New" pitchFamily="49" charset="0"/>
              </a:rPr>
              <a:t>new </a:t>
            </a:r>
            <a:r>
              <a:rPr lang="en-US" sz="1600" dirty="0" err="1" smtClean="0">
                <a:latin typeface="Courier New" pitchFamily="49" charset="0"/>
              </a:rPr>
              <a:t>AplusBug</a:t>
            </a:r>
            <a:r>
              <a:rPr lang="en-US" sz="1600" dirty="0" smtClean="0">
                <a:latin typeface="Courier New" pitchFamily="49" charset="0"/>
              </a:rPr>
              <a:t>()</a:t>
            </a:r>
            <a:r>
              <a:rPr lang="en-US" sz="1600" dirty="0" smtClean="0"/>
              <a:t> creates a new </a:t>
            </a:r>
            <a:r>
              <a:rPr lang="en-US" sz="1600" dirty="0" err="1" smtClean="0"/>
              <a:t>AplusBug</a:t>
            </a:r>
            <a:r>
              <a:rPr lang="en-US" sz="1600" dirty="0" smtClean="0"/>
              <a:t> Object out in memory. </a:t>
            </a:r>
          </a:p>
          <a:p>
            <a:r>
              <a:rPr lang="en-US" sz="1600" dirty="0" smtClean="0">
                <a:latin typeface="Courier New" pitchFamily="49" charset="0"/>
              </a:rPr>
              <a:t>dude</a:t>
            </a:r>
            <a:r>
              <a:rPr lang="en-US" sz="1600" dirty="0" smtClean="0"/>
              <a:t> stores the location of that new </a:t>
            </a:r>
            <a:r>
              <a:rPr lang="en-US" sz="1600" dirty="0" err="1" smtClean="0"/>
              <a:t>AplusBug</a:t>
            </a:r>
            <a:r>
              <a:rPr lang="en-US" sz="1600" dirty="0" smtClean="0"/>
              <a:t> Object.</a:t>
            </a:r>
          </a:p>
          <a:p>
            <a:endParaRPr lang="en-US" dirty="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p:spPr>
        <p:txBody>
          <a:bodyPr/>
          <a:lstStyle/>
          <a:p>
            <a:r>
              <a:rPr lang="en-US" sz="1200" dirty="0" smtClean="0">
                <a:latin typeface="Courier New" pitchFamily="49" charset="0"/>
              </a:rPr>
              <a:t>dude </a:t>
            </a:r>
            <a:r>
              <a:rPr lang="en-US" sz="1200" dirty="0" smtClean="0"/>
              <a:t>is an</a:t>
            </a:r>
            <a:r>
              <a:rPr lang="en-US" sz="1200" baseline="0" dirty="0" smtClean="0"/>
              <a:t> </a:t>
            </a:r>
            <a:r>
              <a:rPr lang="en-US" sz="1200" baseline="0" dirty="0" err="1" smtClean="0"/>
              <a:t>AplusBug</a:t>
            </a:r>
            <a:r>
              <a:rPr lang="en-US" sz="1200" dirty="0" smtClean="0"/>
              <a:t> reference.  </a:t>
            </a:r>
            <a:br>
              <a:rPr lang="en-US" sz="1200" dirty="0" smtClean="0"/>
            </a:br>
            <a:r>
              <a:rPr lang="en-US" sz="1200" dirty="0" smtClean="0">
                <a:latin typeface="Courier New" pitchFamily="49" charset="0"/>
              </a:rPr>
              <a:t>new </a:t>
            </a:r>
            <a:r>
              <a:rPr lang="en-US" sz="1200" dirty="0" err="1" smtClean="0">
                <a:latin typeface="Courier New" pitchFamily="49" charset="0"/>
              </a:rPr>
              <a:t>AplusBug</a:t>
            </a:r>
            <a:r>
              <a:rPr lang="en-US" sz="1200" dirty="0" smtClean="0">
                <a:latin typeface="Courier New" pitchFamily="49" charset="0"/>
              </a:rPr>
              <a:t>()</a:t>
            </a:r>
            <a:r>
              <a:rPr lang="en-US" sz="1200" dirty="0" smtClean="0"/>
              <a:t> creates a new </a:t>
            </a:r>
            <a:r>
              <a:rPr lang="en-US" sz="1200" dirty="0" err="1" smtClean="0"/>
              <a:t>AplusBug</a:t>
            </a:r>
            <a:r>
              <a:rPr lang="en-US" sz="1200" dirty="0" smtClean="0"/>
              <a:t> Object out in memory. </a:t>
            </a:r>
          </a:p>
          <a:p>
            <a:r>
              <a:rPr lang="en-US" sz="1200" dirty="0" smtClean="0">
                <a:latin typeface="Courier New" pitchFamily="49" charset="0"/>
              </a:rPr>
              <a:t>dude</a:t>
            </a:r>
            <a:r>
              <a:rPr lang="en-US" sz="1200" dirty="0" smtClean="0"/>
              <a:t> stores the location of that new </a:t>
            </a:r>
            <a:r>
              <a:rPr lang="en-US" sz="1200" dirty="0" err="1" smtClean="0"/>
              <a:t>AplusBug</a:t>
            </a:r>
            <a:r>
              <a:rPr lang="en-US" sz="1200" dirty="0" smtClean="0"/>
              <a:t> Object.</a:t>
            </a:r>
          </a:p>
          <a:p>
            <a:endParaRPr lang="en-US" dirty="0"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bwMode="auto">
          <a:xfrm>
            <a:off x="1257300" y="720725"/>
            <a:ext cx="4800600" cy="3600450"/>
          </a:xfrm>
          <a:prstGeom prst="rect">
            <a:avLst/>
          </a:prstGeom>
          <a:noFill/>
          <a:ln>
            <a:solidFill>
              <a:srgbClr val="000000"/>
            </a:solidFill>
            <a:miter lim="800000"/>
            <a:headEnd/>
            <a:tailEnd/>
          </a:ln>
        </p:spPr>
      </p:sp>
      <p:sp>
        <p:nvSpPr>
          <p:cNvPr id="57347" name="Rectangle 3"/>
          <p:cNvSpPr>
            <a:spLocks noGrp="1" noChangeArrowheads="1"/>
          </p:cNvSpPr>
          <p:nvPr>
            <p:ph type="body" idx="1"/>
          </p:nvPr>
        </p:nvSpPr>
        <p:spPr bwMode="auto">
          <a:xfrm>
            <a:off x="731520" y="4560570"/>
            <a:ext cx="5852160" cy="4320540"/>
          </a:xfrm>
          <a:prstGeom prst="rect">
            <a:avLst/>
          </a:prstGeom>
          <a:noFill/>
          <a:ln>
            <a:miter lim="800000"/>
            <a:headEnd/>
            <a:tailEnd/>
          </a:ln>
        </p:spPr>
        <p:txBody>
          <a:bodyPr lIns="96661" tIns="48331" rIns="96661" bIns="48331"/>
          <a:lstStyle/>
          <a:p>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a:noFill/>
          <a:ln/>
        </p:spPr>
        <p:txBody>
          <a:bodyPr/>
          <a:lstStyle/>
          <a:p>
            <a:r>
              <a:rPr lang="en-US" sz="1600" smtClean="0"/>
              <a:t>Methods store commands / program statements.  When called, the code inside the method is activated.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p:spPr>
        <p:txBody>
          <a:bodyPr/>
          <a:lstStyle/>
          <a:p>
            <a:endParaRPr lang="en-US" sz="1600"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a:noFill/>
          <a:ln/>
        </p:spPr>
        <p:txBody>
          <a:bodyPr/>
          <a:lstStyle/>
          <a:p>
            <a:r>
              <a:rPr lang="en-US" sz="1600" dirty="0" smtClean="0"/>
              <a:t>The speak method shown above contains a single </a:t>
            </a:r>
            <a:r>
              <a:rPr lang="en-US" sz="1600" dirty="0" err="1" smtClean="0">
                <a:latin typeface="Courier New" pitchFamily="49" charset="0"/>
              </a:rPr>
              <a:t>println</a:t>
            </a:r>
            <a:r>
              <a:rPr lang="en-US" sz="1600" dirty="0" smtClean="0"/>
              <a:t> command.  </a:t>
            </a:r>
          </a:p>
          <a:p>
            <a:r>
              <a:rPr lang="en-US" sz="1600" dirty="0" smtClean="0"/>
              <a:t>The speak method would print out  chirp-chirp on the console window.</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ChangeArrowheads="1" noTextEdit="1"/>
          </p:cNvSpPr>
          <p:nvPr>
            <p:ph type="sldImg"/>
          </p:nvPr>
        </p:nvSpPr>
        <p:spPr>
          <a:xfrm>
            <a:off x="1296988" y="708025"/>
            <a:ext cx="4797425" cy="3597275"/>
          </a:xfrm>
          <a:ln/>
        </p:spPr>
      </p:sp>
      <p:sp>
        <p:nvSpPr>
          <p:cNvPr id="62467" name="Rectangle 3"/>
          <p:cNvSpPr>
            <a:spLocks noGrp="1" noChangeArrowheads="1"/>
          </p:cNvSpPr>
          <p:nvPr>
            <p:ph type="body" idx="1"/>
          </p:nvPr>
        </p:nvSpPr>
        <p:spPr>
          <a:noFill/>
          <a:ln/>
        </p:spPr>
        <p:txBody>
          <a:bodyPr/>
          <a:lstStyle/>
          <a:p>
            <a:r>
              <a:rPr lang="en-US" sz="1600" dirty="0" smtClean="0"/>
              <a:t>A method has a signature.  The signature provides information about the method.  The name is most used and recognizable part of the signature.  The method shown above is named speak.  The return type states what the method will return.  Method speak has a return type of void which means the method does not return a value.   The access of method speak</a:t>
            </a:r>
            <a:r>
              <a:rPr lang="en-US" sz="1600" baseline="0" dirty="0" smtClean="0"/>
              <a:t> </a:t>
            </a:r>
            <a:r>
              <a:rPr lang="en-US" sz="1600" dirty="0" smtClean="0"/>
              <a:t>is public.  This states that the method speak</a:t>
            </a:r>
            <a:r>
              <a:rPr lang="en-US" sz="1600" baseline="0" dirty="0" smtClean="0"/>
              <a:t> </a:t>
            </a:r>
            <a:r>
              <a:rPr lang="en-US" sz="1600" dirty="0" smtClean="0"/>
              <a:t>can be called from any location.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Rot="1" noChangeAspect="1" noChangeArrowheads="1" noTextEdit="1"/>
          </p:cNvSpPr>
          <p:nvPr>
            <p:ph type="sldImg"/>
          </p:nvPr>
        </p:nvSpPr>
        <p:spPr>
          <a:ln/>
        </p:spPr>
      </p:sp>
      <p:sp>
        <p:nvSpPr>
          <p:cNvPr id="63491" name="Rectangle 3"/>
          <p:cNvSpPr>
            <a:spLocks noGrp="1" noChangeArrowheads="1"/>
          </p:cNvSpPr>
          <p:nvPr>
            <p:ph type="body" idx="1"/>
          </p:nvPr>
        </p:nvSpPr>
        <p:spPr>
          <a:xfrm>
            <a:off x="731838" y="4560888"/>
            <a:ext cx="5851525" cy="4321175"/>
          </a:xfrm>
          <a:noFill/>
          <a:ln/>
        </p:spPr>
        <p:txBody>
          <a:bodyPr/>
          <a:lstStyle/>
          <a:p>
            <a:r>
              <a:rPr lang="en-US" sz="1600" smtClean="0"/>
              <a:t>Public access simply means the member can be used anywhere inside or outside of the class.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a:noFill/>
          <a:ln/>
        </p:spPr>
        <p:txBody>
          <a:bodyPr/>
          <a:lstStyle/>
          <a:p>
            <a:r>
              <a:rPr lang="en-US" sz="1600" smtClean="0"/>
              <a:t>In the </a:t>
            </a:r>
            <a:r>
              <a:rPr lang="en-US" sz="1600" smtClean="0">
                <a:latin typeface="Courier New" pitchFamily="49" charset="0"/>
              </a:rPr>
              <a:t>Turkey</a:t>
            </a:r>
            <a:r>
              <a:rPr lang="en-US" sz="1600" smtClean="0"/>
              <a:t> example, </a:t>
            </a:r>
            <a:r>
              <a:rPr lang="en-US" sz="1600" smtClean="0">
                <a:latin typeface="Courier New" pitchFamily="49" charset="0"/>
              </a:rPr>
              <a:t>speak</a:t>
            </a:r>
            <a:r>
              <a:rPr lang="en-US" sz="1600" smtClean="0"/>
              <a:t> is called which prints out gobble-gobble.  sayName is called which prints out big bird.</a:t>
            </a:r>
          </a:p>
          <a:p>
            <a:r>
              <a:rPr lang="en-US" sz="1600" smtClean="0"/>
              <a:t>Then, speak is called again to print out gobble-gobble followed by a call to sayName to print big bird again.  Last, speak is called to print out gobble-gobble.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a:ln/>
        </p:spPr>
      </p:sp>
      <p:sp>
        <p:nvSpPr>
          <p:cNvPr id="67587" name="Rectangle 3"/>
          <p:cNvSpPr>
            <a:spLocks noGrp="1" noChangeArrowheads="1"/>
          </p:cNvSpPr>
          <p:nvPr>
            <p:ph type="body" idx="1"/>
          </p:nvPr>
        </p:nvSpPr>
        <p:spPr>
          <a:noFill/>
          <a:ln/>
        </p:spPr>
        <p:txBody>
          <a:bodyPr/>
          <a:lstStyle/>
          <a:p>
            <a:endParaRPr lang="en-US" sz="1600"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p:nvPr>
        </p:nvSpPr>
        <p:spPr>
          <a:ln/>
        </p:spPr>
      </p:sp>
      <p:sp>
        <p:nvSpPr>
          <p:cNvPr id="69635"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bwMode="auto">
          <a:xfrm>
            <a:off x="1257300" y="720725"/>
            <a:ext cx="4800600" cy="3600450"/>
          </a:xfrm>
          <a:prstGeom prst="rect">
            <a:avLst/>
          </a:prstGeom>
          <a:noFill/>
          <a:ln>
            <a:solidFill>
              <a:srgbClr val="000000"/>
            </a:solidFill>
            <a:miter lim="800000"/>
            <a:headEnd/>
            <a:tailEnd/>
          </a:ln>
        </p:spPr>
      </p:sp>
      <p:sp>
        <p:nvSpPr>
          <p:cNvPr id="57347" name="Rectangle 3"/>
          <p:cNvSpPr>
            <a:spLocks noGrp="1" noChangeArrowheads="1"/>
          </p:cNvSpPr>
          <p:nvPr>
            <p:ph type="body" idx="1"/>
          </p:nvPr>
        </p:nvSpPr>
        <p:spPr bwMode="auto">
          <a:xfrm>
            <a:off x="731520" y="4560570"/>
            <a:ext cx="5852160" cy="4320540"/>
          </a:xfrm>
          <a:prstGeom prst="rect">
            <a:avLst/>
          </a:prstGeom>
          <a:noFill/>
          <a:ln>
            <a:miter lim="800000"/>
            <a:headEnd/>
            <a:tailEnd/>
          </a:ln>
        </p:spPr>
        <p:txBody>
          <a:bodyPr lIns="96661" tIns="48331" rIns="96661" bIns="48331"/>
          <a:lstStyle/>
          <a:p>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ln/>
        </p:spPr>
      </p:sp>
      <p:sp>
        <p:nvSpPr>
          <p:cNvPr id="71683" name="Rectangle 3"/>
          <p:cNvSpPr>
            <a:spLocks noGrp="1" noChangeArrowheads="1"/>
          </p:cNvSpPr>
          <p:nvPr>
            <p:ph type="body" idx="1"/>
          </p:nvPr>
        </p:nvSpPr>
        <p:spPr>
          <a:xfrm>
            <a:off x="731838" y="4560888"/>
            <a:ext cx="5851525" cy="4321175"/>
          </a:xfrm>
          <a:noFill/>
          <a:ln/>
        </p:spPr>
        <p:txBody>
          <a:bodyPr/>
          <a:lstStyle/>
          <a:p>
            <a:r>
              <a:rPr lang="en-US" sz="1600" smtClean="0"/>
              <a:t>Constructors are used to initialize all of the data/properties inside the class.   Constructors ensure that the Object is ready for use.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ChangeArrowheads="1" noTextEdit="1"/>
          </p:cNvSpPr>
          <p:nvPr>
            <p:ph type="sldImg"/>
          </p:nvPr>
        </p:nvSpPr>
        <p:spPr>
          <a:xfrm>
            <a:off x="1260475" y="720725"/>
            <a:ext cx="4795838" cy="3597275"/>
          </a:xfrm>
          <a:ln/>
        </p:spPr>
      </p:sp>
      <p:sp>
        <p:nvSpPr>
          <p:cNvPr id="72707" name="Rectangle 3"/>
          <p:cNvSpPr>
            <a:spLocks noGrp="1" noChangeArrowheads="1"/>
          </p:cNvSpPr>
          <p:nvPr>
            <p:ph type="body" idx="1"/>
          </p:nvPr>
        </p:nvSpPr>
        <p:spPr>
          <a:noFill/>
          <a:ln/>
        </p:spPr>
        <p:txBody>
          <a:bodyPr/>
          <a:lstStyle/>
          <a:p>
            <a:r>
              <a:rPr lang="en-US" sz="1600" smtClean="0">
                <a:latin typeface="Courier New" pitchFamily="49" charset="0"/>
                <a:cs typeface="Courier New" pitchFamily="49" charset="0"/>
              </a:rPr>
              <a:t>Scanner</a:t>
            </a:r>
            <a:r>
              <a:rPr lang="en-US" sz="1600" smtClean="0"/>
              <a:t> is a class which must be instantiated before it can be used.  In other words, you must make a new </a:t>
            </a:r>
            <a:r>
              <a:rPr lang="en-US" sz="1600" smtClean="0">
                <a:latin typeface="Courier New" pitchFamily="49" charset="0"/>
                <a:cs typeface="Courier New" pitchFamily="49" charset="0"/>
              </a:rPr>
              <a:t>Scanner</a:t>
            </a:r>
            <a:r>
              <a:rPr lang="en-US" sz="1600" smtClean="0"/>
              <a:t> if you want to use </a:t>
            </a:r>
            <a:r>
              <a:rPr lang="en-US" sz="1600" smtClean="0">
                <a:latin typeface="Courier New" pitchFamily="49" charset="0"/>
                <a:cs typeface="Courier New" pitchFamily="49" charset="0"/>
              </a:rPr>
              <a:t>Scanner</a:t>
            </a:r>
            <a:r>
              <a:rPr lang="en-US" sz="1600" smtClean="0"/>
              <a:t>.   A reference must be used to store the location in memory of the </a:t>
            </a:r>
            <a:r>
              <a:rPr lang="en-US" sz="1600" smtClean="0">
                <a:latin typeface="Courier New" pitchFamily="49" charset="0"/>
                <a:cs typeface="Courier New" pitchFamily="49" charset="0"/>
              </a:rPr>
              <a:t>Scanner</a:t>
            </a:r>
            <a:r>
              <a:rPr lang="en-US" sz="1600" smtClean="0"/>
              <a:t> object created.  </a:t>
            </a:r>
            <a:br>
              <a:rPr lang="en-US" sz="1600" smtClean="0"/>
            </a:br>
            <a:endParaRPr lang="en-US" sz="1600" smtClean="0"/>
          </a:p>
          <a:p>
            <a:r>
              <a:rPr lang="en-US" sz="1600" smtClean="0">
                <a:latin typeface="Courier New" pitchFamily="49" charset="0"/>
                <a:cs typeface="Courier New" pitchFamily="49" charset="0"/>
              </a:rPr>
              <a:t>System.in</a:t>
            </a:r>
            <a:r>
              <a:rPr lang="en-US" sz="1600" smtClean="0"/>
              <a:t> is the parameter passed to the </a:t>
            </a:r>
            <a:r>
              <a:rPr lang="en-US" sz="1600" smtClean="0">
                <a:latin typeface="Courier New" pitchFamily="49" charset="0"/>
                <a:cs typeface="Courier New" pitchFamily="49" charset="0"/>
              </a:rPr>
              <a:t>Scanner</a:t>
            </a:r>
            <a:r>
              <a:rPr lang="en-US" sz="1600" smtClean="0"/>
              <a:t> constructor so that Java will know to connect the new </a:t>
            </a:r>
            <a:r>
              <a:rPr lang="en-US" sz="1600" smtClean="0">
                <a:latin typeface="Courier New" pitchFamily="49" charset="0"/>
                <a:cs typeface="Courier New" pitchFamily="49" charset="0"/>
              </a:rPr>
              <a:t>Scanner</a:t>
            </a:r>
            <a:r>
              <a:rPr lang="en-US" sz="1600" smtClean="0"/>
              <a:t> to the keyboard.  keyboard is a reference that will store the location of newly created </a:t>
            </a:r>
            <a:r>
              <a:rPr lang="en-US" sz="1600" smtClean="0">
                <a:latin typeface="Courier New" pitchFamily="49" charset="0"/>
                <a:cs typeface="Courier New" pitchFamily="49" charset="0"/>
              </a:rPr>
              <a:t>Scanner</a:t>
            </a:r>
            <a:r>
              <a:rPr lang="en-US" sz="1600" smtClean="0"/>
              <a:t> object.</a:t>
            </a:r>
          </a:p>
          <a:p>
            <a:endParaRPr 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a:ln/>
        </p:spPr>
      </p:sp>
      <p:sp>
        <p:nvSpPr>
          <p:cNvPr id="73731" name="Rectangle 3"/>
          <p:cNvSpPr>
            <a:spLocks noGrp="1" noChangeArrowheads="1"/>
          </p:cNvSpPr>
          <p:nvPr>
            <p:ph type="body" idx="1"/>
          </p:nvPr>
        </p:nvSpPr>
        <p:spPr>
          <a:xfrm>
            <a:off x="731838" y="4560888"/>
            <a:ext cx="5851525" cy="4321175"/>
          </a:xfrm>
          <a:noFill/>
          <a:ln/>
        </p:spPr>
        <p:txBody>
          <a:bodyPr/>
          <a:lstStyle/>
          <a:p>
            <a:r>
              <a:rPr lang="en-US" sz="1600" smtClean="0"/>
              <a:t>When a </a:t>
            </a:r>
            <a:r>
              <a:rPr lang="en-US" sz="1600" smtClean="0">
                <a:latin typeface="Courier New" pitchFamily="49" charset="0"/>
              </a:rPr>
              <a:t>GraphicsRunner</a:t>
            </a:r>
            <a:r>
              <a:rPr lang="en-US" sz="1600" smtClean="0"/>
              <a:t> class is instantiated, the size of the JFrame is set and the visibility is also set.  The </a:t>
            </a:r>
            <a:r>
              <a:rPr lang="en-US" sz="1600" smtClean="0">
                <a:latin typeface="Courier New" pitchFamily="49" charset="0"/>
              </a:rPr>
              <a:t>setSize()</a:t>
            </a:r>
            <a:r>
              <a:rPr lang="en-US" sz="1600" smtClean="0"/>
              <a:t> method sets the width and height of the JFrame.  The </a:t>
            </a:r>
            <a:r>
              <a:rPr lang="en-US" sz="1600" smtClean="0">
                <a:latin typeface="Courier New" pitchFamily="49" charset="0"/>
              </a:rPr>
              <a:t>setSize()</a:t>
            </a:r>
            <a:r>
              <a:rPr lang="en-US" sz="1600" smtClean="0"/>
              <a:t> method tells the simply to either show the JFrame or hide the Frame.   </a:t>
            </a:r>
          </a:p>
          <a:p>
            <a:endParaRPr lang="en-US" sz="1600" smtClean="0"/>
          </a:p>
          <a:p>
            <a:r>
              <a:rPr lang="en-US" sz="1600" smtClean="0"/>
              <a:t>The add() method adds a Component to the JFrame.  A new </a:t>
            </a:r>
            <a:r>
              <a:rPr lang="en-US" sz="1600" smtClean="0">
                <a:latin typeface="Courier New" pitchFamily="49" charset="0"/>
                <a:cs typeface="Courier New" pitchFamily="49" charset="0"/>
              </a:rPr>
              <a:t>Circles()</a:t>
            </a:r>
            <a:r>
              <a:rPr lang="en-US" sz="1600" smtClean="0"/>
              <a:t> Object is being instantiated and added to the JFrame.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spect="1" noChangeArrowheads="1" noTextEdit="1"/>
          </p:cNvSpPr>
          <p:nvPr>
            <p:ph type="sldImg"/>
          </p:nvPr>
        </p:nvSpPr>
        <p:spPr>
          <a:ln/>
        </p:spPr>
      </p:sp>
      <p:sp>
        <p:nvSpPr>
          <p:cNvPr id="74755" name="Rectangle 3"/>
          <p:cNvSpPr>
            <a:spLocks noGrp="1" noChangeArrowheads="1"/>
          </p:cNvSpPr>
          <p:nvPr>
            <p:ph type="body" idx="1"/>
          </p:nvPr>
        </p:nvSpPr>
        <p:spPr>
          <a:xfrm>
            <a:off x="731838" y="4560888"/>
            <a:ext cx="5851525" cy="4321175"/>
          </a:xfrm>
          <a:noFill/>
          <a:ln/>
        </p:spPr>
        <p:txBody>
          <a:bodyPr/>
          <a:lstStyle/>
          <a:p>
            <a:r>
              <a:rPr lang="en-US" sz="1600" smtClean="0">
                <a:latin typeface="Courier New" pitchFamily="49" charset="0"/>
              </a:rPr>
              <a:t>Frame / JFrame</a:t>
            </a:r>
            <a:r>
              <a:rPr lang="en-US" sz="1600" smtClean="0"/>
              <a:t> Objects are used to hold up / display </a:t>
            </a:r>
            <a:r>
              <a:rPr lang="en-US" sz="1600" smtClean="0">
                <a:latin typeface="Courier New" pitchFamily="49" charset="0"/>
              </a:rPr>
              <a:t>Canvas</a:t>
            </a:r>
            <a:r>
              <a:rPr lang="en-US" sz="1600" smtClean="0"/>
              <a:t> and </a:t>
            </a:r>
            <a:r>
              <a:rPr lang="en-US" sz="1600" smtClean="0">
                <a:latin typeface="Courier New" pitchFamily="49" charset="0"/>
              </a:rPr>
              <a:t>JPanel</a:t>
            </a:r>
            <a:r>
              <a:rPr lang="en-US" sz="1600" smtClean="0"/>
              <a:t> Objects.   All drawing occurs on the </a:t>
            </a:r>
            <a:r>
              <a:rPr lang="en-US" sz="1600" smtClean="0">
                <a:latin typeface="Courier New" pitchFamily="49" charset="0"/>
              </a:rPr>
              <a:t>Canvas / JPanel</a:t>
            </a:r>
            <a:r>
              <a:rPr lang="en-US" sz="1600" smtClean="0"/>
              <a:t>.  The </a:t>
            </a:r>
            <a:r>
              <a:rPr lang="en-US" sz="1600" smtClean="0">
                <a:latin typeface="Courier New" pitchFamily="49" charset="0"/>
              </a:rPr>
              <a:t>JFrame </a:t>
            </a:r>
            <a:r>
              <a:rPr lang="en-US" sz="1600" smtClean="0"/>
              <a:t>simply provides a place to show </a:t>
            </a:r>
            <a:r>
              <a:rPr lang="en-US" sz="1600" smtClean="0">
                <a:latin typeface="Courier New" pitchFamily="49" charset="0"/>
              </a:rPr>
              <a:t>Canvas / JPanel</a:t>
            </a:r>
            <a:r>
              <a:rPr lang="en-US" sz="1600" smtClean="0"/>
              <a:t> after the drawing has occurred.</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ChangeArrowheads="1" noTextEdit="1"/>
          </p:cNvSpPr>
          <p:nvPr>
            <p:ph type="sldImg"/>
          </p:nvPr>
        </p:nvSpPr>
        <p:spPr>
          <a:ln/>
        </p:spPr>
      </p:sp>
      <p:sp>
        <p:nvSpPr>
          <p:cNvPr id="75779" name="Rectangle 3"/>
          <p:cNvSpPr>
            <a:spLocks noGrp="1" noChangeArrowheads="1"/>
          </p:cNvSpPr>
          <p:nvPr>
            <p:ph type="body" idx="1"/>
          </p:nvPr>
        </p:nvSpPr>
        <p:spPr>
          <a:xfrm>
            <a:off x="731838" y="4560888"/>
            <a:ext cx="5851525" cy="4321175"/>
          </a:xfrm>
          <a:noFill/>
          <a:ln/>
        </p:spPr>
        <p:txBody>
          <a:bodyPr/>
          <a:lstStyle/>
          <a:p>
            <a:r>
              <a:rPr lang="en-US" sz="1600" smtClean="0">
                <a:latin typeface="Courier New" pitchFamily="49" charset="0"/>
              </a:rPr>
              <a:t>paint()</a:t>
            </a:r>
            <a:r>
              <a:rPr lang="en-US" sz="1600" smtClean="0"/>
              <a:t> is the method typically used to draw Graphics on the window.  There are other methods that could be used, but </a:t>
            </a:r>
            <a:r>
              <a:rPr lang="en-US" sz="1600" smtClean="0">
                <a:latin typeface="Courier New" pitchFamily="49" charset="0"/>
              </a:rPr>
              <a:t>paint()</a:t>
            </a:r>
            <a:r>
              <a:rPr lang="en-US" sz="1600" smtClean="0"/>
              <a:t> is used most frequently.</a:t>
            </a:r>
            <a:br>
              <a:rPr lang="en-US" sz="1600" smtClean="0"/>
            </a:br>
            <a:endParaRPr lang="en-US" sz="1600" smtClean="0"/>
          </a:p>
          <a:p>
            <a:r>
              <a:rPr lang="en-US" sz="1600" smtClean="0">
                <a:latin typeface="Courier New" pitchFamily="49" charset="0"/>
              </a:rPr>
              <a:t>paint()</a:t>
            </a:r>
            <a:r>
              <a:rPr lang="en-US" sz="1600" smtClean="0"/>
              <a:t> is called when the window needs to be redrawn.  If an event occurs that requires the window be updated, the system will call </a:t>
            </a:r>
            <a:r>
              <a:rPr lang="en-US" sz="1600" smtClean="0">
                <a:latin typeface="Courier New" pitchFamily="49" charset="0"/>
              </a:rPr>
              <a:t>paint()</a:t>
            </a:r>
            <a:r>
              <a:rPr lang="en-US" sz="1600" smtClean="0"/>
              <a:t>.   </a:t>
            </a:r>
          </a:p>
          <a:p>
            <a:r>
              <a:rPr lang="en-US" sz="1600" smtClean="0">
                <a:latin typeface="Courier New" pitchFamily="49" charset="0"/>
              </a:rPr>
              <a:t/>
            </a:r>
            <a:br>
              <a:rPr lang="en-US" sz="1600" smtClean="0">
                <a:latin typeface="Courier New" pitchFamily="49" charset="0"/>
              </a:rPr>
            </a:br>
            <a:r>
              <a:rPr lang="en-US" sz="1600" smtClean="0">
                <a:latin typeface="Courier New" pitchFamily="49" charset="0"/>
              </a:rPr>
              <a:t>paint()</a:t>
            </a:r>
            <a:r>
              <a:rPr lang="en-US" sz="1600" smtClean="0"/>
              <a:t> can be called without a Graphics parameter by simply using the </a:t>
            </a:r>
            <a:r>
              <a:rPr lang="en-US" sz="1600" smtClean="0">
                <a:latin typeface="Courier New" pitchFamily="49" charset="0"/>
              </a:rPr>
              <a:t>repaint()</a:t>
            </a:r>
            <a:r>
              <a:rPr lang="en-US" sz="1600" smtClean="0"/>
              <a:t> method.</a:t>
            </a:r>
          </a:p>
          <a:p>
            <a:endParaRPr lang="en-US" sz="1600" smtClean="0"/>
          </a:p>
          <a:p>
            <a:r>
              <a:rPr lang="en-US" sz="1600" smtClean="0">
                <a:latin typeface="Courier New" pitchFamily="49" charset="0"/>
                <a:cs typeface="Courier New" pitchFamily="49" charset="0"/>
              </a:rPr>
              <a:t>paintComponent()</a:t>
            </a:r>
            <a:r>
              <a:rPr lang="en-US" sz="1600" smtClean="0"/>
              <a:t> is another method used for drawing / redrawing the window.  </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a:ln/>
        </p:spPr>
      </p:sp>
      <p:sp>
        <p:nvSpPr>
          <p:cNvPr id="76803"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bwMode="auto">
          <a:xfrm>
            <a:off x="1257300" y="720725"/>
            <a:ext cx="4800600" cy="3600450"/>
          </a:xfrm>
          <a:prstGeom prst="rect">
            <a:avLst/>
          </a:prstGeom>
          <a:noFill/>
          <a:ln>
            <a:solidFill>
              <a:srgbClr val="000000"/>
            </a:solidFill>
            <a:miter lim="800000"/>
            <a:headEnd/>
            <a:tailEnd/>
          </a:ln>
        </p:spPr>
      </p:sp>
      <p:sp>
        <p:nvSpPr>
          <p:cNvPr id="57347" name="Rectangle 3"/>
          <p:cNvSpPr>
            <a:spLocks noGrp="1" noChangeArrowheads="1"/>
          </p:cNvSpPr>
          <p:nvPr>
            <p:ph type="body" idx="1"/>
          </p:nvPr>
        </p:nvSpPr>
        <p:spPr bwMode="auto">
          <a:xfrm>
            <a:off x="731520" y="4560570"/>
            <a:ext cx="5852160" cy="4320540"/>
          </a:xfrm>
          <a:prstGeom prst="rect">
            <a:avLst/>
          </a:prstGeom>
          <a:noFill/>
          <a:ln>
            <a:miter lim="800000"/>
            <a:headEnd/>
            <a:tailEnd/>
          </a:ln>
        </p:spPr>
        <p:txBody>
          <a:bodyPr lIns="96661" tIns="48331" rIns="96661" bIns="48331"/>
          <a:lstStyle/>
          <a:p>
            <a:endParaRPr 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a:ln/>
        </p:spPr>
      </p:sp>
      <p:sp>
        <p:nvSpPr>
          <p:cNvPr id="78851" name="Rectangle 3"/>
          <p:cNvSpPr>
            <a:spLocks noGrp="1" noChangeArrowheads="1"/>
          </p:cNvSpPr>
          <p:nvPr>
            <p:ph type="body" idx="1"/>
          </p:nvPr>
        </p:nvSpPr>
        <p:spPr>
          <a:noFill/>
          <a:ln/>
        </p:spPr>
        <p:txBody>
          <a:bodyPr/>
          <a:lstStyle/>
          <a:p>
            <a:r>
              <a:rPr lang="en-US" sz="1600" smtClean="0"/>
              <a:t>The Java Graphics class has many useful methods.  The chart above lists the most common methods we will be using.  </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a:ln/>
        </p:spPr>
      </p:sp>
      <p:sp>
        <p:nvSpPr>
          <p:cNvPr id="79875" name="Rectangle 3"/>
          <p:cNvSpPr>
            <a:spLocks noGrp="1" noChangeArrowheads="1"/>
          </p:cNvSpPr>
          <p:nvPr>
            <p:ph type="body" idx="1"/>
          </p:nvPr>
        </p:nvSpPr>
        <p:spPr>
          <a:noFill/>
          <a:ln/>
        </p:spPr>
        <p:txBody>
          <a:bodyPr/>
          <a:lstStyle/>
          <a:p>
            <a:r>
              <a:rPr lang="en-US" sz="1600" smtClean="0"/>
              <a:t>Most, if not all, of the </a:t>
            </a:r>
            <a:r>
              <a:rPr lang="en-US" sz="1600" smtClean="0">
                <a:latin typeface="Courier New" pitchFamily="49" charset="0"/>
              </a:rPr>
              <a:t>Graphics</a:t>
            </a:r>
            <a:r>
              <a:rPr lang="en-US" sz="1600" smtClean="0"/>
              <a:t> class methods require parameters.   The parameters communicate to the </a:t>
            </a:r>
            <a:r>
              <a:rPr lang="en-US" sz="1600" smtClean="0">
                <a:latin typeface="Courier New" pitchFamily="49" charset="0"/>
              </a:rPr>
              <a:t>Graphics</a:t>
            </a:r>
            <a:r>
              <a:rPr lang="en-US" sz="1600" smtClean="0"/>
              <a:t>  methods information about what needs to be done.  The </a:t>
            </a:r>
            <a:r>
              <a:rPr lang="en-US" sz="1600" smtClean="0">
                <a:latin typeface="Courier New" pitchFamily="49" charset="0"/>
              </a:rPr>
              <a:t>setColor()</a:t>
            </a:r>
            <a:r>
              <a:rPr lang="en-US" sz="1600" smtClean="0"/>
              <a:t> method changes the current drawing color to the color passed in.  </a:t>
            </a:r>
            <a:r>
              <a:rPr lang="en-US" sz="1600" smtClean="0">
                <a:latin typeface="Courier New" pitchFamily="49" charset="0"/>
              </a:rPr>
              <a:t>setColor()</a:t>
            </a:r>
            <a:r>
              <a:rPr lang="en-US" sz="1600" smtClean="0"/>
              <a:t> cannot be called without a color parameter.</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ln/>
        </p:spPr>
      </p:sp>
      <p:sp>
        <p:nvSpPr>
          <p:cNvPr id="80899" name="Rectangle 3"/>
          <p:cNvSpPr>
            <a:spLocks noGrp="1" noChangeArrowheads="1"/>
          </p:cNvSpPr>
          <p:nvPr>
            <p:ph type="body" idx="1"/>
          </p:nvPr>
        </p:nvSpPr>
        <p:spPr>
          <a:noFill/>
          <a:ln/>
        </p:spPr>
        <p:txBody>
          <a:bodyPr/>
          <a:lstStyle/>
          <a:p>
            <a:r>
              <a:rPr lang="en-US" sz="1600" smtClean="0"/>
              <a:t>The </a:t>
            </a:r>
            <a:r>
              <a:rPr lang="en-US" sz="1600" smtClean="0">
                <a:latin typeface="Courier New" pitchFamily="49" charset="0"/>
              </a:rPr>
              <a:t>fillRect()</a:t>
            </a:r>
            <a:r>
              <a:rPr lang="en-US" sz="1600" smtClean="0"/>
              <a:t> method requires four pieces of information. </a:t>
            </a:r>
            <a:r>
              <a:rPr lang="en-US" sz="1600" smtClean="0">
                <a:latin typeface="Courier New" pitchFamily="49" charset="0"/>
              </a:rPr>
              <a:t>fillRect()</a:t>
            </a:r>
            <a:r>
              <a:rPr lang="en-US" sz="1600" smtClean="0"/>
              <a:t> needs an x value, a y value, a width, and a height. </a:t>
            </a:r>
            <a:r>
              <a:rPr lang="en-US" sz="1600" smtClean="0">
                <a:latin typeface="Courier New" pitchFamily="49" charset="0"/>
              </a:rPr>
              <a:t>fillRect()</a:t>
            </a:r>
            <a:r>
              <a:rPr lang="en-US" sz="1600" smtClean="0"/>
              <a:t> will draw a filled rectangle on the window at x,y with height and width as stated by the parameters.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a:ln/>
        </p:spPr>
      </p:sp>
      <p:sp>
        <p:nvSpPr>
          <p:cNvPr id="81923" name="Rectangle 3"/>
          <p:cNvSpPr>
            <a:spLocks noGrp="1" noChangeArrowheads="1"/>
          </p:cNvSpPr>
          <p:nvPr>
            <p:ph type="body" idx="1"/>
          </p:nvPr>
        </p:nvSpPr>
        <p:spPr>
          <a:noFill/>
          <a:ln/>
        </p:spPr>
        <p:txBody>
          <a:bodyPr/>
          <a:lstStyle/>
          <a:p>
            <a:r>
              <a:rPr lang="en-US" sz="1600" smtClean="0"/>
              <a:t>The </a:t>
            </a:r>
            <a:r>
              <a:rPr lang="en-US" sz="1600" smtClean="0">
                <a:latin typeface="Courier New" pitchFamily="49" charset="0"/>
              </a:rPr>
              <a:t>fillRect()</a:t>
            </a:r>
            <a:r>
              <a:rPr lang="en-US" sz="1600" smtClean="0"/>
              <a:t> method requires four pieces of information. </a:t>
            </a:r>
            <a:r>
              <a:rPr lang="en-US" sz="1600" smtClean="0">
                <a:latin typeface="Courier New" pitchFamily="49" charset="0"/>
              </a:rPr>
              <a:t>fillRect()</a:t>
            </a:r>
            <a:r>
              <a:rPr lang="en-US" sz="1600" smtClean="0"/>
              <a:t> needs an x value, a y value, a width, and a height. </a:t>
            </a:r>
            <a:r>
              <a:rPr lang="en-US" sz="1600" smtClean="0">
                <a:latin typeface="Courier New" pitchFamily="49" charset="0"/>
              </a:rPr>
              <a:t>fillRect()</a:t>
            </a:r>
            <a:r>
              <a:rPr lang="en-US" sz="1600" smtClean="0"/>
              <a:t> will draw a filled rectangle on the window at x,y with height and width as stated by the parameters.</a:t>
            </a:r>
          </a:p>
          <a:p>
            <a:endParaRPr 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a:ln/>
        </p:spPr>
      </p:sp>
      <p:sp>
        <p:nvSpPr>
          <p:cNvPr id="82947"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a:ln/>
        </p:spPr>
      </p:sp>
      <p:sp>
        <p:nvSpPr>
          <p:cNvPr id="83971" name="Rectangle 3"/>
          <p:cNvSpPr>
            <a:spLocks noGrp="1" noChangeArrowheads="1"/>
          </p:cNvSpPr>
          <p:nvPr>
            <p:ph type="body" idx="1"/>
          </p:nvPr>
        </p:nvSpPr>
        <p:spPr>
          <a:noFill/>
          <a:ln/>
        </p:spPr>
        <p:txBody>
          <a:bodyPr/>
          <a:lstStyle/>
          <a:p>
            <a:r>
              <a:rPr lang="en-US" sz="1600" smtClean="0"/>
              <a:t>Notice the Graphics screen being used with Graphics class does not use Cartesian coordinates.   X goes across and Y goes down.  X starts at 0 and goes to MAXX which in this case is 640.  Y starts at 0 and goes down to MAXY which in this case is 479.</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ln/>
        </p:spPr>
      </p:sp>
      <p:sp>
        <p:nvSpPr>
          <p:cNvPr id="84995"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ln/>
        </p:spPr>
      </p:sp>
      <p:sp>
        <p:nvSpPr>
          <p:cNvPr id="86019" name="Rectangle 3"/>
          <p:cNvSpPr>
            <a:spLocks noGrp="1" noChangeArrowheads="1"/>
          </p:cNvSpPr>
          <p:nvPr>
            <p:ph type="body" idx="1"/>
          </p:nvPr>
        </p:nvSpPr>
        <p:spPr>
          <a:xfrm>
            <a:off x="731838" y="4560888"/>
            <a:ext cx="5851525" cy="4321175"/>
          </a:xfrm>
          <a:noFill/>
          <a:ln/>
        </p:spPr>
        <p:txBody>
          <a:bodyPr/>
          <a:lstStyle/>
          <a:p>
            <a:r>
              <a:rPr lang="en-US" sz="1600" smtClean="0"/>
              <a:t>The </a:t>
            </a:r>
            <a:r>
              <a:rPr lang="en-US" sz="1600" smtClean="0">
                <a:latin typeface="Courier New" pitchFamily="49" charset="0"/>
              </a:rPr>
              <a:t>paint()</a:t>
            </a:r>
            <a:r>
              <a:rPr lang="en-US" sz="1600" smtClean="0"/>
              <a:t> method is typically doing the most drawing.   Other methods may be called from </a:t>
            </a:r>
            <a:r>
              <a:rPr lang="en-US" sz="1600" smtClean="0">
                <a:latin typeface="Courier New" pitchFamily="49" charset="0"/>
              </a:rPr>
              <a:t>paint()</a:t>
            </a:r>
            <a:r>
              <a:rPr lang="en-US" sz="1600" smtClean="0"/>
              <a:t> as well.</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a:ln/>
        </p:spPr>
      </p:sp>
      <p:sp>
        <p:nvSpPr>
          <p:cNvPr id="87043"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ln/>
        </p:spPr>
      </p:sp>
      <p:sp>
        <p:nvSpPr>
          <p:cNvPr id="89091"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a:ln/>
        </p:spPr>
      </p:sp>
      <p:sp>
        <p:nvSpPr>
          <p:cNvPr id="90115"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ln/>
        </p:spPr>
      </p:sp>
      <p:sp>
        <p:nvSpPr>
          <p:cNvPr id="91139"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p:nvPr>
        </p:nvSpPr>
        <p:spPr>
          <a:ln/>
        </p:spPr>
      </p:sp>
      <p:sp>
        <p:nvSpPr>
          <p:cNvPr id="69635"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Slide Number Placeholder 4"/>
          <p:cNvSpPr>
            <a:spLocks noGrp="1"/>
          </p:cNvSpPr>
          <p:nvPr>
            <p:ph type="sldNum" sz="quarter" idx="11"/>
          </p:nvPr>
        </p:nvSpPr>
        <p:spPr/>
        <p:txBody>
          <a:bodyPr/>
          <a:lstStyle>
            <a:lvl1pPr>
              <a:defRPr/>
            </a:lvl1pPr>
          </a:lstStyle>
          <a:p>
            <a:pPr>
              <a:defRPr/>
            </a:pPr>
            <a:fld id="{9B5D0360-99CC-48AA-9A54-555722556F40}" type="slidenum">
              <a:rPr lang="en-US"/>
              <a:pPr>
                <a:defRPr/>
              </a:pPr>
              <a:t>‹#›</a:t>
            </a:fld>
            <a:endParaRPr lang="en-US"/>
          </a:p>
        </p:txBody>
      </p:sp>
      <p:sp>
        <p:nvSpPr>
          <p:cNvPr id="6" name="Footer Placeholder 5"/>
          <p:cNvSpPr>
            <a:spLocks noGrp="1"/>
          </p:cNvSpPr>
          <p:nvPr>
            <p:ph type="ftr" sz="quarter" idx="12"/>
          </p:nvPr>
        </p:nvSpPr>
        <p:spPr/>
        <p:txBody>
          <a:bodyPr/>
          <a:lstStyle>
            <a:lvl1pPr>
              <a:defRPr b="1">
                <a:latin typeface="Tahoma" pitchFamily="34" charset="0"/>
              </a:defRPr>
            </a:lvl1pPr>
          </a:lstStyle>
          <a:p>
            <a:pPr>
              <a:defRPr/>
            </a:pPr>
            <a:endParaRPr lang="en-US"/>
          </a:p>
          <a:p>
            <a:pPr>
              <a:defRPr/>
            </a:pPr>
            <a:endParaRPr lang="en-US"/>
          </a:p>
          <a:p>
            <a:pPr>
              <a:defRPr/>
            </a:pPr>
            <a:endParaRPr lang="en-US"/>
          </a:p>
          <a:p>
            <a:pPr>
              <a:defRPr/>
            </a:pPr>
            <a:r>
              <a:rPr lang="en-US"/>
              <a:t>© A+ Computer Science  -  www.apluscompsci.com</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Slide Number Placeholder 4"/>
          <p:cNvSpPr>
            <a:spLocks noGrp="1"/>
          </p:cNvSpPr>
          <p:nvPr>
            <p:ph type="sldNum" sz="quarter" idx="11"/>
          </p:nvPr>
        </p:nvSpPr>
        <p:spPr/>
        <p:txBody>
          <a:bodyPr/>
          <a:lstStyle>
            <a:lvl1pPr>
              <a:defRPr/>
            </a:lvl1pPr>
          </a:lstStyle>
          <a:p>
            <a:pPr>
              <a:defRPr/>
            </a:pPr>
            <a:fld id="{EF870980-CC16-4838-83C2-D2956F7C6B0D}" type="slidenum">
              <a:rPr lang="en-US"/>
              <a:pPr>
                <a:defRPr/>
              </a:pPr>
              <a:t>‹#›</a:t>
            </a:fld>
            <a:endParaRPr lang="en-US"/>
          </a:p>
        </p:txBody>
      </p:sp>
      <p:sp>
        <p:nvSpPr>
          <p:cNvPr id="6" name="Footer Placeholder 5"/>
          <p:cNvSpPr>
            <a:spLocks noGrp="1"/>
          </p:cNvSpPr>
          <p:nvPr>
            <p:ph type="ftr" sz="quarter" idx="12"/>
          </p:nvPr>
        </p:nvSpPr>
        <p:spPr/>
        <p:txBody>
          <a:bodyPr/>
          <a:lstStyle>
            <a:lvl1pPr>
              <a:defRPr b="1">
                <a:latin typeface="Tahoma" pitchFamily="34" charset="0"/>
              </a:defRPr>
            </a:lvl1pPr>
          </a:lstStyle>
          <a:p>
            <a:pPr>
              <a:defRPr/>
            </a:pPr>
            <a:endParaRPr lang="en-US"/>
          </a:p>
          <a:p>
            <a:pPr>
              <a:defRPr/>
            </a:pPr>
            <a:endParaRPr lang="en-US"/>
          </a:p>
          <a:p>
            <a:pPr>
              <a:defRPr/>
            </a:pPr>
            <a:endParaRPr lang="en-US"/>
          </a:p>
          <a:p>
            <a:pPr>
              <a:defRPr/>
            </a:pPr>
            <a:r>
              <a:rPr lang="en-US"/>
              <a:t>© A+ Computer Science  -  www.apluscompsci.com</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Slide Number Placeholder 4"/>
          <p:cNvSpPr>
            <a:spLocks noGrp="1"/>
          </p:cNvSpPr>
          <p:nvPr>
            <p:ph type="sldNum" sz="quarter" idx="11"/>
          </p:nvPr>
        </p:nvSpPr>
        <p:spPr/>
        <p:txBody>
          <a:bodyPr/>
          <a:lstStyle>
            <a:lvl1pPr>
              <a:defRPr/>
            </a:lvl1pPr>
          </a:lstStyle>
          <a:p>
            <a:pPr>
              <a:defRPr/>
            </a:pPr>
            <a:fld id="{2FA89CE2-69FA-4111-A7A9-DCBCC27F713E}" type="slidenum">
              <a:rPr lang="en-US"/>
              <a:pPr>
                <a:defRPr/>
              </a:pPr>
              <a:t>‹#›</a:t>
            </a:fld>
            <a:endParaRPr lang="en-US"/>
          </a:p>
        </p:txBody>
      </p:sp>
      <p:sp>
        <p:nvSpPr>
          <p:cNvPr id="6" name="Footer Placeholder 5"/>
          <p:cNvSpPr>
            <a:spLocks noGrp="1"/>
          </p:cNvSpPr>
          <p:nvPr>
            <p:ph type="ftr" sz="quarter" idx="12"/>
          </p:nvPr>
        </p:nvSpPr>
        <p:spPr/>
        <p:txBody>
          <a:bodyPr/>
          <a:lstStyle>
            <a:lvl1pPr>
              <a:defRPr b="1">
                <a:latin typeface="Tahoma" pitchFamily="34" charset="0"/>
              </a:defRPr>
            </a:lvl1pPr>
          </a:lstStyle>
          <a:p>
            <a:pPr>
              <a:defRPr/>
            </a:pPr>
            <a:endParaRPr lang="en-US"/>
          </a:p>
          <a:p>
            <a:pPr>
              <a:defRPr/>
            </a:pPr>
            <a:endParaRPr lang="en-US"/>
          </a:p>
          <a:p>
            <a:pPr>
              <a:defRPr/>
            </a:pPr>
            <a:endParaRPr lang="en-US"/>
          </a:p>
          <a:p>
            <a:pPr>
              <a:defRPr/>
            </a:pPr>
            <a:r>
              <a:rPr lang="en-US"/>
              <a:t>© A+ Computer Science  -  www.apluscompsci.com</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pPr>
              <a:defRPr/>
            </a:pPr>
            <a:endParaRPr lang="en-US"/>
          </a:p>
        </p:txBody>
      </p:sp>
      <p:sp>
        <p:nvSpPr>
          <p:cNvPr id="6" name="Slide Number Placeholder 5"/>
          <p:cNvSpPr>
            <a:spLocks noGrp="1"/>
          </p:cNvSpPr>
          <p:nvPr>
            <p:ph type="sldNum" sz="quarter" idx="11"/>
          </p:nvPr>
        </p:nvSpPr>
        <p:spPr/>
        <p:txBody>
          <a:bodyPr/>
          <a:lstStyle>
            <a:lvl1pPr>
              <a:defRPr/>
            </a:lvl1pPr>
          </a:lstStyle>
          <a:p>
            <a:pPr>
              <a:defRPr/>
            </a:pPr>
            <a:fld id="{1A00CF74-6806-4902-AF02-8C9C79A063E6}" type="slidenum">
              <a:rPr lang="en-US"/>
              <a:pPr>
                <a:defRPr/>
              </a:pPr>
              <a:t>‹#›</a:t>
            </a:fld>
            <a:endParaRPr lang="en-US"/>
          </a:p>
        </p:txBody>
      </p:sp>
      <p:sp>
        <p:nvSpPr>
          <p:cNvPr id="7" name="Footer Placeholder 6"/>
          <p:cNvSpPr>
            <a:spLocks noGrp="1"/>
          </p:cNvSpPr>
          <p:nvPr>
            <p:ph type="ftr" sz="quarter" idx="12"/>
          </p:nvPr>
        </p:nvSpPr>
        <p:spPr/>
        <p:txBody>
          <a:bodyPr/>
          <a:lstStyle>
            <a:lvl1pPr>
              <a:defRPr b="1">
                <a:latin typeface="Tahoma" pitchFamily="34" charset="0"/>
              </a:defRPr>
            </a:lvl1pPr>
          </a:lstStyle>
          <a:p>
            <a:pPr>
              <a:defRPr/>
            </a:pPr>
            <a:endParaRPr lang="en-US"/>
          </a:p>
          <a:p>
            <a:pPr>
              <a:defRPr/>
            </a:pPr>
            <a:endParaRPr lang="en-US"/>
          </a:p>
          <a:p>
            <a:pPr>
              <a:defRPr/>
            </a:pPr>
            <a:endParaRPr lang="en-US"/>
          </a:p>
          <a:p>
            <a:pPr>
              <a:defRPr/>
            </a:pPr>
            <a:r>
              <a:rPr lang="en-US"/>
              <a:t>© A+ Computer Science  -  www.apluscompsci.com</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pPr>
              <a:defRPr/>
            </a:pPr>
            <a:endParaRPr lang="en-US"/>
          </a:p>
        </p:txBody>
      </p:sp>
      <p:sp>
        <p:nvSpPr>
          <p:cNvPr id="8" name="Slide Number Placeholder 7"/>
          <p:cNvSpPr>
            <a:spLocks noGrp="1"/>
          </p:cNvSpPr>
          <p:nvPr>
            <p:ph type="sldNum" sz="quarter" idx="11"/>
          </p:nvPr>
        </p:nvSpPr>
        <p:spPr/>
        <p:txBody>
          <a:bodyPr/>
          <a:lstStyle>
            <a:lvl1pPr>
              <a:defRPr/>
            </a:lvl1pPr>
          </a:lstStyle>
          <a:p>
            <a:pPr>
              <a:defRPr/>
            </a:pPr>
            <a:fld id="{5FE5C902-EB41-4A02-B8BA-66B7844C0556}" type="slidenum">
              <a:rPr lang="en-US"/>
              <a:pPr>
                <a:defRPr/>
              </a:pPr>
              <a:t>‹#›</a:t>
            </a:fld>
            <a:endParaRPr lang="en-US"/>
          </a:p>
        </p:txBody>
      </p:sp>
      <p:sp>
        <p:nvSpPr>
          <p:cNvPr id="9" name="Footer Placeholder 8"/>
          <p:cNvSpPr>
            <a:spLocks noGrp="1"/>
          </p:cNvSpPr>
          <p:nvPr>
            <p:ph type="ftr" sz="quarter" idx="12"/>
          </p:nvPr>
        </p:nvSpPr>
        <p:spPr/>
        <p:txBody>
          <a:bodyPr/>
          <a:lstStyle>
            <a:lvl1pPr>
              <a:defRPr b="1">
                <a:latin typeface="Tahoma" pitchFamily="34" charset="0"/>
              </a:defRPr>
            </a:lvl1pPr>
          </a:lstStyle>
          <a:p>
            <a:pPr>
              <a:defRPr/>
            </a:pPr>
            <a:endParaRPr lang="en-US"/>
          </a:p>
          <a:p>
            <a:pPr>
              <a:defRPr/>
            </a:pPr>
            <a:endParaRPr lang="en-US"/>
          </a:p>
          <a:p>
            <a:pPr>
              <a:defRPr/>
            </a:pPr>
            <a:endParaRPr lang="en-US"/>
          </a:p>
          <a:p>
            <a:pPr>
              <a:defRPr/>
            </a:pPr>
            <a:r>
              <a:rPr lang="en-US"/>
              <a:t>© A+ Computer Science  -  www.apluscompsci.com</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pPr>
              <a:defRPr/>
            </a:pPr>
            <a:endParaRPr lang="en-US"/>
          </a:p>
        </p:txBody>
      </p:sp>
      <p:sp>
        <p:nvSpPr>
          <p:cNvPr id="4" name="Slide Number Placeholder 3"/>
          <p:cNvSpPr>
            <a:spLocks noGrp="1"/>
          </p:cNvSpPr>
          <p:nvPr>
            <p:ph type="sldNum" sz="quarter" idx="11"/>
          </p:nvPr>
        </p:nvSpPr>
        <p:spPr/>
        <p:txBody>
          <a:bodyPr/>
          <a:lstStyle>
            <a:lvl1pPr>
              <a:defRPr/>
            </a:lvl1pPr>
          </a:lstStyle>
          <a:p>
            <a:pPr>
              <a:defRPr/>
            </a:pPr>
            <a:fld id="{9B4AFF63-260D-4773-A879-5379C53CF750}" type="slidenum">
              <a:rPr lang="en-US"/>
              <a:pPr>
                <a:defRPr/>
              </a:pPr>
              <a:t>‹#›</a:t>
            </a:fld>
            <a:endParaRPr lang="en-US"/>
          </a:p>
        </p:txBody>
      </p:sp>
      <p:sp>
        <p:nvSpPr>
          <p:cNvPr id="5" name="Footer Placeholder 4"/>
          <p:cNvSpPr>
            <a:spLocks noGrp="1"/>
          </p:cNvSpPr>
          <p:nvPr>
            <p:ph type="ftr" sz="quarter" idx="12"/>
          </p:nvPr>
        </p:nvSpPr>
        <p:spPr/>
        <p:txBody>
          <a:bodyPr/>
          <a:lstStyle>
            <a:lvl1pPr>
              <a:defRPr b="1">
                <a:latin typeface="Tahoma" pitchFamily="34" charset="0"/>
              </a:defRPr>
            </a:lvl1pPr>
          </a:lstStyle>
          <a:p>
            <a:pPr>
              <a:defRPr/>
            </a:pPr>
            <a:endParaRPr lang="en-US"/>
          </a:p>
          <a:p>
            <a:pPr>
              <a:defRPr/>
            </a:pPr>
            <a:endParaRPr lang="en-US"/>
          </a:p>
          <a:p>
            <a:pPr>
              <a:defRPr/>
            </a:pPr>
            <a:endParaRPr lang="en-US"/>
          </a:p>
          <a:p>
            <a:pPr>
              <a:defRPr/>
            </a:pPr>
            <a:r>
              <a:rPr lang="en-US"/>
              <a:t>© A+ Computer Science  -  www.apluscompsci.com</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endParaRPr lang="en-US"/>
          </a:p>
        </p:txBody>
      </p:sp>
      <p:sp>
        <p:nvSpPr>
          <p:cNvPr id="3" name="Slide Number Placeholder 2"/>
          <p:cNvSpPr>
            <a:spLocks noGrp="1"/>
          </p:cNvSpPr>
          <p:nvPr>
            <p:ph type="sldNum" sz="quarter" idx="11"/>
          </p:nvPr>
        </p:nvSpPr>
        <p:spPr/>
        <p:txBody>
          <a:bodyPr/>
          <a:lstStyle>
            <a:lvl1pPr>
              <a:defRPr/>
            </a:lvl1pPr>
          </a:lstStyle>
          <a:p>
            <a:pPr>
              <a:defRPr/>
            </a:pPr>
            <a:fld id="{198AB4B6-3A49-416A-AFA4-4815AD7DA283}" type="slidenum">
              <a:rPr lang="en-US"/>
              <a:pPr>
                <a:defRPr/>
              </a:pPr>
              <a:t>‹#›</a:t>
            </a:fld>
            <a:endParaRPr lang="en-US"/>
          </a:p>
        </p:txBody>
      </p:sp>
      <p:sp>
        <p:nvSpPr>
          <p:cNvPr id="4" name="Footer Placeholder 3"/>
          <p:cNvSpPr>
            <a:spLocks noGrp="1"/>
          </p:cNvSpPr>
          <p:nvPr>
            <p:ph type="ftr" sz="quarter" idx="12"/>
          </p:nvPr>
        </p:nvSpPr>
        <p:spPr/>
        <p:txBody>
          <a:bodyPr/>
          <a:lstStyle>
            <a:lvl1pPr>
              <a:defRPr b="1">
                <a:latin typeface="Tahoma" pitchFamily="34" charset="0"/>
              </a:defRPr>
            </a:lvl1pPr>
          </a:lstStyle>
          <a:p>
            <a:pPr>
              <a:defRPr/>
            </a:pPr>
            <a:endParaRPr lang="en-US"/>
          </a:p>
          <a:p>
            <a:pPr>
              <a:defRPr/>
            </a:pPr>
            <a:endParaRPr lang="en-US"/>
          </a:p>
          <a:p>
            <a:pPr>
              <a:defRPr/>
            </a:pPr>
            <a:endParaRPr lang="en-US"/>
          </a:p>
          <a:p>
            <a:pPr>
              <a:defRPr/>
            </a:pPr>
            <a:r>
              <a:rPr lang="en-US"/>
              <a:t>© A+ Computer Science  -  www.apluscompsci.com</a:t>
            </a:r>
          </a:p>
        </p:txBody>
      </p:sp>
      <p:pic>
        <p:nvPicPr>
          <p:cNvPr id="5" name="Picture 4"/>
          <p:cNvPicPr>
            <a:picLocks noChangeAspect="1" noChangeArrowheads="1"/>
          </p:cNvPicPr>
          <p:nvPr userDrawn="1"/>
        </p:nvPicPr>
        <p:blipFill>
          <a:blip r:embed="rId2" cstate="print"/>
          <a:srcRect/>
          <a:stretch>
            <a:fillRect/>
          </a:stretch>
        </p:blipFill>
        <p:spPr bwMode="auto">
          <a:xfrm>
            <a:off x="6934200" y="6400800"/>
            <a:ext cx="1905000" cy="258731"/>
          </a:xfrm>
          <a:prstGeom prst="rect">
            <a:avLst/>
          </a:prstGeom>
          <a:noFill/>
          <a:ln w="9525">
            <a:noFill/>
            <a:miter lim="800000"/>
            <a:headEnd/>
            <a:tailEnd/>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pPr>
              <a:defRPr/>
            </a:pPr>
            <a:endParaRPr lang="en-US"/>
          </a:p>
        </p:txBody>
      </p:sp>
      <p:sp>
        <p:nvSpPr>
          <p:cNvPr id="6" name="Slide Number Placeholder 5"/>
          <p:cNvSpPr>
            <a:spLocks noGrp="1"/>
          </p:cNvSpPr>
          <p:nvPr>
            <p:ph type="sldNum" sz="quarter" idx="11"/>
          </p:nvPr>
        </p:nvSpPr>
        <p:spPr/>
        <p:txBody>
          <a:bodyPr/>
          <a:lstStyle>
            <a:lvl1pPr>
              <a:defRPr/>
            </a:lvl1pPr>
          </a:lstStyle>
          <a:p>
            <a:pPr>
              <a:defRPr/>
            </a:pPr>
            <a:fld id="{DF9A6DDF-DC31-4E96-ACC2-874B6003E13A}" type="slidenum">
              <a:rPr lang="en-US"/>
              <a:pPr>
                <a:defRPr/>
              </a:pPr>
              <a:t>‹#›</a:t>
            </a:fld>
            <a:endParaRPr lang="en-US"/>
          </a:p>
        </p:txBody>
      </p:sp>
      <p:sp>
        <p:nvSpPr>
          <p:cNvPr id="7" name="Footer Placeholder 6"/>
          <p:cNvSpPr>
            <a:spLocks noGrp="1"/>
          </p:cNvSpPr>
          <p:nvPr>
            <p:ph type="ftr" sz="quarter" idx="12"/>
          </p:nvPr>
        </p:nvSpPr>
        <p:spPr/>
        <p:txBody>
          <a:bodyPr/>
          <a:lstStyle>
            <a:lvl1pPr>
              <a:defRPr b="1">
                <a:latin typeface="Tahoma" pitchFamily="34" charset="0"/>
              </a:defRPr>
            </a:lvl1pPr>
          </a:lstStyle>
          <a:p>
            <a:pPr>
              <a:defRPr/>
            </a:pPr>
            <a:endParaRPr lang="en-US"/>
          </a:p>
          <a:p>
            <a:pPr>
              <a:defRPr/>
            </a:pPr>
            <a:endParaRPr lang="en-US"/>
          </a:p>
          <a:p>
            <a:pPr>
              <a:defRPr/>
            </a:pPr>
            <a:endParaRPr lang="en-US"/>
          </a:p>
          <a:p>
            <a:pPr>
              <a:defRPr/>
            </a:pPr>
            <a:r>
              <a:rPr lang="en-US"/>
              <a:t>© A+ Computer Science  -  www.apluscompsci.com</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pPr>
              <a:defRPr/>
            </a:pPr>
            <a:endParaRPr lang="en-US"/>
          </a:p>
        </p:txBody>
      </p:sp>
      <p:sp>
        <p:nvSpPr>
          <p:cNvPr id="6" name="Slide Number Placeholder 5"/>
          <p:cNvSpPr>
            <a:spLocks noGrp="1"/>
          </p:cNvSpPr>
          <p:nvPr>
            <p:ph type="sldNum" sz="quarter" idx="11"/>
          </p:nvPr>
        </p:nvSpPr>
        <p:spPr/>
        <p:txBody>
          <a:bodyPr/>
          <a:lstStyle>
            <a:lvl1pPr>
              <a:defRPr/>
            </a:lvl1pPr>
          </a:lstStyle>
          <a:p>
            <a:pPr>
              <a:defRPr/>
            </a:pPr>
            <a:fld id="{2283B5A5-D1CC-4B3F-BA80-E2FD56A96349}" type="slidenum">
              <a:rPr lang="en-US"/>
              <a:pPr>
                <a:defRPr/>
              </a:pPr>
              <a:t>‹#›</a:t>
            </a:fld>
            <a:endParaRPr lang="en-US"/>
          </a:p>
        </p:txBody>
      </p:sp>
      <p:sp>
        <p:nvSpPr>
          <p:cNvPr id="7" name="Footer Placeholder 6"/>
          <p:cNvSpPr>
            <a:spLocks noGrp="1"/>
          </p:cNvSpPr>
          <p:nvPr>
            <p:ph type="ftr" sz="quarter" idx="12"/>
          </p:nvPr>
        </p:nvSpPr>
        <p:spPr/>
        <p:txBody>
          <a:bodyPr/>
          <a:lstStyle>
            <a:lvl1pPr>
              <a:defRPr b="1">
                <a:latin typeface="Tahoma" pitchFamily="34" charset="0"/>
              </a:defRPr>
            </a:lvl1pPr>
          </a:lstStyle>
          <a:p>
            <a:pPr>
              <a:defRPr/>
            </a:pPr>
            <a:endParaRPr lang="en-US"/>
          </a:p>
          <a:p>
            <a:pPr>
              <a:defRPr/>
            </a:pPr>
            <a:endParaRPr lang="en-US"/>
          </a:p>
          <a:p>
            <a:pPr>
              <a:defRPr/>
            </a:pPr>
            <a:endParaRPr lang="en-US"/>
          </a:p>
          <a:p>
            <a:pPr>
              <a:defRPr/>
            </a:pPr>
            <a:r>
              <a:rPr lang="en-US"/>
              <a:t>© A+ Computer Science  -  www.apluscompsci.com</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Slide Number Placeholder 4"/>
          <p:cNvSpPr>
            <a:spLocks noGrp="1"/>
          </p:cNvSpPr>
          <p:nvPr>
            <p:ph type="sldNum" sz="quarter" idx="11"/>
          </p:nvPr>
        </p:nvSpPr>
        <p:spPr/>
        <p:txBody>
          <a:bodyPr/>
          <a:lstStyle>
            <a:lvl1pPr>
              <a:defRPr/>
            </a:lvl1pPr>
          </a:lstStyle>
          <a:p>
            <a:pPr>
              <a:defRPr/>
            </a:pPr>
            <a:fld id="{ACCE042E-4236-498D-8DAE-9837A7C820DC}" type="slidenum">
              <a:rPr lang="en-US"/>
              <a:pPr>
                <a:defRPr/>
              </a:pPr>
              <a:t>‹#›</a:t>
            </a:fld>
            <a:endParaRPr lang="en-US"/>
          </a:p>
        </p:txBody>
      </p:sp>
      <p:sp>
        <p:nvSpPr>
          <p:cNvPr id="6" name="Footer Placeholder 5"/>
          <p:cNvSpPr>
            <a:spLocks noGrp="1"/>
          </p:cNvSpPr>
          <p:nvPr>
            <p:ph type="ftr" sz="quarter" idx="12"/>
          </p:nvPr>
        </p:nvSpPr>
        <p:spPr/>
        <p:txBody>
          <a:bodyPr/>
          <a:lstStyle>
            <a:lvl1pPr>
              <a:defRPr b="1">
                <a:latin typeface="Tahoma" pitchFamily="34" charset="0"/>
              </a:defRPr>
            </a:lvl1pPr>
          </a:lstStyle>
          <a:p>
            <a:pPr>
              <a:defRPr/>
            </a:pPr>
            <a:endParaRPr lang="en-US"/>
          </a:p>
          <a:p>
            <a:pPr>
              <a:defRPr/>
            </a:pPr>
            <a:endParaRPr lang="en-US"/>
          </a:p>
          <a:p>
            <a:pPr>
              <a:defRPr/>
            </a:pPr>
            <a:endParaRPr lang="en-US"/>
          </a:p>
          <a:p>
            <a:pPr>
              <a:defRPr/>
            </a:pPr>
            <a:r>
              <a:rPr lang="en-US"/>
              <a:t>© A+ Computer Science  -  www.apluscompsci.com</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Slide Number Placeholder 4"/>
          <p:cNvSpPr>
            <a:spLocks noGrp="1"/>
          </p:cNvSpPr>
          <p:nvPr>
            <p:ph type="sldNum" sz="quarter" idx="11"/>
          </p:nvPr>
        </p:nvSpPr>
        <p:spPr/>
        <p:txBody>
          <a:bodyPr/>
          <a:lstStyle>
            <a:lvl1pPr>
              <a:defRPr/>
            </a:lvl1pPr>
          </a:lstStyle>
          <a:p>
            <a:pPr>
              <a:defRPr/>
            </a:pPr>
            <a:fld id="{FE2BFA39-5446-425C-8137-7BF715FB58A2}" type="slidenum">
              <a:rPr lang="en-US"/>
              <a:pPr>
                <a:defRPr/>
              </a:pPr>
              <a:t>‹#›</a:t>
            </a:fld>
            <a:endParaRPr lang="en-US"/>
          </a:p>
        </p:txBody>
      </p:sp>
      <p:sp>
        <p:nvSpPr>
          <p:cNvPr id="6" name="Footer Placeholder 5"/>
          <p:cNvSpPr>
            <a:spLocks noGrp="1"/>
          </p:cNvSpPr>
          <p:nvPr>
            <p:ph type="ftr" sz="quarter" idx="12"/>
          </p:nvPr>
        </p:nvSpPr>
        <p:spPr/>
        <p:txBody>
          <a:bodyPr/>
          <a:lstStyle>
            <a:lvl1pPr>
              <a:defRPr b="1">
                <a:latin typeface="Tahoma" pitchFamily="34" charset="0"/>
              </a:defRPr>
            </a:lvl1pPr>
          </a:lstStyle>
          <a:p>
            <a:pPr>
              <a:defRPr/>
            </a:pPr>
            <a:endParaRPr lang="en-US"/>
          </a:p>
          <a:p>
            <a:pPr>
              <a:defRPr/>
            </a:pPr>
            <a:endParaRPr lang="en-US"/>
          </a:p>
          <a:p>
            <a:pPr>
              <a:defRPr/>
            </a:pPr>
            <a:endParaRPr lang="en-US"/>
          </a:p>
          <a:p>
            <a:pPr>
              <a:defRPr/>
            </a:pPr>
            <a:r>
              <a:rPr lang="en-US"/>
              <a:t>© A+ Computer Science  -  www.apluscompsci.com</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a:latin typeface="+mn-lt"/>
              </a:defRPr>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a:latin typeface="+mn-lt"/>
              </a:defRPr>
            </a:lvl1pPr>
          </a:lstStyle>
          <a:p>
            <a:pPr>
              <a:defRPr/>
            </a:pPr>
            <a:fld id="{A2417A16-E473-4E16-B087-E6400E207B95}" type="slidenum">
              <a:rPr lang="en-US"/>
              <a:pPr>
                <a:defRPr/>
              </a:pPr>
              <a:t>‹#›</a:t>
            </a:fld>
            <a:endParaRPr lang="en-US"/>
          </a:p>
        </p:txBody>
      </p:sp>
      <p:sp>
        <p:nvSpPr>
          <p:cNvPr id="1031" name="Rectangle 7"/>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ctr">
              <a:defRPr sz="800" b="0">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hf sldNum="0"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533400" y="1219200"/>
            <a:ext cx="8153400" cy="4401205"/>
          </a:xfrm>
          <a:prstGeom prst="rect">
            <a:avLst/>
          </a:prstGeom>
          <a:effectLst>
            <a:glow rad="228600">
              <a:schemeClr val="accent4">
                <a:satMod val="175000"/>
                <a:alpha val="40000"/>
              </a:schemeClr>
            </a:glow>
          </a:effectLst>
        </p:spPr>
        <p:style>
          <a:lnRef idx="2">
            <a:schemeClr val="accent2">
              <a:shade val="50000"/>
            </a:schemeClr>
          </a:lnRef>
          <a:fillRef idx="1">
            <a:schemeClr val="accent2"/>
          </a:fillRef>
          <a:effectRef idx="0">
            <a:schemeClr val="accent2"/>
          </a:effectRef>
          <a:fontRef idx="minor">
            <a:schemeClr val="lt1"/>
          </a:fontRef>
        </p:style>
        <p:txBody>
          <a:bodyPr wrap="square" lIns="91440" tIns="45720" rIns="91440" bIns="45720">
            <a:spAutoFit/>
          </a:bodyPr>
          <a:lstStyle>
            <a:defPPr>
              <a:defRPr lang="en-US"/>
            </a:defPPr>
            <a:lvl1pPr algn="l" rtl="0" eaLnBrk="0" fontAlgn="base" hangingPunct="0">
              <a:spcBef>
                <a:spcPct val="0"/>
              </a:spcBef>
              <a:spcAft>
                <a:spcPct val="0"/>
              </a:spcAft>
              <a:defRPr sz="2600" b="1" kern="1200">
                <a:solidFill>
                  <a:schemeClr val="tx1"/>
                </a:solidFill>
                <a:latin typeface="Tahoma" pitchFamily="34" charset="0"/>
                <a:ea typeface="+mn-ea"/>
                <a:cs typeface="+mn-cs"/>
              </a:defRPr>
            </a:lvl1pPr>
            <a:lvl2pPr marL="457200" algn="l" rtl="0" eaLnBrk="0" fontAlgn="base" hangingPunct="0">
              <a:spcBef>
                <a:spcPct val="0"/>
              </a:spcBef>
              <a:spcAft>
                <a:spcPct val="0"/>
              </a:spcAft>
              <a:defRPr sz="2600" b="1" kern="1200">
                <a:solidFill>
                  <a:schemeClr val="tx1"/>
                </a:solidFill>
                <a:latin typeface="Tahoma" pitchFamily="34" charset="0"/>
                <a:ea typeface="+mn-ea"/>
                <a:cs typeface="+mn-cs"/>
              </a:defRPr>
            </a:lvl2pPr>
            <a:lvl3pPr marL="914400" algn="l" rtl="0" eaLnBrk="0" fontAlgn="base" hangingPunct="0">
              <a:spcBef>
                <a:spcPct val="0"/>
              </a:spcBef>
              <a:spcAft>
                <a:spcPct val="0"/>
              </a:spcAft>
              <a:defRPr sz="2600" b="1" kern="1200">
                <a:solidFill>
                  <a:schemeClr val="tx1"/>
                </a:solidFill>
                <a:latin typeface="Tahoma" pitchFamily="34" charset="0"/>
                <a:ea typeface="+mn-ea"/>
                <a:cs typeface="+mn-cs"/>
              </a:defRPr>
            </a:lvl3pPr>
            <a:lvl4pPr marL="1371600" algn="l" rtl="0" eaLnBrk="0" fontAlgn="base" hangingPunct="0">
              <a:spcBef>
                <a:spcPct val="0"/>
              </a:spcBef>
              <a:spcAft>
                <a:spcPct val="0"/>
              </a:spcAft>
              <a:defRPr sz="2600" b="1" kern="1200">
                <a:solidFill>
                  <a:schemeClr val="tx1"/>
                </a:solidFill>
                <a:latin typeface="Tahoma" pitchFamily="34" charset="0"/>
                <a:ea typeface="+mn-ea"/>
                <a:cs typeface="+mn-cs"/>
              </a:defRPr>
            </a:lvl4pPr>
            <a:lvl5pPr marL="1828800" algn="l" rtl="0" eaLnBrk="0" fontAlgn="base" hangingPunct="0">
              <a:spcBef>
                <a:spcPct val="0"/>
              </a:spcBef>
              <a:spcAft>
                <a:spcPct val="0"/>
              </a:spcAft>
              <a:defRPr sz="2600" b="1" kern="1200">
                <a:solidFill>
                  <a:schemeClr val="tx1"/>
                </a:solidFill>
                <a:latin typeface="Tahoma" pitchFamily="34" charset="0"/>
                <a:ea typeface="+mn-ea"/>
                <a:cs typeface="+mn-cs"/>
              </a:defRPr>
            </a:lvl5pPr>
            <a:lvl6pPr marL="2286000" algn="l" defTabSz="914400" rtl="0" eaLnBrk="1" latinLnBrk="0" hangingPunct="1">
              <a:defRPr sz="2600" b="1" kern="1200">
                <a:solidFill>
                  <a:schemeClr val="tx1"/>
                </a:solidFill>
                <a:latin typeface="Tahoma" pitchFamily="34" charset="0"/>
                <a:ea typeface="+mn-ea"/>
                <a:cs typeface="+mn-cs"/>
              </a:defRPr>
            </a:lvl6pPr>
            <a:lvl7pPr marL="2743200" algn="l" defTabSz="914400" rtl="0" eaLnBrk="1" latinLnBrk="0" hangingPunct="1">
              <a:defRPr sz="2600" b="1" kern="1200">
                <a:solidFill>
                  <a:schemeClr val="tx1"/>
                </a:solidFill>
                <a:latin typeface="Tahoma" pitchFamily="34" charset="0"/>
                <a:ea typeface="+mn-ea"/>
                <a:cs typeface="+mn-cs"/>
              </a:defRPr>
            </a:lvl7pPr>
            <a:lvl8pPr marL="3200400" algn="l" defTabSz="914400" rtl="0" eaLnBrk="1" latinLnBrk="0" hangingPunct="1">
              <a:defRPr sz="2600" b="1" kern="1200">
                <a:solidFill>
                  <a:schemeClr val="tx1"/>
                </a:solidFill>
                <a:latin typeface="Tahoma" pitchFamily="34" charset="0"/>
                <a:ea typeface="+mn-ea"/>
                <a:cs typeface="+mn-cs"/>
              </a:defRPr>
            </a:lvl8pPr>
            <a:lvl9pPr marL="3657600" algn="l" defTabSz="914400" rtl="0" eaLnBrk="1" latinLnBrk="0" hangingPunct="1">
              <a:defRPr sz="2600" b="1" kern="1200">
                <a:solidFill>
                  <a:schemeClr val="tx1"/>
                </a:solidFill>
                <a:latin typeface="Tahoma" pitchFamily="34" charset="0"/>
                <a:ea typeface="+mn-ea"/>
                <a:cs typeface="+mn-cs"/>
              </a:defRPr>
            </a:lvl9pPr>
          </a:lstStyle>
          <a:p>
            <a:pPr algn="ctr"/>
            <a:r>
              <a:rPr lang="en-US" sz="8000" dirty="0" smtClean="0">
                <a:ln w="12700">
                  <a:solidFill>
                    <a:schemeClr val="tx2">
                      <a:satMod val="155000"/>
                    </a:schemeClr>
                  </a:solidFill>
                  <a:prstDash val="solid"/>
                </a:ln>
                <a:solidFill>
                  <a:schemeClr val="accent5">
                    <a:lumMod val="20000"/>
                    <a:lumOff val="80000"/>
                  </a:schemeClr>
                </a:solidFill>
                <a:effectLst>
                  <a:outerShdw blurRad="41275" dist="20320" dir="1800000" algn="tl" rotWithShape="0">
                    <a:srgbClr val="000000">
                      <a:alpha val="40000"/>
                    </a:srgbClr>
                  </a:outerShdw>
                </a:effectLst>
              </a:rPr>
              <a:t/>
            </a:r>
            <a:br>
              <a:rPr lang="en-US" sz="8000" dirty="0" smtClean="0">
                <a:ln w="12700">
                  <a:solidFill>
                    <a:schemeClr val="tx2">
                      <a:satMod val="155000"/>
                    </a:schemeClr>
                  </a:solidFill>
                  <a:prstDash val="solid"/>
                </a:ln>
                <a:solidFill>
                  <a:schemeClr val="accent5">
                    <a:lumMod val="20000"/>
                    <a:lumOff val="80000"/>
                  </a:schemeClr>
                </a:solidFill>
                <a:effectLst>
                  <a:outerShdw blurRad="41275" dist="20320" dir="1800000" algn="tl" rotWithShape="0">
                    <a:srgbClr val="000000">
                      <a:alpha val="40000"/>
                    </a:srgbClr>
                  </a:outerShdw>
                </a:effectLst>
              </a:rPr>
            </a:br>
            <a:r>
              <a:rPr lang="en-US" sz="4000" dirty="0" smtClean="0">
                <a:ln w="12700">
                  <a:solidFill>
                    <a:schemeClr val="tx2">
                      <a:satMod val="155000"/>
                    </a:schemeClr>
                  </a:solidFill>
                  <a:prstDash val="solid"/>
                </a:ln>
                <a:solidFill>
                  <a:schemeClr val="accent5">
                    <a:lumMod val="20000"/>
                    <a:lumOff val="80000"/>
                  </a:schemeClr>
                </a:solidFill>
                <a:effectLst>
                  <a:outerShdw blurRad="41275" dist="20320" dir="1800000" algn="tl" rotWithShape="0">
                    <a:srgbClr val="000000">
                      <a:alpha val="40000"/>
                    </a:srgbClr>
                  </a:outerShdw>
                </a:effectLst>
                <a:latin typeface="Eraser" pitchFamily="2" charset="0"/>
              </a:rPr>
              <a:t>A+ Computer Science</a:t>
            </a:r>
          </a:p>
          <a:p>
            <a:pPr algn="ctr"/>
            <a:r>
              <a:rPr lang="en-US" sz="8000" dirty="0" smtClean="0">
                <a:ln w="12700">
                  <a:solidFill>
                    <a:schemeClr val="tx2">
                      <a:satMod val="155000"/>
                    </a:schemeClr>
                  </a:solidFill>
                  <a:prstDash val="solid"/>
                </a:ln>
                <a:solidFill>
                  <a:schemeClr val="accent5">
                    <a:lumMod val="20000"/>
                    <a:lumOff val="80000"/>
                  </a:schemeClr>
                </a:solidFill>
                <a:effectLst>
                  <a:outerShdw blurRad="41275" dist="20320" dir="1800000" algn="tl" rotWithShape="0">
                    <a:srgbClr val="000000">
                      <a:alpha val="40000"/>
                    </a:srgbClr>
                  </a:outerShdw>
                </a:effectLst>
                <a:latin typeface="Eraser" pitchFamily="2" charset="0"/>
              </a:rPr>
              <a:t>METHODS</a:t>
            </a:r>
          </a:p>
          <a:p>
            <a:pPr algn="ctr"/>
            <a:endParaRPr lang="en-US" sz="8000" dirty="0" smtClean="0">
              <a:ln w="12700">
                <a:solidFill>
                  <a:schemeClr val="tx2">
                    <a:satMod val="155000"/>
                  </a:schemeClr>
                </a:solidFill>
                <a:prstDash val="solid"/>
              </a:ln>
              <a:solidFill>
                <a:schemeClr val="accent5">
                  <a:lumMod val="20000"/>
                  <a:lumOff val="80000"/>
                </a:schemeClr>
              </a:solidFill>
              <a:effectLst>
                <a:outerShdw blurRad="41275" dist="20320" dir="1800000" algn="tl" rotWithShape="0">
                  <a:srgbClr val="000000">
                    <a:alpha val="40000"/>
                  </a:srgbClr>
                </a:outerShdw>
              </a:effectLs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15364" name="Text Box 3"/>
          <p:cNvSpPr txBox="1">
            <a:spLocks noChangeArrowheads="1"/>
          </p:cNvSpPr>
          <p:nvPr/>
        </p:nvSpPr>
        <p:spPr bwMode="auto">
          <a:xfrm>
            <a:off x="685800" y="1981200"/>
            <a:ext cx="7657866" cy="1569660"/>
          </a:xfrm>
          <a:prstGeom prst="rect">
            <a:avLst/>
          </a:prstGeom>
          <a:noFill/>
          <a:ln w="12700">
            <a:noFill/>
            <a:miter lim="800000"/>
            <a:headEnd type="none" w="sm" len="sm"/>
            <a:tailEnd type="none" w="sm" len="sm"/>
          </a:ln>
        </p:spPr>
        <p:txBody>
          <a:bodyPr wrap="none">
            <a:spAutoFit/>
          </a:bodyPr>
          <a:lstStyle/>
          <a:p>
            <a:r>
              <a:rPr lang="en-US" sz="3200" dirty="0" err="1" smtClean="0"/>
              <a:t>AplusBug</a:t>
            </a:r>
            <a:r>
              <a:rPr lang="en-US" sz="3200" dirty="0" smtClean="0"/>
              <a:t>  dude  =  </a:t>
            </a:r>
            <a:r>
              <a:rPr lang="en-US" sz="3200" dirty="0">
                <a:solidFill>
                  <a:srgbClr val="FF0000"/>
                </a:solidFill>
              </a:rPr>
              <a:t>new</a:t>
            </a:r>
            <a:r>
              <a:rPr lang="en-US" sz="3200" dirty="0"/>
              <a:t> </a:t>
            </a:r>
            <a:r>
              <a:rPr lang="en-US" sz="3200" dirty="0" err="1" smtClean="0"/>
              <a:t>AplusBug</a:t>
            </a:r>
            <a:r>
              <a:rPr lang="en-US" sz="3200" dirty="0" smtClean="0"/>
              <a:t>();</a:t>
            </a:r>
            <a:endParaRPr lang="en-US" sz="3200" dirty="0"/>
          </a:p>
          <a:p>
            <a:endParaRPr lang="en-US" sz="3200" dirty="0"/>
          </a:p>
          <a:p>
            <a:endParaRPr lang="en-US" sz="3200" dirty="0"/>
          </a:p>
        </p:txBody>
      </p:sp>
      <p:sp>
        <p:nvSpPr>
          <p:cNvPr id="7" name="Rectangle 6"/>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Instantiation</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pic>
        <p:nvPicPr>
          <p:cNvPr id="6" name="Picture 5"/>
          <p:cNvPicPr>
            <a:picLocks noChangeAspect="1" noChangeArrowheads="1"/>
          </p:cNvPicPr>
          <p:nvPr/>
        </p:nvPicPr>
        <p:blipFill>
          <a:blip r:embed="rId3" cstate="print"/>
          <a:srcRect/>
          <a:stretch>
            <a:fillRect/>
          </a:stretch>
        </p:blipFill>
        <p:spPr bwMode="auto">
          <a:xfrm>
            <a:off x="3505200" y="3352800"/>
            <a:ext cx="2038350" cy="22669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16387" name="Text Box 2"/>
          <p:cNvSpPr txBox="1">
            <a:spLocks noChangeArrowheads="1"/>
          </p:cNvSpPr>
          <p:nvPr/>
        </p:nvSpPr>
        <p:spPr bwMode="auto">
          <a:xfrm>
            <a:off x="990600" y="1828800"/>
            <a:ext cx="7417415" cy="584775"/>
          </a:xfrm>
          <a:prstGeom prst="rect">
            <a:avLst/>
          </a:prstGeom>
          <a:noFill/>
          <a:ln w="12700">
            <a:noFill/>
            <a:miter lim="800000"/>
            <a:headEnd type="none" w="sm" len="sm"/>
            <a:tailEnd type="none" w="sm" len="sm"/>
          </a:ln>
        </p:spPr>
        <p:txBody>
          <a:bodyPr wrap="none">
            <a:spAutoFit/>
          </a:bodyPr>
          <a:lstStyle/>
          <a:p>
            <a:r>
              <a:rPr lang="en-US" sz="3200" dirty="0" err="1" smtClean="0"/>
              <a:t>AplusBug</a:t>
            </a:r>
            <a:r>
              <a:rPr lang="en-US" sz="3200" dirty="0" smtClean="0"/>
              <a:t> dude  </a:t>
            </a:r>
            <a:r>
              <a:rPr lang="en-US" sz="3200" dirty="0"/>
              <a:t>= </a:t>
            </a:r>
            <a:r>
              <a:rPr lang="en-US" sz="3200" dirty="0">
                <a:solidFill>
                  <a:srgbClr val="FF0000"/>
                </a:solidFill>
              </a:rPr>
              <a:t>new</a:t>
            </a:r>
            <a:r>
              <a:rPr lang="en-US" sz="3200" dirty="0"/>
              <a:t> </a:t>
            </a:r>
            <a:r>
              <a:rPr lang="en-US" sz="3200" dirty="0" err="1" smtClean="0"/>
              <a:t>AplusBug</a:t>
            </a:r>
            <a:r>
              <a:rPr lang="en-US" sz="3200" dirty="0" smtClean="0"/>
              <a:t>();</a:t>
            </a:r>
            <a:endParaRPr lang="en-US" sz="3200" dirty="0"/>
          </a:p>
        </p:txBody>
      </p:sp>
      <p:sp>
        <p:nvSpPr>
          <p:cNvPr id="16388" name="Rectangle 3"/>
          <p:cNvSpPr>
            <a:spLocks noChangeArrowheads="1"/>
          </p:cNvSpPr>
          <p:nvPr/>
        </p:nvSpPr>
        <p:spPr bwMode="auto">
          <a:xfrm>
            <a:off x="3962400" y="2971800"/>
            <a:ext cx="3048000" cy="1905000"/>
          </a:xfrm>
          <a:prstGeom prst="rect">
            <a:avLst/>
          </a:prstGeom>
          <a:solidFill>
            <a:srgbClr val="FFFFCC"/>
          </a:solidFill>
          <a:ln w="12700">
            <a:solidFill>
              <a:schemeClr val="tx1"/>
            </a:solidFill>
            <a:miter lim="800000"/>
            <a:headEnd type="none" w="sm" len="sm"/>
            <a:tailEnd type="none" w="sm" len="sm"/>
          </a:ln>
        </p:spPr>
        <p:txBody>
          <a:bodyPr wrap="none" anchor="ctr"/>
          <a:lstStyle/>
          <a:p>
            <a:pPr algn="ctr"/>
            <a:endParaRPr lang="en-US" sz="3200"/>
          </a:p>
        </p:txBody>
      </p:sp>
      <p:sp>
        <p:nvSpPr>
          <p:cNvPr id="16389" name="Text Box 4"/>
          <p:cNvSpPr txBox="1">
            <a:spLocks noChangeArrowheads="1"/>
          </p:cNvSpPr>
          <p:nvPr/>
        </p:nvSpPr>
        <p:spPr bwMode="auto">
          <a:xfrm>
            <a:off x="1371600" y="2590800"/>
            <a:ext cx="1207382" cy="584775"/>
          </a:xfrm>
          <a:prstGeom prst="rect">
            <a:avLst/>
          </a:prstGeom>
          <a:noFill/>
          <a:ln w="12700">
            <a:noFill/>
            <a:miter lim="800000"/>
            <a:headEnd type="none" w="sm" len="sm"/>
            <a:tailEnd type="none" w="sm" len="sm"/>
          </a:ln>
        </p:spPr>
        <p:txBody>
          <a:bodyPr wrap="none">
            <a:spAutoFit/>
          </a:bodyPr>
          <a:lstStyle/>
          <a:p>
            <a:r>
              <a:rPr lang="en-US" sz="3200" dirty="0" smtClean="0"/>
              <a:t>dude</a:t>
            </a:r>
            <a:endParaRPr lang="en-US" sz="3200" dirty="0"/>
          </a:p>
        </p:txBody>
      </p:sp>
      <p:sp>
        <p:nvSpPr>
          <p:cNvPr id="16390" name="Line 5"/>
          <p:cNvSpPr>
            <a:spLocks noChangeShapeType="1"/>
          </p:cNvSpPr>
          <p:nvPr/>
        </p:nvSpPr>
        <p:spPr bwMode="auto">
          <a:xfrm>
            <a:off x="2209800" y="3124200"/>
            <a:ext cx="1676400" cy="914400"/>
          </a:xfrm>
          <a:prstGeom prst="line">
            <a:avLst/>
          </a:prstGeom>
          <a:noFill/>
          <a:ln w="101600">
            <a:solidFill>
              <a:srgbClr val="FF0000"/>
            </a:solidFill>
            <a:round/>
            <a:headEnd type="none" w="sm" len="sm"/>
            <a:tailEnd type="triangle" w="sm" len="sm"/>
          </a:ln>
        </p:spPr>
        <p:txBody>
          <a:bodyPr/>
          <a:lstStyle/>
          <a:p>
            <a:endParaRPr lang="en-US"/>
          </a:p>
        </p:txBody>
      </p:sp>
      <p:sp>
        <p:nvSpPr>
          <p:cNvPr id="16391" name="Text Box 6"/>
          <p:cNvSpPr txBox="1">
            <a:spLocks noChangeArrowheads="1"/>
          </p:cNvSpPr>
          <p:nvPr/>
        </p:nvSpPr>
        <p:spPr bwMode="auto">
          <a:xfrm>
            <a:off x="609600" y="4953000"/>
            <a:ext cx="8191666" cy="1077218"/>
          </a:xfrm>
          <a:prstGeom prst="rect">
            <a:avLst/>
          </a:prstGeom>
          <a:noFill/>
          <a:ln w="12700">
            <a:noFill/>
            <a:miter lim="800000"/>
            <a:headEnd type="none" w="sm" len="sm"/>
            <a:tailEnd type="none" w="sm" len="sm"/>
          </a:ln>
        </p:spPr>
        <p:txBody>
          <a:bodyPr wrap="none">
            <a:spAutoFit/>
          </a:bodyPr>
          <a:lstStyle/>
          <a:p>
            <a:r>
              <a:rPr lang="en-US" sz="3200" dirty="0" smtClean="0"/>
              <a:t>dude </a:t>
            </a:r>
            <a:r>
              <a:rPr lang="en-US" sz="3200" dirty="0"/>
              <a:t>is a reference variable that refers</a:t>
            </a:r>
          </a:p>
          <a:p>
            <a:r>
              <a:rPr lang="en-US" sz="3200" dirty="0"/>
              <a:t>to </a:t>
            </a:r>
            <a:r>
              <a:rPr lang="en-US" sz="3200" dirty="0" smtClean="0"/>
              <a:t>an </a:t>
            </a:r>
            <a:r>
              <a:rPr lang="en-US" sz="3200" dirty="0" err="1" smtClean="0"/>
              <a:t>AplusBug</a:t>
            </a:r>
            <a:r>
              <a:rPr lang="en-US" sz="3200" dirty="0" smtClean="0"/>
              <a:t> </a:t>
            </a:r>
            <a:r>
              <a:rPr lang="en-US" sz="3200" dirty="0"/>
              <a:t>object.</a:t>
            </a:r>
          </a:p>
        </p:txBody>
      </p:sp>
      <p:sp>
        <p:nvSpPr>
          <p:cNvPr id="16393" name="Text Box 8"/>
          <p:cNvSpPr txBox="1">
            <a:spLocks noChangeArrowheads="1"/>
          </p:cNvSpPr>
          <p:nvPr/>
        </p:nvSpPr>
        <p:spPr bwMode="auto">
          <a:xfrm>
            <a:off x="5181600" y="2667000"/>
            <a:ext cx="838200" cy="304800"/>
          </a:xfrm>
          <a:prstGeom prst="rect">
            <a:avLst/>
          </a:prstGeom>
          <a:noFill/>
          <a:ln w="12700">
            <a:noFill/>
            <a:miter lim="800000"/>
            <a:headEnd type="none" w="sm" len="sm"/>
            <a:tailEnd type="none" w="sm" len="sm"/>
          </a:ln>
        </p:spPr>
        <p:txBody>
          <a:bodyPr>
            <a:spAutoFit/>
          </a:bodyPr>
          <a:lstStyle/>
          <a:p>
            <a:r>
              <a:rPr lang="en-US" sz="1400">
                <a:solidFill>
                  <a:srgbClr val="0000FF"/>
                </a:solidFill>
              </a:rPr>
              <a:t>0x234</a:t>
            </a:r>
            <a:endParaRPr lang="en-US" sz="1400"/>
          </a:p>
        </p:txBody>
      </p:sp>
      <p:sp>
        <p:nvSpPr>
          <p:cNvPr id="16394" name="Text Box 9"/>
          <p:cNvSpPr txBox="1">
            <a:spLocks noChangeArrowheads="1"/>
          </p:cNvSpPr>
          <p:nvPr/>
        </p:nvSpPr>
        <p:spPr bwMode="auto">
          <a:xfrm>
            <a:off x="1447800" y="3048000"/>
            <a:ext cx="838200" cy="304800"/>
          </a:xfrm>
          <a:prstGeom prst="rect">
            <a:avLst/>
          </a:prstGeom>
          <a:noFill/>
          <a:ln w="12700">
            <a:noFill/>
            <a:miter lim="800000"/>
            <a:headEnd type="none" w="sm" len="sm"/>
            <a:tailEnd type="none" w="sm" len="sm"/>
          </a:ln>
        </p:spPr>
        <p:txBody>
          <a:bodyPr>
            <a:spAutoFit/>
          </a:bodyPr>
          <a:lstStyle/>
          <a:p>
            <a:r>
              <a:rPr lang="en-US" sz="1400">
                <a:solidFill>
                  <a:srgbClr val="0000FF"/>
                </a:solidFill>
              </a:rPr>
              <a:t>0x234</a:t>
            </a:r>
            <a:endParaRPr lang="en-US" sz="1400"/>
          </a:p>
        </p:txBody>
      </p:sp>
      <p:sp>
        <p:nvSpPr>
          <p:cNvPr id="16396" name="Rectangle 11"/>
          <p:cNvSpPr>
            <a:spLocks noChangeArrowheads="1"/>
          </p:cNvSpPr>
          <p:nvPr/>
        </p:nvSpPr>
        <p:spPr bwMode="auto">
          <a:xfrm>
            <a:off x="4114800" y="3276600"/>
            <a:ext cx="1396536" cy="400110"/>
          </a:xfrm>
          <a:prstGeom prst="rect">
            <a:avLst/>
          </a:prstGeom>
          <a:noFill/>
          <a:ln w="9525">
            <a:noFill/>
            <a:miter lim="800000"/>
            <a:headEnd/>
            <a:tailEnd/>
          </a:ln>
        </p:spPr>
        <p:txBody>
          <a:bodyPr wrap="none">
            <a:spAutoFit/>
          </a:bodyPr>
          <a:lstStyle/>
          <a:p>
            <a:r>
              <a:rPr lang="en-US" dirty="0" err="1" smtClean="0"/>
              <a:t>AplusBug</a:t>
            </a:r>
            <a:endParaRPr lang="en-US" dirty="0"/>
          </a:p>
        </p:txBody>
      </p:sp>
      <p:sp>
        <p:nvSpPr>
          <p:cNvPr id="13" name="Rectangle 12"/>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Instantiation</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pic>
        <p:nvPicPr>
          <p:cNvPr id="14" name="Picture 13"/>
          <p:cNvPicPr>
            <a:picLocks noChangeAspect="1" noChangeArrowheads="1"/>
          </p:cNvPicPr>
          <p:nvPr/>
        </p:nvPicPr>
        <p:blipFill>
          <a:blip r:embed="rId3" cstate="print"/>
          <a:srcRect/>
          <a:stretch>
            <a:fillRect/>
          </a:stretch>
        </p:blipFill>
        <p:spPr bwMode="auto">
          <a:xfrm>
            <a:off x="5638800" y="3200400"/>
            <a:ext cx="1284674" cy="14287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3"/>
          <p:cNvSpPr>
            <a:spLocks noGrp="1"/>
          </p:cNvSpPr>
          <p:nvPr>
            <p:ph type="ftr" sz="quarter" idx="12"/>
          </p:nvPr>
        </p:nvSpPr>
        <p:spPr>
          <a:noFill/>
        </p:spPr>
        <p:txBody>
          <a:bodyPr/>
          <a:lstStyle/>
          <a:p>
            <a:endParaRPr lang="en-US" dirty="0" smtClean="0">
              <a:latin typeface="Times New Roman" pitchFamily="18" charset="0"/>
            </a:endParaRPr>
          </a:p>
          <a:p>
            <a:endParaRPr lang="en-US" b="0" dirty="0" smtClean="0"/>
          </a:p>
          <a:p>
            <a:endParaRPr lang="en-US" dirty="0" smtClean="0"/>
          </a:p>
        </p:txBody>
      </p:sp>
      <p:sp>
        <p:nvSpPr>
          <p:cNvPr id="22531" name="Freeform 2"/>
          <p:cNvSpPr>
            <a:spLocks/>
          </p:cNvSpPr>
          <p:nvPr/>
        </p:nvSpPr>
        <p:spPr bwMode="auto">
          <a:xfrm>
            <a:off x="6446838" y="982663"/>
            <a:ext cx="2697162" cy="960437"/>
          </a:xfrm>
          <a:custGeom>
            <a:avLst/>
            <a:gdLst>
              <a:gd name="T0" fmla="*/ 2147483647 w 1274"/>
              <a:gd name="T1" fmla="*/ 1141631069 h 807"/>
              <a:gd name="T2" fmla="*/ 0 w 1274"/>
              <a:gd name="T3" fmla="*/ 610474906 h 807"/>
              <a:gd name="T4" fmla="*/ 0 w 1274"/>
              <a:gd name="T5" fmla="*/ 525489943 h 807"/>
              <a:gd name="T6" fmla="*/ 2147483647 w 1274"/>
              <a:gd name="T7" fmla="*/ 0 h 807"/>
              <a:gd name="T8" fmla="*/ 2147483647 w 1274"/>
              <a:gd name="T9" fmla="*/ 525489943 h 807"/>
              <a:gd name="T10" fmla="*/ 2147483647 w 1274"/>
              <a:gd name="T11" fmla="*/ 610474906 h 807"/>
              <a:gd name="T12" fmla="*/ 2147483647 w 1274"/>
              <a:gd name="T13" fmla="*/ 1141631069 h 807"/>
              <a:gd name="T14" fmla="*/ 0 60000 65536"/>
              <a:gd name="T15" fmla="*/ 0 60000 65536"/>
              <a:gd name="T16" fmla="*/ 0 60000 65536"/>
              <a:gd name="T17" fmla="*/ 0 60000 65536"/>
              <a:gd name="T18" fmla="*/ 0 60000 65536"/>
              <a:gd name="T19" fmla="*/ 0 60000 65536"/>
              <a:gd name="T20" fmla="*/ 0 60000 65536"/>
              <a:gd name="T21" fmla="*/ 0 w 1274"/>
              <a:gd name="T22" fmla="*/ 0 h 807"/>
              <a:gd name="T23" fmla="*/ 1274 w 1274"/>
              <a:gd name="T24" fmla="*/ 807 h 8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74" h="807">
                <a:moveTo>
                  <a:pt x="637" y="806"/>
                </a:moveTo>
                <a:lnTo>
                  <a:pt x="0" y="431"/>
                </a:lnTo>
                <a:lnTo>
                  <a:pt x="0" y="371"/>
                </a:lnTo>
                <a:lnTo>
                  <a:pt x="637" y="0"/>
                </a:lnTo>
                <a:lnTo>
                  <a:pt x="1273" y="371"/>
                </a:lnTo>
                <a:lnTo>
                  <a:pt x="1273" y="431"/>
                </a:lnTo>
                <a:lnTo>
                  <a:pt x="637" y="806"/>
                </a:lnTo>
              </a:path>
            </a:pathLst>
          </a:custGeom>
          <a:solidFill>
            <a:srgbClr val="FFFFFF"/>
          </a:solidFill>
          <a:ln w="9525" cap="rnd">
            <a:noFill/>
            <a:round/>
            <a:headEnd/>
            <a:tailEnd/>
          </a:ln>
        </p:spPr>
        <p:txBody>
          <a:bodyPr/>
          <a:lstStyle/>
          <a:p>
            <a:endParaRPr lang="en-US"/>
          </a:p>
        </p:txBody>
      </p:sp>
      <p:sp>
        <p:nvSpPr>
          <p:cNvPr id="22532" name="Freeform 3"/>
          <p:cNvSpPr>
            <a:spLocks/>
          </p:cNvSpPr>
          <p:nvPr/>
        </p:nvSpPr>
        <p:spPr bwMode="auto">
          <a:xfrm>
            <a:off x="7143750" y="5543550"/>
            <a:ext cx="666750" cy="557213"/>
          </a:xfrm>
          <a:custGeom>
            <a:avLst/>
            <a:gdLst>
              <a:gd name="T0" fmla="*/ 1406806501 w 315"/>
              <a:gd name="T1" fmla="*/ 0 h 468"/>
              <a:gd name="T2" fmla="*/ 1281360183 w 315"/>
              <a:gd name="T3" fmla="*/ 22681430 h 468"/>
              <a:gd name="T4" fmla="*/ 1155911748 w 315"/>
              <a:gd name="T5" fmla="*/ 51033810 h 468"/>
              <a:gd name="T6" fmla="*/ 1048384858 w 315"/>
              <a:gd name="T7" fmla="*/ 85055960 h 468"/>
              <a:gd name="T8" fmla="*/ 918457559 w 315"/>
              <a:gd name="T9" fmla="*/ 114825176 h 468"/>
              <a:gd name="T10" fmla="*/ 810930934 w 315"/>
              <a:gd name="T11" fmla="*/ 148847307 h 468"/>
              <a:gd name="T12" fmla="*/ 703404309 w 315"/>
              <a:gd name="T13" fmla="*/ 182869475 h 468"/>
              <a:gd name="T14" fmla="*/ 595877684 w 315"/>
              <a:gd name="T15" fmla="*/ 222561366 h 468"/>
              <a:gd name="T16" fmla="*/ 506270619 w 315"/>
              <a:gd name="T17" fmla="*/ 256583497 h 468"/>
              <a:gd name="T18" fmla="*/ 416665804 w 315"/>
              <a:gd name="T19" fmla="*/ 296276579 h 468"/>
              <a:gd name="T20" fmla="*/ 327060989 w 315"/>
              <a:gd name="T21" fmla="*/ 337386579 h 468"/>
              <a:gd name="T22" fmla="*/ 250894819 w 315"/>
              <a:gd name="T23" fmla="*/ 377079661 h 468"/>
              <a:gd name="T24" fmla="*/ 179211813 w 315"/>
              <a:gd name="T25" fmla="*/ 416771552 h 468"/>
              <a:gd name="T26" fmla="*/ 125448468 w 315"/>
              <a:gd name="T27" fmla="*/ 456464633 h 468"/>
              <a:gd name="T28" fmla="*/ 71685155 w 315"/>
              <a:gd name="T29" fmla="*/ 496156524 h 468"/>
              <a:gd name="T30" fmla="*/ 35841519 w 315"/>
              <a:gd name="T31" fmla="*/ 537266450 h 468"/>
              <a:gd name="T32" fmla="*/ 0 w 315"/>
              <a:gd name="T33" fmla="*/ 576959532 h 468"/>
              <a:gd name="T34" fmla="*/ 452507307 w 315"/>
              <a:gd name="T35" fmla="*/ 662014413 h 468"/>
              <a:gd name="T36" fmla="*/ 542114239 w 315"/>
              <a:gd name="T37" fmla="*/ 639332992 h 468"/>
              <a:gd name="T38" fmla="*/ 125448468 w 315"/>
              <a:gd name="T39" fmla="*/ 565618821 h 468"/>
              <a:gd name="T40" fmla="*/ 125448468 w 315"/>
              <a:gd name="T41" fmla="*/ 554278111 h 468"/>
              <a:gd name="T42" fmla="*/ 143368194 w 315"/>
              <a:gd name="T43" fmla="*/ 537266450 h 468"/>
              <a:gd name="T44" fmla="*/ 143368194 w 315"/>
              <a:gd name="T45" fmla="*/ 520255980 h 468"/>
              <a:gd name="T46" fmla="*/ 161290004 w 315"/>
              <a:gd name="T47" fmla="*/ 501827474 h 468"/>
              <a:gd name="T48" fmla="*/ 179211813 w 315"/>
              <a:gd name="T49" fmla="*/ 479146054 h 468"/>
              <a:gd name="T50" fmla="*/ 197131506 w 315"/>
              <a:gd name="T51" fmla="*/ 462134393 h 468"/>
              <a:gd name="T52" fmla="*/ 215053316 w 315"/>
              <a:gd name="T53" fmla="*/ 445123923 h 468"/>
              <a:gd name="T54" fmla="*/ 250894819 w 315"/>
              <a:gd name="T55" fmla="*/ 428112262 h 468"/>
              <a:gd name="T56" fmla="*/ 268816629 w 315"/>
              <a:gd name="T57" fmla="*/ 411101792 h 468"/>
              <a:gd name="T58" fmla="*/ 309139179 w 315"/>
              <a:gd name="T59" fmla="*/ 394090131 h 468"/>
              <a:gd name="T60" fmla="*/ 344980682 w 315"/>
              <a:gd name="T61" fmla="*/ 377079661 h 468"/>
              <a:gd name="T62" fmla="*/ 362902492 w 315"/>
              <a:gd name="T63" fmla="*/ 360068000 h 468"/>
              <a:gd name="T64" fmla="*/ 398743994 w 315"/>
              <a:gd name="T65" fmla="*/ 343057530 h 468"/>
              <a:gd name="T66" fmla="*/ 434587614 w 315"/>
              <a:gd name="T67" fmla="*/ 326045869 h 468"/>
              <a:gd name="T68" fmla="*/ 452507307 w 315"/>
              <a:gd name="T69" fmla="*/ 314705159 h 468"/>
              <a:gd name="T70" fmla="*/ 488350926 w 315"/>
              <a:gd name="T71" fmla="*/ 296276579 h 468"/>
              <a:gd name="T72" fmla="*/ 542114239 w 315"/>
              <a:gd name="T73" fmla="*/ 273595158 h 468"/>
              <a:gd name="T74" fmla="*/ 577955874 w 315"/>
              <a:gd name="T75" fmla="*/ 256583497 h 468"/>
              <a:gd name="T76" fmla="*/ 631719186 w 315"/>
              <a:gd name="T77" fmla="*/ 233902076 h 468"/>
              <a:gd name="T78" fmla="*/ 685482499 w 315"/>
              <a:gd name="T79" fmla="*/ 211220656 h 468"/>
              <a:gd name="T80" fmla="*/ 739245811 w 315"/>
              <a:gd name="T81" fmla="*/ 194210186 h 468"/>
              <a:gd name="T82" fmla="*/ 793009124 w 315"/>
              <a:gd name="T83" fmla="*/ 171528765 h 468"/>
              <a:gd name="T84" fmla="*/ 846772436 w 315"/>
              <a:gd name="T85" fmla="*/ 154517067 h 468"/>
              <a:gd name="T86" fmla="*/ 900535749 w 315"/>
              <a:gd name="T87" fmla="*/ 137506597 h 468"/>
              <a:gd name="T88" fmla="*/ 958780043 w 315"/>
              <a:gd name="T89" fmla="*/ 120494936 h 468"/>
              <a:gd name="T90" fmla="*/ 1012543356 w 315"/>
              <a:gd name="T91" fmla="*/ 102066430 h 468"/>
              <a:gd name="T92" fmla="*/ 1084226361 w 315"/>
              <a:gd name="T93" fmla="*/ 85055960 h 468"/>
              <a:gd name="T94" fmla="*/ 1137989938 w 315"/>
              <a:gd name="T95" fmla="*/ 68044281 h 468"/>
              <a:gd name="T96" fmla="*/ 1209675060 w 315"/>
              <a:gd name="T97" fmla="*/ 51033810 h 468"/>
              <a:gd name="T98" fmla="*/ 1263438373 w 315"/>
              <a:gd name="T99" fmla="*/ 34022140 h 468"/>
              <a:gd name="T100" fmla="*/ 1335123495 w 315"/>
              <a:gd name="T101" fmla="*/ 17011665 h 468"/>
              <a:gd name="T102" fmla="*/ 1406806501 w 315"/>
              <a:gd name="T103" fmla="*/ 0 h 46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315"/>
              <a:gd name="T157" fmla="*/ 0 h 468"/>
              <a:gd name="T158" fmla="*/ 315 w 315"/>
              <a:gd name="T159" fmla="*/ 468 h 468"/>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315" h="468">
                <a:moveTo>
                  <a:pt x="314" y="0"/>
                </a:moveTo>
                <a:lnTo>
                  <a:pt x="286" y="16"/>
                </a:lnTo>
                <a:lnTo>
                  <a:pt x="258" y="36"/>
                </a:lnTo>
                <a:lnTo>
                  <a:pt x="234" y="60"/>
                </a:lnTo>
                <a:lnTo>
                  <a:pt x="205" y="81"/>
                </a:lnTo>
                <a:lnTo>
                  <a:pt x="181" y="105"/>
                </a:lnTo>
                <a:lnTo>
                  <a:pt x="157" y="129"/>
                </a:lnTo>
                <a:lnTo>
                  <a:pt x="133" y="157"/>
                </a:lnTo>
                <a:lnTo>
                  <a:pt x="113" y="181"/>
                </a:lnTo>
                <a:lnTo>
                  <a:pt x="93" y="209"/>
                </a:lnTo>
                <a:lnTo>
                  <a:pt x="73" y="238"/>
                </a:lnTo>
                <a:lnTo>
                  <a:pt x="56" y="266"/>
                </a:lnTo>
                <a:lnTo>
                  <a:pt x="40" y="294"/>
                </a:lnTo>
                <a:lnTo>
                  <a:pt x="28" y="322"/>
                </a:lnTo>
                <a:lnTo>
                  <a:pt x="16" y="350"/>
                </a:lnTo>
                <a:lnTo>
                  <a:pt x="8" y="379"/>
                </a:lnTo>
                <a:lnTo>
                  <a:pt x="0" y="407"/>
                </a:lnTo>
                <a:lnTo>
                  <a:pt x="101" y="467"/>
                </a:lnTo>
                <a:lnTo>
                  <a:pt x="121" y="451"/>
                </a:lnTo>
                <a:lnTo>
                  <a:pt x="28" y="399"/>
                </a:lnTo>
                <a:lnTo>
                  <a:pt x="28" y="391"/>
                </a:lnTo>
                <a:lnTo>
                  <a:pt x="32" y="379"/>
                </a:lnTo>
                <a:lnTo>
                  <a:pt x="32" y="367"/>
                </a:lnTo>
                <a:lnTo>
                  <a:pt x="36" y="354"/>
                </a:lnTo>
                <a:lnTo>
                  <a:pt x="40" y="338"/>
                </a:lnTo>
                <a:lnTo>
                  <a:pt x="44" y="326"/>
                </a:lnTo>
                <a:lnTo>
                  <a:pt x="48" y="314"/>
                </a:lnTo>
                <a:lnTo>
                  <a:pt x="56" y="302"/>
                </a:lnTo>
                <a:lnTo>
                  <a:pt x="60" y="290"/>
                </a:lnTo>
                <a:lnTo>
                  <a:pt x="69" y="278"/>
                </a:lnTo>
                <a:lnTo>
                  <a:pt x="77" y="266"/>
                </a:lnTo>
                <a:lnTo>
                  <a:pt x="81" y="254"/>
                </a:lnTo>
                <a:lnTo>
                  <a:pt x="89" y="242"/>
                </a:lnTo>
                <a:lnTo>
                  <a:pt x="97" y="230"/>
                </a:lnTo>
                <a:lnTo>
                  <a:pt x="101" y="222"/>
                </a:lnTo>
                <a:lnTo>
                  <a:pt x="109" y="209"/>
                </a:lnTo>
                <a:lnTo>
                  <a:pt x="121" y="193"/>
                </a:lnTo>
                <a:lnTo>
                  <a:pt x="129" y="181"/>
                </a:lnTo>
                <a:lnTo>
                  <a:pt x="141" y="165"/>
                </a:lnTo>
                <a:lnTo>
                  <a:pt x="153" y="149"/>
                </a:lnTo>
                <a:lnTo>
                  <a:pt x="165" y="137"/>
                </a:lnTo>
                <a:lnTo>
                  <a:pt x="177" y="121"/>
                </a:lnTo>
                <a:lnTo>
                  <a:pt x="189" y="109"/>
                </a:lnTo>
                <a:lnTo>
                  <a:pt x="201" y="97"/>
                </a:lnTo>
                <a:lnTo>
                  <a:pt x="214" y="85"/>
                </a:lnTo>
                <a:lnTo>
                  <a:pt x="226" y="72"/>
                </a:lnTo>
                <a:lnTo>
                  <a:pt x="242" y="60"/>
                </a:lnTo>
                <a:lnTo>
                  <a:pt x="254" y="48"/>
                </a:lnTo>
                <a:lnTo>
                  <a:pt x="270" y="36"/>
                </a:lnTo>
                <a:lnTo>
                  <a:pt x="282" y="24"/>
                </a:lnTo>
                <a:lnTo>
                  <a:pt x="298" y="12"/>
                </a:lnTo>
                <a:lnTo>
                  <a:pt x="314" y="0"/>
                </a:lnTo>
              </a:path>
            </a:pathLst>
          </a:custGeom>
          <a:solidFill>
            <a:srgbClr val="FFFFFF"/>
          </a:solidFill>
          <a:ln w="9525" cap="rnd">
            <a:noFill/>
            <a:round/>
            <a:headEnd/>
            <a:tailEnd/>
          </a:ln>
        </p:spPr>
        <p:txBody>
          <a:bodyPr/>
          <a:lstStyle/>
          <a:p>
            <a:endParaRPr lang="en-US"/>
          </a:p>
        </p:txBody>
      </p:sp>
      <p:sp>
        <p:nvSpPr>
          <p:cNvPr id="22533" name="Rectangle 4"/>
          <p:cNvSpPr>
            <a:spLocks noChangeArrowheads="1"/>
          </p:cNvSpPr>
          <p:nvPr/>
        </p:nvSpPr>
        <p:spPr bwMode="auto">
          <a:xfrm>
            <a:off x="1524000" y="914400"/>
            <a:ext cx="427038" cy="762000"/>
          </a:xfrm>
          <a:prstGeom prst="rect">
            <a:avLst/>
          </a:prstGeom>
          <a:noFill/>
          <a:ln w="9525">
            <a:noFill/>
            <a:miter lim="800000"/>
            <a:headEnd/>
            <a:tailEnd/>
          </a:ln>
        </p:spPr>
        <p:txBody>
          <a:bodyPr wrap="none" lIns="92075" tIns="46038" rIns="92075" bIns="46038">
            <a:spAutoFit/>
          </a:bodyPr>
          <a:lstStyle/>
          <a:p>
            <a:r>
              <a:rPr lang="en-US" sz="4400">
                <a:latin typeface="Comic Sans MS" pitchFamily="66" charset="0"/>
              </a:rPr>
              <a:t> </a:t>
            </a:r>
            <a:endParaRPr lang="en-US" b="0">
              <a:solidFill>
                <a:srgbClr val="CC3300"/>
              </a:solidFill>
              <a:latin typeface="Comic Sans MS" pitchFamily="66" charset="0"/>
            </a:endParaRPr>
          </a:p>
        </p:txBody>
      </p:sp>
      <p:sp>
        <p:nvSpPr>
          <p:cNvPr id="7" name="Rectangle 6"/>
          <p:cNvSpPr/>
          <p:nvPr/>
        </p:nvSpPr>
        <p:spPr>
          <a:xfrm>
            <a:off x="1752600" y="2209800"/>
            <a:ext cx="5638800" cy="1200329"/>
          </a:xfrm>
          <a:prstGeom prst="rect">
            <a:avLst/>
          </a:prstGeom>
          <a:solidFill>
            <a:srgbClr val="FFFFCC"/>
          </a:solidFill>
          <a:ln w="38100">
            <a:solidFill>
              <a:srgbClr val="0066FF"/>
            </a:solidFill>
          </a:ln>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7200" dirty="0" smtClean="0">
                <a:ln w="11430">
                  <a:solidFill>
                    <a:srgbClr val="FFFF00"/>
                  </a:solidFill>
                </a:ln>
                <a:solidFill>
                  <a:srgbClr val="0066FF"/>
                </a:solidFill>
                <a:effectLst>
                  <a:outerShdw blurRad="50800" dist="39000" dir="5460000" algn="tl">
                    <a:srgbClr val="000000">
                      <a:alpha val="38000"/>
                    </a:srgbClr>
                  </a:outerShdw>
                </a:effectLst>
              </a:rPr>
              <a:t>Methods</a:t>
            </a:r>
            <a:endParaRPr lang="en-US" sz="7200" b="1" cap="none" spc="0" dirty="0">
              <a:ln w="11430">
                <a:solidFill>
                  <a:srgbClr val="FFFF00"/>
                </a:solidFill>
              </a:ln>
              <a:solidFill>
                <a:srgbClr val="0066FF"/>
              </a:solidFill>
              <a:effectLst>
                <a:outerShdw blurRad="50800" dist="39000" dir="5460000" algn="tl">
                  <a:srgbClr val="000000">
                    <a:alpha val="38000"/>
                  </a:srgbClr>
                </a:outerShdw>
              </a:effectLs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18436" name="Text Box 3"/>
          <p:cNvSpPr txBox="1">
            <a:spLocks noChangeArrowheads="1"/>
          </p:cNvSpPr>
          <p:nvPr/>
        </p:nvSpPr>
        <p:spPr bwMode="auto">
          <a:xfrm>
            <a:off x="1371600" y="2057400"/>
            <a:ext cx="6740525" cy="2955925"/>
          </a:xfrm>
          <a:prstGeom prst="rect">
            <a:avLst/>
          </a:prstGeom>
          <a:noFill/>
          <a:ln w="9525">
            <a:noFill/>
            <a:miter lim="800000"/>
            <a:headEnd/>
            <a:tailEnd/>
          </a:ln>
        </p:spPr>
        <p:txBody>
          <a:bodyPr wrap="none">
            <a:spAutoFit/>
          </a:bodyPr>
          <a:lstStyle/>
          <a:p>
            <a:r>
              <a:rPr lang="en-US" sz="3200"/>
              <a:t>A method is a storage location</a:t>
            </a:r>
          </a:p>
          <a:p>
            <a:r>
              <a:rPr lang="en-US" sz="3200"/>
              <a:t>for related program statements.</a:t>
            </a:r>
          </a:p>
          <a:p>
            <a:r>
              <a:rPr lang="en-US" sz="3200"/>
              <a:t>When called, a method usually </a:t>
            </a:r>
          </a:p>
          <a:p>
            <a:r>
              <a:rPr lang="en-US" sz="3200"/>
              <a:t>performs a specific task.</a:t>
            </a:r>
          </a:p>
          <a:p>
            <a:endParaRPr lang="en-US" sz="3200"/>
          </a:p>
          <a:p>
            <a:r>
              <a:rPr lang="en-US" sz="2800"/>
              <a:t>System.out.println( )</a:t>
            </a:r>
            <a:endParaRPr lang="en-US" sz="3600"/>
          </a:p>
        </p:txBody>
      </p:sp>
      <p:sp>
        <p:nvSpPr>
          <p:cNvPr id="6" name="Rectangle 5"/>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What is a method?</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19459" name="WordArt 2"/>
          <p:cNvSpPr>
            <a:spLocks noChangeArrowheads="1" noChangeShapeType="1" noTextEdit="1"/>
          </p:cNvSpPr>
          <p:nvPr/>
        </p:nvSpPr>
        <p:spPr bwMode="auto">
          <a:xfrm>
            <a:off x="1066800" y="2286000"/>
            <a:ext cx="6400800" cy="609600"/>
          </a:xfrm>
          <a:prstGeom prst="rect">
            <a:avLst/>
          </a:prstGeom>
        </p:spPr>
        <p:txBody>
          <a:bodyPr wrap="none" fromWordArt="1">
            <a:prstTxWarp prst="textPlain">
              <a:avLst>
                <a:gd name="adj" fmla="val 50000"/>
              </a:avLst>
            </a:prstTxWarp>
          </a:bodyPr>
          <a:lstStyle/>
          <a:p>
            <a:pPr algn="ctr"/>
            <a:r>
              <a:rPr lang="en-US" sz="3600" kern="10" dirty="0" err="1" smtClean="0">
                <a:ln w="9525">
                  <a:solidFill>
                    <a:srgbClr val="FFFF00"/>
                  </a:solidFill>
                  <a:round/>
                  <a:headEnd/>
                  <a:tailEnd/>
                </a:ln>
                <a:solidFill>
                  <a:srgbClr val="0000FF"/>
                </a:solidFill>
                <a:effectLst>
                  <a:outerShdw dist="35921" dir="2700000" algn="ctr" rotWithShape="0">
                    <a:srgbClr val="C0C0C0"/>
                  </a:outerShdw>
                </a:effectLst>
                <a:latin typeface="Impact"/>
              </a:rPr>
              <a:t>Math.random</a:t>
            </a:r>
            <a:r>
              <a:rPr lang="en-US" sz="3600" kern="10" dirty="0" smtClean="0">
                <a:ln w="9525">
                  <a:solidFill>
                    <a:srgbClr val="FFFF00"/>
                  </a:solidFill>
                  <a:round/>
                  <a:headEnd/>
                  <a:tailEnd/>
                </a:ln>
                <a:solidFill>
                  <a:srgbClr val="0000FF"/>
                </a:solidFill>
                <a:effectLst>
                  <a:outerShdw dist="35921" dir="2700000" algn="ctr" rotWithShape="0">
                    <a:srgbClr val="C0C0C0"/>
                  </a:outerShdw>
                </a:effectLst>
                <a:latin typeface="Impact"/>
              </a:rPr>
              <a:t>()</a:t>
            </a:r>
            <a:endParaRPr lang="en-US" sz="3600" kern="10" dirty="0">
              <a:ln w="9525">
                <a:solidFill>
                  <a:srgbClr val="FFFF00"/>
                </a:solidFill>
                <a:round/>
                <a:headEnd/>
                <a:tailEnd/>
              </a:ln>
              <a:solidFill>
                <a:srgbClr val="0000FF"/>
              </a:solidFill>
              <a:effectLst>
                <a:outerShdw dist="35921" dir="2700000" algn="ctr" rotWithShape="0">
                  <a:srgbClr val="C0C0C0"/>
                </a:outerShdw>
              </a:effectLst>
              <a:latin typeface="Impact"/>
            </a:endParaRPr>
          </a:p>
        </p:txBody>
      </p:sp>
      <p:sp>
        <p:nvSpPr>
          <p:cNvPr id="19460" name="WordArt 3"/>
          <p:cNvSpPr>
            <a:spLocks noChangeArrowheads="1" noChangeShapeType="1" noTextEdit="1"/>
          </p:cNvSpPr>
          <p:nvPr/>
        </p:nvSpPr>
        <p:spPr bwMode="auto">
          <a:xfrm>
            <a:off x="990600" y="4876800"/>
            <a:ext cx="6172200" cy="9144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a:rPr>
              <a:t>System.out.println( )</a:t>
            </a:r>
          </a:p>
        </p:txBody>
      </p:sp>
      <p:sp>
        <p:nvSpPr>
          <p:cNvPr id="19461" name="WordArt 4"/>
          <p:cNvSpPr>
            <a:spLocks noChangeArrowheads="1" noChangeShapeType="1" noTextEdit="1"/>
          </p:cNvSpPr>
          <p:nvPr/>
        </p:nvSpPr>
        <p:spPr bwMode="auto">
          <a:xfrm>
            <a:off x="2057400" y="3505200"/>
            <a:ext cx="6172200" cy="685800"/>
          </a:xfrm>
          <a:prstGeom prst="rect">
            <a:avLst/>
          </a:prstGeom>
        </p:spPr>
        <p:txBody>
          <a:bodyPr wrap="none" fromWordArt="1">
            <a:prstTxWarp prst="textPlain">
              <a:avLst>
                <a:gd name="adj" fmla="val 50000"/>
              </a:avLst>
            </a:prstTxWarp>
          </a:bodyPr>
          <a:lstStyle/>
          <a:p>
            <a:pPr algn="ctr"/>
            <a:r>
              <a:rPr lang="en-US" sz="3600" kern="10">
                <a:ln w="9525">
                  <a:solidFill>
                    <a:srgbClr val="FFCC00"/>
                  </a:solidFill>
                  <a:round/>
                  <a:headEnd/>
                  <a:tailEnd/>
                </a:ln>
                <a:solidFill>
                  <a:srgbClr val="008000"/>
                </a:solidFill>
                <a:effectLst>
                  <a:outerShdw dist="35921" dir="2700000" algn="ctr" rotWithShape="0">
                    <a:srgbClr val="C0C0C0">
                      <a:alpha val="79999"/>
                    </a:srgbClr>
                  </a:outerShdw>
                </a:effectLst>
                <a:latin typeface="Impact"/>
              </a:rPr>
              <a:t>keyboard.nextInt( )</a:t>
            </a:r>
          </a:p>
        </p:txBody>
      </p:sp>
      <p:sp>
        <p:nvSpPr>
          <p:cNvPr id="9" name="Rectangle 8"/>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Common Methods</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20483" name="Text Box 2"/>
          <p:cNvSpPr txBox="1">
            <a:spLocks noChangeArrowheads="1"/>
          </p:cNvSpPr>
          <p:nvPr/>
        </p:nvSpPr>
        <p:spPr bwMode="auto">
          <a:xfrm>
            <a:off x="685800" y="1600200"/>
            <a:ext cx="6633547" cy="2308324"/>
          </a:xfrm>
          <a:prstGeom prst="rect">
            <a:avLst/>
          </a:prstGeom>
          <a:noFill/>
          <a:ln w="9525">
            <a:noFill/>
            <a:miter lim="800000"/>
            <a:headEnd/>
            <a:tailEnd/>
          </a:ln>
        </p:spPr>
        <p:txBody>
          <a:bodyPr wrap="none">
            <a:spAutoFit/>
          </a:bodyPr>
          <a:lstStyle/>
          <a:p>
            <a:r>
              <a:rPr lang="en-US" sz="3600" dirty="0"/>
              <a:t>public void speak()</a:t>
            </a:r>
          </a:p>
          <a:p>
            <a:r>
              <a:rPr lang="en-US" sz="3600" dirty="0"/>
              <a:t>{</a:t>
            </a:r>
          </a:p>
          <a:p>
            <a:r>
              <a:rPr lang="en-US" sz="3600" dirty="0"/>
              <a:t>   </a:t>
            </a:r>
            <a:r>
              <a:rPr lang="en-US" sz="3600" dirty="0" err="1"/>
              <a:t>out.println</a:t>
            </a:r>
            <a:r>
              <a:rPr lang="en-US" sz="3600" dirty="0" smtClean="0"/>
              <a:t>("chirp-chirp");</a:t>
            </a:r>
            <a:endParaRPr lang="en-US" sz="3600" dirty="0"/>
          </a:p>
          <a:p>
            <a:r>
              <a:rPr lang="en-US" sz="3600" dirty="0"/>
              <a:t>}</a:t>
            </a:r>
          </a:p>
        </p:txBody>
      </p:sp>
      <p:sp>
        <p:nvSpPr>
          <p:cNvPr id="20485" name="Text Box 4"/>
          <p:cNvSpPr txBox="1">
            <a:spLocks noChangeArrowheads="1"/>
          </p:cNvSpPr>
          <p:nvPr/>
        </p:nvSpPr>
        <p:spPr bwMode="auto">
          <a:xfrm>
            <a:off x="6019800" y="4343400"/>
            <a:ext cx="2362200" cy="1019175"/>
          </a:xfrm>
          <a:prstGeom prst="rect">
            <a:avLst/>
          </a:prstGeom>
          <a:noFill/>
          <a:ln w="12700">
            <a:solidFill>
              <a:srgbClr val="993300"/>
            </a:solidFill>
            <a:miter lim="800000"/>
            <a:headEnd type="none" w="sm" len="sm"/>
            <a:tailEnd type="none" w="sm" len="sm"/>
          </a:ln>
        </p:spPr>
        <p:txBody>
          <a:bodyPr>
            <a:spAutoFit/>
          </a:bodyPr>
          <a:lstStyle/>
          <a:p>
            <a:pPr>
              <a:spcBef>
                <a:spcPct val="50000"/>
              </a:spcBef>
            </a:pPr>
            <a:r>
              <a:rPr lang="en-US" sz="3200" u="sng" dirty="0">
                <a:solidFill>
                  <a:srgbClr val="FF0000"/>
                </a:solidFill>
              </a:rPr>
              <a:t>OUTPUT</a:t>
            </a:r>
          </a:p>
          <a:p>
            <a:r>
              <a:rPr lang="en-US" sz="2800" dirty="0" smtClean="0"/>
              <a:t>chirp-chirp</a:t>
            </a:r>
            <a:endParaRPr lang="en-US" sz="2800" dirty="0"/>
          </a:p>
        </p:txBody>
      </p:sp>
      <p:sp>
        <p:nvSpPr>
          <p:cNvPr id="8" name="Rectangle 7"/>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Methods</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pic>
        <p:nvPicPr>
          <p:cNvPr id="7" name="Picture 6"/>
          <p:cNvPicPr>
            <a:picLocks noChangeAspect="1" noChangeArrowheads="1"/>
          </p:cNvPicPr>
          <p:nvPr/>
        </p:nvPicPr>
        <p:blipFill>
          <a:blip r:embed="rId3" cstate="print"/>
          <a:srcRect/>
          <a:stretch>
            <a:fillRect/>
          </a:stretch>
        </p:blipFill>
        <p:spPr bwMode="auto">
          <a:xfrm>
            <a:off x="2209800" y="3810000"/>
            <a:ext cx="2038350" cy="22669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21507" name="Text Box 2"/>
          <p:cNvSpPr txBox="1">
            <a:spLocks noChangeArrowheads="1"/>
          </p:cNvSpPr>
          <p:nvPr/>
        </p:nvSpPr>
        <p:spPr bwMode="auto">
          <a:xfrm>
            <a:off x="5622925" y="438150"/>
            <a:ext cx="184150" cy="519113"/>
          </a:xfrm>
          <a:prstGeom prst="rect">
            <a:avLst/>
          </a:prstGeom>
          <a:noFill/>
          <a:ln w="12700">
            <a:noFill/>
            <a:miter lim="800000"/>
            <a:headEnd type="none" w="sm" len="sm"/>
            <a:tailEnd type="none" w="sm" len="sm"/>
          </a:ln>
        </p:spPr>
        <p:txBody>
          <a:bodyPr wrap="none">
            <a:spAutoFit/>
          </a:bodyPr>
          <a:lstStyle/>
          <a:p>
            <a:pPr eaLnBrk="1" hangingPunct="1"/>
            <a:endParaRPr lang="en-US" sz="2800"/>
          </a:p>
        </p:txBody>
      </p:sp>
      <p:sp>
        <p:nvSpPr>
          <p:cNvPr id="21508" name="Text Box 4"/>
          <p:cNvSpPr txBox="1">
            <a:spLocks noChangeArrowheads="1"/>
          </p:cNvSpPr>
          <p:nvPr/>
        </p:nvSpPr>
        <p:spPr bwMode="auto">
          <a:xfrm>
            <a:off x="5622925" y="438150"/>
            <a:ext cx="184150" cy="519113"/>
          </a:xfrm>
          <a:prstGeom prst="rect">
            <a:avLst/>
          </a:prstGeom>
          <a:noFill/>
          <a:ln w="12700">
            <a:noFill/>
            <a:miter lim="800000"/>
            <a:headEnd type="none" w="sm" len="sm"/>
            <a:tailEnd type="none" w="sm" len="sm"/>
          </a:ln>
        </p:spPr>
        <p:txBody>
          <a:bodyPr wrap="none">
            <a:spAutoFit/>
          </a:bodyPr>
          <a:lstStyle/>
          <a:p>
            <a:pPr eaLnBrk="1" hangingPunct="1"/>
            <a:endParaRPr lang="en-US" sz="2800"/>
          </a:p>
        </p:txBody>
      </p:sp>
      <p:sp>
        <p:nvSpPr>
          <p:cNvPr id="21509" name="Text Box 5"/>
          <p:cNvSpPr txBox="1">
            <a:spLocks noChangeArrowheads="1"/>
          </p:cNvSpPr>
          <p:nvPr/>
        </p:nvSpPr>
        <p:spPr bwMode="auto">
          <a:xfrm>
            <a:off x="3124200" y="1905000"/>
            <a:ext cx="2057400" cy="482600"/>
          </a:xfrm>
          <a:prstGeom prst="rect">
            <a:avLst/>
          </a:prstGeom>
          <a:solidFill>
            <a:schemeClr val="bg1">
              <a:alpha val="0"/>
            </a:schemeClr>
          </a:solidFill>
          <a:ln w="25400">
            <a:solidFill>
              <a:srgbClr val="FF0000"/>
            </a:solidFill>
            <a:miter lim="800000"/>
            <a:headEnd type="none" w="sm" len="sm"/>
            <a:tailEnd type="none" w="sm" len="sm"/>
          </a:ln>
        </p:spPr>
        <p:txBody>
          <a:bodyPr>
            <a:spAutoFit/>
          </a:bodyPr>
          <a:lstStyle/>
          <a:p>
            <a:pPr>
              <a:spcBef>
                <a:spcPct val="50000"/>
              </a:spcBef>
            </a:pPr>
            <a:r>
              <a:rPr lang="en-US" sz="2400">
                <a:solidFill>
                  <a:srgbClr val="CC0000"/>
                </a:solidFill>
              </a:rPr>
              <a:t>return type</a:t>
            </a:r>
          </a:p>
        </p:txBody>
      </p:sp>
      <p:sp>
        <p:nvSpPr>
          <p:cNvPr id="21510" name="Text Box 10"/>
          <p:cNvSpPr txBox="1">
            <a:spLocks noChangeArrowheads="1"/>
          </p:cNvSpPr>
          <p:nvPr/>
        </p:nvSpPr>
        <p:spPr bwMode="auto">
          <a:xfrm>
            <a:off x="5334000" y="1905000"/>
            <a:ext cx="1066800" cy="482600"/>
          </a:xfrm>
          <a:prstGeom prst="rect">
            <a:avLst/>
          </a:prstGeom>
          <a:solidFill>
            <a:schemeClr val="bg1">
              <a:alpha val="0"/>
            </a:schemeClr>
          </a:solidFill>
          <a:ln w="25400">
            <a:solidFill>
              <a:srgbClr val="333399"/>
            </a:solidFill>
            <a:miter lim="800000"/>
            <a:headEnd type="none" w="sm" len="sm"/>
            <a:tailEnd type="none" w="sm" len="sm"/>
          </a:ln>
        </p:spPr>
        <p:txBody>
          <a:bodyPr>
            <a:spAutoFit/>
          </a:bodyPr>
          <a:lstStyle/>
          <a:p>
            <a:pPr>
              <a:spcBef>
                <a:spcPct val="50000"/>
              </a:spcBef>
            </a:pPr>
            <a:r>
              <a:rPr lang="en-US" sz="2400">
                <a:solidFill>
                  <a:srgbClr val="000066"/>
                </a:solidFill>
              </a:rPr>
              <a:t>name</a:t>
            </a:r>
          </a:p>
        </p:txBody>
      </p:sp>
      <p:sp>
        <p:nvSpPr>
          <p:cNvPr id="21511" name="Text Box 11"/>
          <p:cNvSpPr txBox="1">
            <a:spLocks noChangeArrowheads="1"/>
          </p:cNvSpPr>
          <p:nvPr/>
        </p:nvSpPr>
        <p:spPr bwMode="auto">
          <a:xfrm>
            <a:off x="6553200" y="1905000"/>
            <a:ext cx="1524000" cy="482600"/>
          </a:xfrm>
          <a:prstGeom prst="rect">
            <a:avLst/>
          </a:prstGeom>
          <a:solidFill>
            <a:schemeClr val="bg1">
              <a:alpha val="0"/>
            </a:schemeClr>
          </a:solidFill>
          <a:ln w="25400">
            <a:solidFill>
              <a:srgbClr val="008000"/>
            </a:solidFill>
            <a:miter lim="800000"/>
            <a:headEnd type="none" w="sm" len="sm"/>
            <a:tailEnd type="none" w="sm" len="sm"/>
          </a:ln>
        </p:spPr>
        <p:txBody>
          <a:bodyPr>
            <a:spAutoFit/>
          </a:bodyPr>
          <a:lstStyle/>
          <a:p>
            <a:pPr>
              <a:spcBef>
                <a:spcPct val="50000"/>
              </a:spcBef>
            </a:pPr>
            <a:r>
              <a:rPr lang="en-US" sz="2400">
                <a:solidFill>
                  <a:srgbClr val="008000"/>
                </a:solidFill>
              </a:rPr>
              <a:t>params</a:t>
            </a:r>
          </a:p>
        </p:txBody>
      </p:sp>
      <p:sp>
        <p:nvSpPr>
          <p:cNvPr id="21512" name="Text Box 13"/>
          <p:cNvSpPr txBox="1">
            <a:spLocks noChangeArrowheads="1"/>
          </p:cNvSpPr>
          <p:nvPr/>
        </p:nvSpPr>
        <p:spPr bwMode="auto">
          <a:xfrm>
            <a:off x="762000" y="2590800"/>
            <a:ext cx="7315200" cy="482600"/>
          </a:xfrm>
          <a:prstGeom prst="rect">
            <a:avLst/>
          </a:prstGeom>
          <a:solidFill>
            <a:schemeClr val="bg1">
              <a:alpha val="0"/>
            </a:schemeClr>
          </a:solidFill>
          <a:ln w="25400">
            <a:solidFill>
              <a:srgbClr val="FF9900"/>
            </a:solidFill>
            <a:miter lim="800000"/>
            <a:headEnd type="none" w="sm" len="sm"/>
            <a:tailEnd type="none" w="sm" len="sm"/>
          </a:ln>
        </p:spPr>
        <p:txBody>
          <a:bodyPr>
            <a:spAutoFit/>
          </a:bodyPr>
          <a:lstStyle/>
          <a:p>
            <a:pPr algn="ctr">
              <a:spcBef>
                <a:spcPct val="50000"/>
              </a:spcBef>
            </a:pPr>
            <a:r>
              <a:rPr lang="en-US" sz="2400">
                <a:solidFill>
                  <a:srgbClr val="FF9900"/>
                </a:solidFill>
              </a:rPr>
              <a:t>code</a:t>
            </a:r>
          </a:p>
        </p:txBody>
      </p:sp>
      <p:sp>
        <p:nvSpPr>
          <p:cNvPr id="21513" name="Text Box 14"/>
          <p:cNvSpPr txBox="1">
            <a:spLocks noChangeArrowheads="1"/>
          </p:cNvSpPr>
          <p:nvPr/>
        </p:nvSpPr>
        <p:spPr bwMode="auto">
          <a:xfrm>
            <a:off x="762000" y="1905000"/>
            <a:ext cx="2209800" cy="482600"/>
          </a:xfrm>
          <a:prstGeom prst="rect">
            <a:avLst/>
          </a:prstGeom>
          <a:solidFill>
            <a:schemeClr val="bg1">
              <a:alpha val="0"/>
            </a:schemeClr>
          </a:solidFill>
          <a:ln w="25400">
            <a:solidFill>
              <a:srgbClr val="0099CC"/>
            </a:solidFill>
            <a:miter lim="800000"/>
            <a:headEnd type="none" w="sm" len="sm"/>
            <a:tailEnd type="none" w="sm" len="sm"/>
          </a:ln>
        </p:spPr>
        <p:txBody>
          <a:bodyPr>
            <a:spAutoFit/>
          </a:bodyPr>
          <a:lstStyle/>
          <a:p>
            <a:pPr algn="ctr">
              <a:spcBef>
                <a:spcPct val="50000"/>
              </a:spcBef>
            </a:pPr>
            <a:r>
              <a:rPr lang="en-US" sz="2400">
                <a:solidFill>
                  <a:srgbClr val="0099CC"/>
                </a:solidFill>
              </a:rPr>
              <a:t>access</a:t>
            </a:r>
          </a:p>
        </p:txBody>
      </p:sp>
      <p:sp>
        <p:nvSpPr>
          <p:cNvPr id="21515" name="Text Box 17"/>
          <p:cNvSpPr txBox="1">
            <a:spLocks noChangeArrowheads="1"/>
          </p:cNvSpPr>
          <p:nvPr/>
        </p:nvSpPr>
        <p:spPr bwMode="auto">
          <a:xfrm>
            <a:off x="838200" y="3810000"/>
            <a:ext cx="6746875" cy="1800225"/>
          </a:xfrm>
          <a:prstGeom prst="rect">
            <a:avLst/>
          </a:prstGeom>
          <a:noFill/>
          <a:ln w="9525">
            <a:noFill/>
            <a:miter lim="800000"/>
            <a:headEnd/>
            <a:tailEnd/>
          </a:ln>
        </p:spPr>
        <p:txBody>
          <a:bodyPr wrap="none">
            <a:spAutoFit/>
          </a:bodyPr>
          <a:lstStyle/>
          <a:p>
            <a:r>
              <a:rPr lang="en-US" sz="2800" dirty="0">
                <a:solidFill>
                  <a:srgbClr val="0099CC"/>
                </a:solidFill>
              </a:rPr>
              <a:t>public </a:t>
            </a:r>
            <a:r>
              <a:rPr lang="en-US" sz="2800" dirty="0"/>
              <a:t>		</a:t>
            </a:r>
            <a:r>
              <a:rPr lang="en-US" sz="2800" dirty="0">
                <a:solidFill>
                  <a:srgbClr val="CC0000"/>
                </a:solidFill>
              </a:rPr>
              <a:t>void </a:t>
            </a:r>
            <a:r>
              <a:rPr lang="en-US" sz="2800" dirty="0"/>
              <a:t>		</a:t>
            </a:r>
            <a:r>
              <a:rPr lang="en-US" sz="2800" dirty="0">
                <a:solidFill>
                  <a:srgbClr val="000066"/>
                </a:solidFill>
              </a:rPr>
              <a:t>speak</a:t>
            </a:r>
            <a:r>
              <a:rPr lang="en-US" sz="2800" dirty="0">
                <a:solidFill>
                  <a:srgbClr val="008000"/>
                </a:solidFill>
              </a:rPr>
              <a:t>( 	)</a:t>
            </a:r>
          </a:p>
          <a:p>
            <a:r>
              <a:rPr lang="en-US" sz="2800" dirty="0">
                <a:solidFill>
                  <a:srgbClr val="FF9900"/>
                </a:solidFill>
              </a:rPr>
              <a:t>{</a:t>
            </a:r>
          </a:p>
          <a:p>
            <a:r>
              <a:rPr lang="en-US" sz="2800" dirty="0">
                <a:solidFill>
                  <a:srgbClr val="FF9900"/>
                </a:solidFill>
              </a:rPr>
              <a:t>   </a:t>
            </a:r>
            <a:r>
              <a:rPr lang="en-US" sz="2800" dirty="0" err="1">
                <a:solidFill>
                  <a:srgbClr val="FF9900"/>
                </a:solidFill>
              </a:rPr>
              <a:t>System.out.println</a:t>
            </a:r>
            <a:r>
              <a:rPr lang="en-US" sz="2800" dirty="0" smtClean="0">
                <a:solidFill>
                  <a:srgbClr val="FF9900"/>
                </a:solidFill>
              </a:rPr>
              <a:t>("chirp-chirp");</a:t>
            </a:r>
            <a:endParaRPr lang="en-US" sz="2800" dirty="0">
              <a:solidFill>
                <a:srgbClr val="FF9900"/>
              </a:solidFill>
            </a:endParaRPr>
          </a:p>
          <a:p>
            <a:r>
              <a:rPr lang="en-US" sz="2800" dirty="0">
                <a:solidFill>
                  <a:srgbClr val="FF9900"/>
                </a:solidFill>
              </a:rPr>
              <a:t>}</a:t>
            </a:r>
          </a:p>
        </p:txBody>
      </p:sp>
      <p:sp>
        <p:nvSpPr>
          <p:cNvPr id="13" name="Rectangle 12"/>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Methods</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149506" name="Rectangle 2"/>
          <p:cNvSpPr>
            <a:spLocks noChangeArrowheads="1"/>
          </p:cNvSpPr>
          <p:nvPr/>
        </p:nvSpPr>
        <p:spPr bwMode="auto">
          <a:xfrm>
            <a:off x="1143000" y="1981200"/>
            <a:ext cx="7010400" cy="3140075"/>
          </a:xfrm>
          <a:prstGeom prst="rect">
            <a:avLst/>
          </a:prstGeom>
          <a:noFill/>
          <a:ln w="9525">
            <a:noFill/>
            <a:miter lim="800000"/>
            <a:headEnd/>
            <a:tailEnd/>
          </a:ln>
        </p:spPr>
        <p:txBody>
          <a:bodyPr lIns="92075" tIns="46038" rIns="92075" bIns="46038">
            <a:spAutoFit/>
          </a:bodyPr>
          <a:lstStyle/>
          <a:p>
            <a:r>
              <a:rPr lang="en-US" sz="4000" dirty="0">
                <a:latin typeface="Arial" charset="0"/>
              </a:rPr>
              <a:t>All members with public</a:t>
            </a:r>
          </a:p>
          <a:p>
            <a:r>
              <a:rPr lang="en-US" sz="4000" dirty="0">
                <a:latin typeface="Arial" charset="0"/>
              </a:rPr>
              <a:t>access can be accessed or</a:t>
            </a:r>
          </a:p>
          <a:p>
            <a:r>
              <a:rPr lang="en-US" sz="4000" dirty="0">
                <a:latin typeface="Arial" charset="0"/>
              </a:rPr>
              <a:t>modified inside and outside of the class where they are</a:t>
            </a:r>
          </a:p>
          <a:p>
            <a:r>
              <a:rPr lang="en-US" sz="4000" dirty="0">
                <a:latin typeface="Arial" charset="0"/>
              </a:rPr>
              <a:t>defined.</a:t>
            </a:r>
            <a:endParaRPr lang="en-US" sz="3600" dirty="0">
              <a:latin typeface="Arial" charset="0"/>
            </a:endParaRPr>
          </a:p>
        </p:txBody>
      </p:sp>
      <p:sp>
        <p:nvSpPr>
          <p:cNvPr id="6" name="Rectangle 5"/>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Public</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9506"/>
                                        </p:tgtEl>
                                        <p:attrNameLst>
                                          <p:attrName>style.visibility</p:attrName>
                                        </p:attrNameLst>
                                      </p:cBhvr>
                                      <p:to>
                                        <p:strVal val="visible"/>
                                      </p:to>
                                    </p:set>
                                    <p:anim calcmode="lin" valueType="num">
                                      <p:cBhvr additive="base">
                                        <p:cTn id="7" dur="500" fill="hold"/>
                                        <p:tgtEl>
                                          <p:spTgt spid="149506"/>
                                        </p:tgtEl>
                                        <p:attrNameLst>
                                          <p:attrName>ppt_x</p:attrName>
                                        </p:attrNameLst>
                                      </p:cBhvr>
                                      <p:tavLst>
                                        <p:tav tm="0">
                                          <p:val>
                                            <p:strVal val="0-#ppt_w/2"/>
                                          </p:val>
                                        </p:tav>
                                        <p:tav tm="100000">
                                          <p:val>
                                            <p:strVal val="#ppt_x"/>
                                          </p:val>
                                        </p:tav>
                                      </p:tavLst>
                                    </p:anim>
                                    <p:anim calcmode="lin" valueType="num">
                                      <p:cBhvr additive="base">
                                        <p:cTn id="8" dur="500" fill="hold"/>
                                        <p:tgtEl>
                                          <p:spTgt spid="14950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6"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25603" name="Text Box 2"/>
          <p:cNvSpPr txBox="1">
            <a:spLocks noChangeArrowheads="1"/>
          </p:cNvSpPr>
          <p:nvPr/>
        </p:nvSpPr>
        <p:spPr bwMode="auto">
          <a:xfrm>
            <a:off x="381000" y="228600"/>
            <a:ext cx="4764088" cy="6188075"/>
          </a:xfrm>
          <a:prstGeom prst="rect">
            <a:avLst/>
          </a:prstGeom>
          <a:noFill/>
          <a:ln w="9525">
            <a:noFill/>
            <a:miter lim="800000"/>
            <a:headEnd/>
            <a:tailEnd/>
          </a:ln>
        </p:spPr>
        <p:txBody>
          <a:bodyPr wrap="none">
            <a:spAutoFit/>
          </a:bodyPr>
          <a:lstStyle/>
          <a:p>
            <a:r>
              <a:rPr lang="en-US"/>
              <a:t>public class Turkey</a:t>
            </a:r>
          </a:p>
          <a:p>
            <a:r>
              <a:rPr lang="en-US"/>
              <a:t>{</a:t>
            </a:r>
          </a:p>
          <a:p>
            <a:r>
              <a:rPr lang="en-US"/>
              <a:t>   public void speak()</a:t>
            </a:r>
          </a:p>
          <a:p>
            <a:r>
              <a:rPr lang="en-US"/>
              <a:t>   {</a:t>
            </a:r>
          </a:p>
          <a:p>
            <a:r>
              <a:rPr lang="en-US"/>
              <a:t>      out.println("gobble-gobble");</a:t>
            </a:r>
          </a:p>
          <a:p>
            <a:r>
              <a:rPr lang="en-US"/>
              <a:t>   }</a:t>
            </a:r>
          </a:p>
          <a:p>
            <a:endParaRPr lang="en-US"/>
          </a:p>
          <a:p>
            <a:r>
              <a:rPr lang="en-US"/>
              <a:t>   public void sayName()</a:t>
            </a:r>
          </a:p>
          <a:p>
            <a:r>
              <a:rPr lang="en-US"/>
              <a:t>   {</a:t>
            </a:r>
          </a:p>
          <a:p>
            <a:r>
              <a:rPr lang="en-US"/>
              <a:t>      out.println("big bird");</a:t>
            </a:r>
          </a:p>
          <a:p>
            <a:r>
              <a:rPr lang="en-US"/>
              <a:t>   }   </a:t>
            </a:r>
          </a:p>
          <a:p>
            <a:r>
              <a:rPr lang="en-US"/>
              <a:t>}</a:t>
            </a:r>
          </a:p>
          <a:p>
            <a:endParaRPr lang="en-US"/>
          </a:p>
          <a:p>
            <a:r>
              <a:rPr lang="en-US"/>
              <a:t> </a:t>
            </a:r>
            <a:r>
              <a:rPr lang="en-US">
                <a:solidFill>
                  <a:srgbClr val="008000"/>
                </a:solidFill>
              </a:rPr>
              <a:t>//code in the main of another class</a:t>
            </a:r>
          </a:p>
          <a:p>
            <a:r>
              <a:rPr lang="en-US"/>
              <a:t> Turkey bird = new Turkey();</a:t>
            </a:r>
          </a:p>
          <a:p>
            <a:r>
              <a:rPr lang="en-US"/>
              <a:t> bird.speak();</a:t>
            </a:r>
          </a:p>
          <a:p>
            <a:r>
              <a:rPr lang="en-US"/>
              <a:t> bird.sayName();</a:t>
            </a:r>
          </a:p>
          <a:p>
            <a:r>
              <a:rPr lang="en-US"/>
              <a:t> bird.speak();</a:t>
            </a:r>
          </a:p>
          <a:p>
            <a:r>
              <a:rPr lang="en-US"/>
              <a:t> bird.sayName();</a:t>
            </a:r>
          </a:p>
          <a:p>
            <a:r>
              <a:rPr lang="en-US"/>
              <a:t> bird.speak(); </a:t>
            </a:r>
          </a:p>
        </p:txBody>
      </p:sp>
      <p:sp>
        <p:nvSpPr>
          <p:cNvPr id="25605" name="Text Box 4"/>
          <p:cNvSpPr txBox="1">
            <a:spLocks noChangeArrowheads="1"/>
          </p:cNvSpPr>
          <p:nvPr/>
        </p:nvSpPr>
        <p:spPr bwMode="auto">
          <a:xfrm>
            <a:off x="6400800" y="1447800"/>
            <a:ext cx="2362200" cy="2116138"/>
          </a:xfrm>
          <a:prstGeom prst="rect">
            <a:avLst/>
          </a:prstGeom>
          <a:noFill/>
          <a:ln w="12700">
            <a:solidFill>
              <a:srgbClr val="993300"/>
            </a:solidFill>
            <a:miter lim="800000"/>
            <a:headEnd type="none" w="sm" len="sm"/>
            <a:tailEnd type="none" w="sm" len="sm"/>
          </a:ln>
        </p:spPr>
        <p:txBody>
          <a:bodyPr>
            <a:spAutoFit/>
          </a:bodyPr>
          <a:lstStyle/>
          <a:p>
            <a:pPr>
              <a:spcBef>
                <a:spcPct val="50000"/>
              </a:spcBef>
            </a:pPr>
            <a:r>
              <a:rPr lang="en-US" sz="3200" u="sng">
                <a:solidFill>
                  <a:srgbClr val="FF0000"/>
                </a:solidFill>
              </a:rPr>
              <a:t>OUTPUT</a:t>
            </a:r>
          </a:p>
          <a:p>
            <a:r>
              <a:rPr lang="en-US"/>
              <a:t>gobble-gobble</a:t>
            </a:r>
            <a:br>
              <a:rPr lang="en-US"/>
            </a:br>
            <a:r>
              <a:rPr lang="en-US"/>
              <a:t>big bird</a:t>
            </a:r>
            <a:br>
              <a:rPr lang="en-US"/>
            </a:br>
            <a:r>
              <a:rPr lang="en-US"/>
              <a:t>gobble-gobble</a:t>
            </a:r>
            <a:br>
              <a:rPr lang="en-US"/>
            </a:br>
            <a:r>
              <a:rPr lang="en-US"/>
              <a:t>big bird</a:t>
            </a:r>
            <a:br>
              <a:rPr lang="en-US"/>
            </a:br>
            <a:r>
              <a:rPr lang="en-US"/>
              <a:t>gobble-gobble</a:t>
            </a:r>
          </a:p>
        </p:txBody>
      </p:sp>
      <p:sp>
        <p:nvSpPr>
          <p:cNvPr id="7" name="Rectangle 6"/>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                           Turkey</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pic>
        <p:nvPicPr>
          <p:cNvPr id="1026" name="Picture 2"/>
          <p:cNvPicPr>
            <a:picLocks noChangeAspect="1" noChangeArrowheads="1"/>
          </p:cNvPicPr>
          <p:nvPr/>
        </p:nvPicPr>
        <p:blipFill>
          <a:blip r:embed="rId3" cstate="print"/>
          <a:srcRect/>
          <a:stretch>
            <a:fillRect/>
          </a:stretch>
        </p:blipFill>
        <p:spPr bwMode="auto">
          <a:xfrm>
            <a:off x="6934200" y="3810000"/>
            <a:ext cx="1454871" cy="22828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26627" name="Text Box 2"/>
          <p:cNvSpPr txBox="1">
            <a:spLocks noChangeArrowheads="1"/>
          </p:cNvSpPr>
          <p:nvPr/>
        </p:nvSpPr>
        <p:spPr bwMode="auto">
          <a:xfrm>
            <a:off x="381000" y="228600"/>
            <a:ext cx="6324600" cy="6254750"/>
          </a:xfrm>
          <a:prstGeom prst="rect">
            <a:avLst/>
          </a:prstGeom>
          <a:noFill/>
          <a:ln w="9525">
            <a:noFill/>
            <a:miter lim="800000"/>
            <a:headEnd/>
            <a:tailEnd/>
          </a:ln>
        </p:spPr>
        <p:txBody>
          <a:bodyPr>
            <a:spAutoFit/>
          </a:bodyPr>
          <a:lstStyle/>
          <a:p>
            <a:r>
              <a:rPr lang="en-US" sz="1900"/>
              <a:t>public class Turkey</a:t>
            </a:r>
          </a:p>
          <a:p>
            <a:r>
              <a:rPr lang="en-US" sz="1900"/>
              <a:t>{</a:t>
            </a:r>
          </a:p>
          <a:p>
            <a:r>
              <a:rPr lang="en-US" sz="1900"/>
              <a:t>   public void speak()</a:t>
            </a:r>
          </a:p>
          <a:p>
            <a:r>
              <a:rPr lang="en-US" sz="1900"/>
              <a:t>   {</a:t>
            </a:r>
          </a:p>
          <a:p>
            <a:r>
              <a:rPr lang="en-US" sz="1900"/>
              <a:t>      out.println("gobble-gobble");</a:t>
            </a:r>
          </a:p>
          <a:p>
            <a:r>
              <a:rPr lang="en-US" sz="1900"/>
              <a:t>   }</a:t>
            </a:r>
          </a:p>
          <a:p>
            <a:endParaRPr lang="en-US" sz="1900"/>
          </a:p>
          <a:p>
            <a:r>
              <a:rPr lang="en-US" sz="1900"/>
              <a:t>   public void sayName()</a:t>
            </a:r>
          </a:p>
          <a:p>
            <a:r>
              <a:rPr lang="en-US" sz="1900"/>
              <a:t>   {</a:t>
            </a:r>
          </a:p>
          <a:p>
            <a:r>
              <a:rPr lang="en-US" sz="1900"/>
              <a:t>      out.println("big bird");</a:t>
            </a:r>
            <a:br>
              <a:rPr lang="en-US" sz="1900"/>
            </a:br>
            <a:r>
              <a:rPr lang="en-US" sz="1900"/>
              <a:t>      speak();</a:t>
            </a:r>
          </a:p>
          <a:p>
            <a:r>
              <a:rPr lang="en-US" sz="1900"/>
              <a:t>   }   </a:t>
            </a:r>
          </a:p>
          <a:p>
            <a:r>
              <a:rPr lang="en-US" sz="1900"/>
              <a:t>}</a:t>
            </a:r>
          </a:p>
          <a:p>
            <a:endParaRPr lang="en-US" sz="1900"/>
          </a:p>
          <a:p>
            <a:r>
              <a:rPr lang="en-US" sz="1900">
                <a:solidFill>
                  <a:srgbClr val="008000"/>
                </a:solidFill>
              </a:rPr>
              <a:t>//code in the main of another class</a:t>
            </a:r>
          </a:p>
          <a:p>
            <a:r>
              <a:rPr lang="en-US"/>
              <a:t>Turkey bird = new Turkey();</a:t>
            </a:r>
          </a:p>
          <a:p>
            <a:r>
              <a:rPr lang="en-US"/>
              <a:t>bird.speak();</a:t>
            </a:r>
          </a:p>
          <a:p>
            <a:r>
              <a:rPr lang="en-US"/>
              <a:t>bird.sayName();</a:t>
            </a:r>
          </a:p>
          <a:p>
            <a:r>
              <a:rPr lang="en-US"/>
              <a:t>bird.speak();</a:t>
            </a:r>
          </a:p>
          <a:p>
            <a:r>
              <a:rPr lang="en-US"/>
              <a:t>bird.sayName();</a:t>
            </a:r>
          </a:p>
          <a:p>
            <a:r>
              <a:rPr lang="en-US"/>
              <a:t>bird.speak(); </a:t>
            </a:r>
          </a:p>
        </p:txBody>
      </p:sp>
      <p:sp>
        <p:nvSpPr>
          <p:cNvPr id="26628" name="Text Box 4"/>
          <p:cNvSpPr txBox="1">
            <a:spLocks noChangeArrowheads="1"/>
          </p:cNvSpPr>
          <p:nvPr/>
        </p:nvSpPr>
        <p:spPr bwMode="auto">
          <a:xfrm>
            <a:off x="6400800" y="1371600"/>
            <a:ext cx="2438400" cy="2725738"/>
          </a:xfrm>
          <a:prstGeom prst="rect">
            <a:avLst/>
          </a:prstGeom>
          <a:noFill/>
          <a:ln w="12700">
            <a:solidFill>
              <a:srgbClr val="993300"/>
            </a:solidFill>
            <a:miter lim="800000"/>
            <a:headEnd type="none" w="sm" len="sm"/>
            <a:tailEnd type="none" w="sm" len="sm"/>
          </a:ln>
        </p:spPr>
        <p:txBody>
          <a:bodyPr>
            <a:spAutoFit/>
          </a:bodyPr>
          <a:lstStyle/>
          <a:p>
            <a:pPr>
              <a:spcBef>
                <a:spcPct val="50000"/>
              </a:spcBef>
            </a:pPr>
            <a:r>
              <a:rPr lang="en-US" sz="3200" u="sng" dirty="0">
                <a:solidFill>
                  <a:srgbClr val="FF0000"/>
                </a:solidFill>
              </a:rPr>
              <a:t>OUTPUT</a:t>
            </a:r>
          </a:p>
          <a:p>
            <a:r>
              <a:rPr lang="en-US" dirty="0"/>
              <a:t>gobble-gobble</a:t>
            </a:r>
          </a:p>
          <a:p>
            <a:r>
              <a:rPr lang="en-US" dirty="0"/>
              <a:t>big bird</a:t>
            </a:r>
          </a:p>
          <a:p>
            <a:r>
              <a:rPr lang="en-US" dirty="0"/>
              <a:t>gobble-gobble</a:t>
            </a:r>
          </a:p>
          <a:p>
            <a:r>
              <a:rPr lang="en-US" dirty="0"/>
              <a:t>gobble-gobble</a:t>
            </a:r>
          </a:p>
          <a:p>
            <a:r>
              <a:rPr lang="en-US" dirty="0"/>
              <a:t>big bird</a:t>
            </a:r>
          </a:p>
          <a:p>
            <a:r>
              <a:rPr lang="en-US" dirty="0"/>
              <a:t>gobble-gobble</a:t>
            </a:r>
          </a:p>
          <a:p>
            <a:r>
              <a:rPr lang="en-US" dirty="0"/>
              <a:t>gobble-gobble</a:t>
            </a:r>
          </a:p>
        </p:txBody>
      </p:sp>
      <p:sp>
        <p:nvSpPr>
          <p:cNvPr id="7" name="Rectangle 6"/>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                           Turkey</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pic>
        <p:nvPicPr>
          <p:cNvPr id="2050" name="Picture 2"/>
          <p:cNvPicPr>
            <a:picLocks noChangeAspect="1" noChangeArrowheads="1"/>
          </p:cNvPicPr>
          <p:nvPr/>
        </p:nvPicPr>
        <p:blipFill>
          <a:blip r:embed="rId3" cstate="print"/>
          <a:srcRect/>
          <a:stretch>
            <a:fillRect/>
          </a:stretch>
        </p:blipFill>
        <p:spPr bwMode="auto">
          <a:xfrm>
            <a:off x="7391400" y="4343400"/>
            <a:ext cx="1163492" cy="18256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4" name="Rectangle 3"/>
          <p:cNvSpPr/>
          <p:nvPr/>
        </p:nvSpPr>
        <p:spPr>
          <a:xfrm>
            <a:off x="381000" y="2514600"/>
            <a:ext cx="8305800" cy="2123658"/>
          </a:xfrm>
          <a:prstGeom prst="rect">
            <a:avLst/>
          </a:prstGeom>
          <a:solidFill>
            <a:srgbClr val="FFFFCC"/>
          </a:solidFill>
          <a:ln w="28575">
            <a:solidFill>
              <a:srgbClr val="FFC000"/>
            </a:solidFill>
          </a:ln>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6600" spc="50" dirty="0" smtClean="0">
                <a:ln w="11430">
                  <a:solidFill>
                    <a:srgbClr val="FF0000"/>
                  </a:solidFill>
                </a:ln>
                <a:solidFill>
                  <a:srgbClr val="FF3300"/>
                </a:solidFill>
                <a:effectLst>
                  <a:outerShdw blurRad="76200" dist="50800" dir="5400000" algn="tl" rotWithShape="0">
                    <a:srgbClr val="000000">
                      <a:alpha val="65000"/>
                    </a:srgbClr>
                  </a:outerShdw>
                </a:effectLst>
              </a:rPr>
              <a:t>turkey.java</a:t>
            </a:r>
          </a:p>
          <a:p>
            <a:pPr algn="ctr"/>
            <a:r>
              <a:rPr lang="en-US" sz="6600" spc="50" dirty="0" smtClean="0">
                <a:ln w="11430">
                  <a:solidFill>
                    <a:srgbClr val="FF0000"/>
                  </a:solidFill>
                </a:ln>
                <a:solidFill>
                  <a:srgbClr val="FF3300"/>
                </a:solidFill>
                <a:effectLst>
                  <a:outerShdw blurRad="76200" dist="50800" dir="5400000" algn="tl" rotWithShape="0">
                    <a:srgbClr val="000000">
                      <a:alpha val="65000"/>
                    </a:srgbClr>
                  </a:outerShdw>
                </a:effectLst>
              </a:rPr>
              <a:t>t</a:t>
            </a:r>
            <a:r>
              <a:rPr lang="en-US" sz="6600" b="1" cap="none" spc="50" dirty="0" smtClean="0">
                <a:ln w="11430">
                  <a:solidFill>
                    <a:srgbClr val="FF0000"/>
                  </a:solidFill>
                </a:ln>
                <a:solidFill>
                  <a:srgbClr val="FF3300"/>
                </a:solidFill>
                <a:effectLst>
                  <a:outerShdw blurRad="76200" dist="50800" dir="5400000" algn="tl" rotWithShape="0">
                    <a:srgbClr val="000000">
                      <a:alpha val="65000"/>
                    </a:srgbClr>
                  </a:outerShdw>
                </a:effectLst>
              </a:rPr>
              <a:t>urkeyrunner.java</a:t>
            </a:r>
            <a:endParaRPr lang="en-US" sz="6000" b="1" cap="none" spc="50" dirty="0">
              <a:ln w="11430">
                <a:solidFill>
                  <a:srgbClr val="FF0000"/>
                </a:solidFill>
              </a:ln>
              <a:solidFill>
                <a:srgbClr val="FF3300"/>
              </a:soli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4" name="Rectangle 3"/>
          <p:cNvSpPr/>
          <p:nvPr/>
        </p:nvSpPr>
        <p:spPr>
          <a:xfrm>
            <a:off x="609600" y="685800"/>
            <a:ext cx="7848600" cy="5632311"/>
          </a:xfrm>
          <a:prstGeom prst="rect">
            <a:avLst/>
          </a:prstGeom>
          <a:solidFill>
            <a:srgbClr val="FFFF61"/>
          </a:solidFill>
          <a:ln>
            <a:noFill/>
          </a:ln>
          <a:effectLst>
            <a:glow rad="63500">
              <a:schemeClr val="accent5">
                <a:satMod val="175000"/>
                <a:alpha val="40000"/>
              </a:schemeClr>
            </a:glow>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lIns="91440" tIns="45720" rIns="91440" bIns="45720">
            <a:spAutoFit/>
          </a:bodyPr>
          <a:lstStyle/>
          <a:p>
            <a:pPr algn="ctr"/>
            <a:r>
              <a:rPr lang="en-US" sz="7200" spc="300" dirty="0" smtClean="0">
                <a:ln w="11430" cmpd="sng">
                  <a:solidFill>
                    <a:srgbClr val="4CB93D"/>
                  </a:solidFill>
                  <a:prstDash val="solid"/>
                  <a:miter lim="800000"/>
                </a:ln>
                <a:solidFill>
                  <a:srgbClr val="38A725"/>
                </a:solidFill>
                <a:effectLst>
                  <a:glow rad="45500">
                    <a:schemeClr val="accent1">
                      <a:satMod val="220000"/>
                      <a:alpha val="35000"/>
                    </a:schemeClr>
                  </a:glow>
                </a:effectLst>
                <a:latin typeface="Eraser" pitchFamily="2" charset="0"/>
              </a:rPr>
              <a:t>Work on Programs!</a:t>
            </a:r>
            <a:br>
              <a:rPr lang="en-US" sz="7200" spc="300" dirty="0" smtClean="0">
                <a:ln w="11430" cmpd="sng">
                  <a:solidFill>
                    <a:srgbClr val="4CB93D"/>
                  </a:solidFill>
                  <a:prstDash val="solid"/>
                  <a:miter lim="800000"/>
                </a:ln>
                <a:solidFill>
                  <a:srgbClr val="38A725"/>
                </a:solidFill>
                <a:effectLst>
                  <a:glow rad="45500">
                    <a:schemeClr val="accent1">
                      <a:satMod val="220000"/>
                      <a:alpha val="35000"/>
                    </a:schemeClr>
                  </a:glow>
                </a:effectLst>
                <a:latin typeface="Eraser" pitchFamily="2" charset="0"/>
              </a:rPr>
            </a:br>
            <a:endParaRPr lang="en-US" sz="7200" spc="300" dirty="0" smtClean="0">
              <a:ln w="11430" cmpd="sng">
                <a:solidFill>
                  <a:srgbClr val="4CB93D"/>
                </a:solidFill>
                <a:prstDash val="solid"/>
                <a:miter lim="800000"/>
              </a:ln>
              <a:solidFill>
                <a:srgbClr val="38A725"/>
              </a:solidFill>
              <a:effectLst>
                <a:glow rad="45500">
                  <a:schemeClr val="accent1">
                    <a:satMod val="220000"/>
                    <a:alpha val="35000"/>
                  </a:schemeClr>
                </a:glow>
              </a:effectLst>
              <a:latin typeface="Eraser" pitchFamily="2" charset="0"/>
            </a:endParaRPr>
          </a:p>
          <a:p>
            <a:pPr algn="ctr"/>
            <a:r>
              <a:rPr lang="en-US" sz="7200" spc="300" dirty="0" smtClean="0">
                <a:ln w="11430" cmpd="sng">
                  <a:solidFill>
                    <a:srgbClr val="4CB93D"/>
                  </a:solidFill>
                  <a:prstDash val="solid"/>
                  <a:miter lim="800000"/>
                </a:ln>
                <a:solidFill>
                  <a:srgbClr val="38A725"/>
                </a:solidFill>
                <a:effectLst>
                  <a:glow rad="45500">
                    <a:schemeClr val="accent1">
                      <a:satMod val="220000"/>
                      <a:alpha val="35000"/>
                    </a:schemeClr>
                  </a:glow>
                </a:effectLst>
                <a:latin typeface="Eraser" pitchFamily="2" charset="0"/>
              </a:rPr>
              <a:t>Crank </a:t>
            </a:r>
          </a:p>
          <a:p>
            <a:pPr algn="ctr"/>
            <a:r>
              <a:rPr lang="en-US" sz="7200" spc="300" dirty="0" smtClean="0">
                <a:ln w="11430" cmpd="sng">
                  <a:solidFill>
                    <a:srgbClr val="4CB93D"/>
                  </a:solidFill>
                  <a:prstDash val="solid"/>
                  <a:miter lim="800000"/>
                </a:ln>
                <a:solidFill>
                  <a:srgbClr val="38A725"/>
                </a:solidFill>
                <a:effectLst>
                  <a:glow rad="45500">
                    <a:schemeClr val="accent1">
                      <a:satMod val="220000"/>
                      <a:alpha val="35000"/>
                    </a:schemeClr>
                  </a:glow>
                </a:effectLst>
                <a:latin typeface="Eraser" pitchFamily="2" charset="0"/>
              </a:rPr>
              <a:t>Some Code!</a:t>
            </a:r>
            <a:endParaRPr lang="en-US" sz="7200" b="1" cap="none" spc="300" dirty="0">
              <a:ln w="11430" cmpd="sng">
                <a:solidFill>
                  <a:srgbClr val="4CB93D"/>
                </a:solidFill>
                <a:prstDash val="solid"/>
                <a:miter lim="800000"/>
              </a:ln>
              <a:solidFill>
                <a:srgbClr val="38A725"/>
              </a:solidFill>
              <a:effectLst>
                <a:glow rad="45500">
                  <a:schemeClr val="accent1">
                    <a:satMod val="220000"/>
                    <a:alpha val="35000"/>
                  </a:schemeClr>
                </a:glow>
              </a:effectLst>
              <a:latin typeface="Eraser" pitchFamily="2"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3"/>
          <p:cNvSpPr>
            <a:spLocks noGrp="1"/>
          </p:cNvSpPr>
          <p:nvPr>
            <p:ph type="ftr" sz="quarter" idx="12"/>
          </p:nvPr>
        </p:nvSpPr>
        <p:spPr>
          <a:noFill/>
        </p:spPr>
        <p:txBody>
          <a:bodyPr/>
          <a:lstStyle/>
          <a:p>
            <a:endParaRPr lang="en-US" dirty="0" smtClean="0">
              <a:latin typeface="Times New Roman" pitchFamily="18" charset="0"/>
            </a:endParaRPr>
          </a:p>
          <a:p>
            <a:endParaRPr lang="en-US" b="0" dirty="0" smtClean="0"/>
          </a:p>
          <a:p>
            <a:endParaRPr lang="en-US" dirty="0" smtClean="0"/>
          </a:p>
        </p:txBody>
      </p:sp>
      <p:sp>
        <p:nvSpPr>
          <p:cNvPr id="22531" name="Freeform 2"/>
          <p:cNvSpPr>
            <a:spLocks/>
          </p:cNvSpPr>
          <p:nvPr/>
        </p:nvSpPr>
        <p:spPr bwMode="auto">
          <a:xfrm>
            <a:off x="6446838" y="982663"/>
            <a:ext cx="2697162" cy="960437"/>
          </a:xfrm>
          <a:custGeom>
            <a:avLst/>
            <a:gdLst>
              <a:gd name="T0" fmla="*/ 2147483647 w 1274"/>
              <a:gd name="T1" fmla="*/ 1141631069 h 807"/>
              <a:gd name="T2" fmla="*/ 0 w 1274"/>
              <a:gd name="T3" fmla="*/ 610474906 h 807"/>
              <a:gd name="T4" fmla="*/ 0 w 1274"/>
              <a:gd name="T5" fmla="*/ 525489943 h 807"/>
              <a:gd name="T6" fmla="*/ 2147483647 w 1274"/>
              <a:gd name="T7" fmla="*/ 0 h 807"/>
              <a:gd name="T8" fmla="*/ 2147483647 w 1274"/>
              <a:gd name="T9" fmla="*/ 525489943 h 807"/>
              <a:gd name="T10" fmla="*/ 2147483647 w 1274"/>
              <a:gd name="T11" fmla="*/ 610474906 h 807"/>
              <a:gd name="T12" fmla="*/ 2147483647 w 1274"/>
              <a:gd name="T13" fmla="*/ 1141631069 h 807"/>
              <a:gd name="T14" fmla="*/ 0 60000 65536"/>
              <a:gd name="T15" fmla="*/ 0 60000 65536"/>
              <a:gd name="T16" fmla="*/ 0 60000 65536"/>
              <a:gd name="T17" fmla="*/ 0 60000 65536"/>
              <a:gd name="T18" fmla="*/ 0 60000 65536"/>
              <a:gd name="T19" fmla="*/ 0 60000 65536"/>
              <a:gd name="T20" fmla="*/ 0 60000 65536"/>
              <a:gd name="T21" fmla="*/ 0 w 1274"/>
              <a:gd name="T22" fmla="*/ 0 h 807"/>
              <a:gd name="T23" fmla="*/ 1274 w 1274"/>
              <a:gd name="T24" fmla="*/ 807 h 8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74" h="807">
                <a:moveTo>
                  <a:pt x="637" y="806"/>
                </a:moveTo>
                <a:lnTo>
                  <a:pt x="0" y="431"/>
                </a:lnTo>
                <a:lnTo>
                  <a:pt x="0" y="371"/>
                </a:lnTo>
                <a:lnTo>
                  <a:pt x="637" y="0"/>
                </a:lnTo>
                <a:lnTo>
                  <a:pt x="1273" y="371"/>
                </a:lnTo>
                <a:lnTo>
                  <a:pt x="1273" y="431"/>
                </a:lnTo>
                <a:lnTo>
                  <a:pt x="637" y="806"/>
                </a:lnTo>
              </a:path>
            </a:pathLst>
          </a:custGeom>
          <a:solidFill>
            <a:srgbClr val="FFFFFF"/>
          </a:solidFill>
          <a:ln w="9525" cap="rnd">
            <a:noFill/>
            <a:round/>
            <a:headEnd/>
            <a:tailEnd/>
          </a:ln>
        </p:spPr>
        <p:txBody>
          <a:bodyPr/>
          <a:lstStyle/>
          <a:p>
            <a:endParaRPr lang="en-US"/>
          </a:p>
        </p:txBody>
      </p:sp>
      <p:sp>
        <p:nvSpPr>
          <p:cNvPr id="22532" name="Freeform 3"/>
          <p:cNvSpPr>
            <a:spLocks/>
          </p:cNvSpPr>
          <p:nvPr/>
        </p:nvSpPr>
        <p:spPr bwMode="auto">
          <a:xfrm>
            <a:off x="7143750" y="5543550"/>
            <a:ext cx="666750" cy="557213"/>
          </a:xfrm>
          <a:custGeom>
            <a:avLst/>
            <a:gdLst>
              <a:gd name="T0" fmla="*/ 1406806501 w 315"/>
              <a:gd name="T1" fmla="*/ 0 h 468"/>
              <a:gd name="T2" fmla="*/ 1281360183 w 315"/>
              <a:gd name="T3" fmla="*/ 22681430 h 468"/>
              <a:gd name="T4" fmla="*/ 1155911748 w 315"/>
              <a:gd name="T5" fmla="*/ 51033810 h 468"/>
              <a:gd name="T6" fmla="*/ 1048384858 w 315"/>
              <a:gd name="T7" fmla="*/ 85055960 h 468"/>
              <a:gd name="T8" fmla="*/ 918457559 w 315"/>
              <a:gd name="T9" fmla="*/ 114825176 h 468"/>
              <a:gd name="T10" fmla="*/ 810930934 w 315"/>
              <a:gd name="T11" fmla="*/ 148847307 h 468"/>
              <a:gd name="T12" fmla="*/ 703404309 w 315"/>
              <a:gd name="T13" fmla="*/ 182869475 h 468"/>
              <a:gd name="T14" fmla="*/ 595877684 w 315"/>
              <a:gd name="T15" fmla="*/ 222561366 h 468"/>
              <a:gd name="T16" fmla="*/ 506270619 w 315"/>
              <a:gd name="T17" fmla="*/ 256583497 h 468"/>
              <a:gd name="T18" fmla="*/ 416665804 w 315"/>
              <a:gd name="T19" fmla="*/ 296276579 h 468"/>
              <a:gd name="T20" fmla="*/ 327060989 w 315"/>
              <a:gd name="T21" fmla="*/ 337386579 h 468"/>
              <a:gd name="T22" fmla="*/ 250894819 w 315"/>
              <a:gd name="T23" fmla="*/ 377079661 h 468"/>
              <a:gd name="T24" fmla="*/ 179211813 w 315"/>
              <a:gd name="T25" fmla="*/ 416771552 h 468"/>
              <a:gd name="T26" fmla="*/ 125448468 w 315"/>
              <a:gd name="T27" fmla="*/ 456464633 h 468"/>
              <a:gd name="T28" fmla="*/ 71685155 w 315"/>
              <a:gd name="T29" fmla="*/ 496156524 h 468"/>
              <a:gd name="T30" fmla="*/ 35841519 w 315"/>
              <a:gd name="T31" fmla="*/ 537266450 h 468"/>
              <a:gd name="T32" fmla="*/ 0 w 315"/>
              <a:gd name="T33" fmla="*/ 576959532 h 468"/>
              <a:gd name="T34" fmla="*/ 452507307 w 315"/>
              <a:gd name="T35" fmla="*/ 662014413 h 468"/>
              <a:gd name="T36" fmla="*/ 542114239 w 315"/>
              <a:gd name="T37" fmla="*/ 639332992 h 468"/>
              <a:gd name="T38" fmla="*/ 125448468 w 315"/>
              <a:gd name="T39" fmla="*/ 565618821 h 468"/>
              <a:gd name="T40" fmla="*/ 125448468 w 315"/>
              <a:gd name="T41" fmla="*/ 554278111 h 468"/>
              <a:gd name="T42" fmla="*/ 143368194 w 315"/>
              <a:gd name="T43" fmla="*/ 537266450 h 468"/>
              <a:gd name="T44" fmla="*/ 143368194 w 315"/>
              <a:gd name="T45" fmla="*/ 520255980 h 468"/>
              <a:gd name="T46" fmla="*/ 161290004 w 315"/>
              <a:gd name="T47" fmla="*/ 501827474 h 468"/>
              <a:gd name="T48" fmla="*/ 179211813 w 315"/>
              <a:gd name="T49" fmla="*/ 479146054 h 468"/>
              <a:gd name="T50" fmla="*/ 197131506 w 315"/>
              <a:gd name="T51" fmla="*/ 462134393 h 468"/>
              <a:gd name="T52" fmla="*/ 215053316 w 315"/>
              <a:gd name="T53" fmla="*/ 445123923 h 468"/>
              <a:gd name="T54" fmla="*/ 250894819 w 315"/>
              <a:gd name="T55" fmla="*/ 428112262 h 468"/>
              <a:gd name="T56" fmla="*/ 268816629 w 315"/>
              <a:gd name="T57" fmla="*/ 411101792 h 468"/>
              <a:gd name="T58" fmla="*/ 309139179 w 315"/>
              <a:gd name="T59" fmla="*/ 394090131 h 468"/>
              <a:gd name="T60" fmla="*/ 344980682 w 315"/>
              <a:gd name="T61" fmla="*/ 377079661 h 468"/>
              <a:gd name="T62" fmla="*/ 362902492 w 315"/>
              <a:gd name="T63" fmla="*/ 360068000 h 468"/>
              <a:gd name="T64" fmla="*/ 398743994 w 315"/>
              <a:gd name="T65" fmla="*/ 343057530 h 468"/>
              <a:gd name="T66" fmla="*/ 434587614 w 315"/>
              <a:gd name="T67" fmla="*/ 326045869 h 468"/>
              <a:gd name="T68" fmla="*/ 452507307 w 315"/>
              <a:gd name="T69" fmla="*/ 314705159 h 468"/>
              <a:gd name="T70" fmla="*/ 488350926 w 315"/>
              <a:gd name="T71" fmla="*/ 296276579 h 468"/>
              <a:gd name="T72" fmla="*/ 542114239 w 315"/>
              <a:gd name="T73" fmla="*/ 273595158 h 468"/>
              <a:gd name="T74" fmla="*/ 577955874 w 315"/>
              <a:gd name="T75" fmla="*/ 256583497 h 468"/>
              <a:gd name="T76" fmla="*/ 631719186 w 315"/>
              <a:gd name="T77" fmla="*/ 233902076 h 468"/>
              <a:gd name="T78" fmla="*/ 685482499 w 315"/>
              <a:gd name="T79" fmla="*/ 211220656 h 468"/>
              <a:gd name="T80" fmla="*/ 739245811 w 315"/>
              <a:gd name="T81" fmla="*/ 194210186 h 468"/>
              <a:gd name="T82" fmla="*/ 793009124 w 315"/>
              <a:gd name="T83" fmla="*/ 171528765 h 468"/>
              <a:gd name="T84" fmla="*/ 846772436 w 315"/>
              <a:gd name="T85" fmla="*/ 154517067 h 468"/>
              <a:gd name="T86" fmla="*/ 900535749 w 315"/>
              <a:gd name="T87" fmla="*/ 137506597 h 468"/>
              <a:gd name="T88" fmla="*/ 958780043 w 315"/>
              <a:gd name="T89" fmla="*/ 120494936 h 468"/>
              <a:gd name="T90" fmla="*/ 1012543356 w 315"/>
              <a:gd name="T91" fmla="*/ 102066430 h 468"/>
              <a:gd name="T92" fmla="*/ 1084226361 w 315"/>
              <a:gd name="T93" fmla="*/ 85055960 h 468"/>
              <a:gd name="T94" fmla="*/ 1137989938 w 315"/>
              <a:gd name="T95" fmla="*/ 68044281 h 468"/>
              <a:gd name="T96" fmla="*/ 1209675060 w 315"/>
              <a:gd name="T97" fmla="*/ 51033810 h 468"/>
              <a:gd name="T98" fmla="*/ 1263438373 w 315"/>
              <a:gd name="T99" fmla="*/ 34022140 h 468"/>
              <a:gd name="T100" fmla="*/ 1335123495 w 315"/>
              <a:gd name="T101" fmla="*/ 17011665 h 468"/>
              <a:gd name="T102" fmla="*/ 1406806501 w 315"/>
              <a:gd name="T103" fmla="*/ 0 h 46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315"/>
              <a:gd name="T157" fmla="*/ 0 h 468"/>
              <a:gd name="T158" fmla="*/ 315 w 315"/>
              <a:gd name="T159" fmla="*/ 468 h 468"/>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315" h="468">
                <a:moveTo>
                  <a:pt x="314" y="0"/>
                </a:moveTo>
                <a:lnTo>
                  <a:pt x="286" y="16"/>
                </a:lnTo>
                <a:lnTo>
                  <a:pt x="258" y="36"/>
                </a:lnTo>
                <a:lnTo>
                  <a:pt x="234" y="60"/>
                </a:lnTo>
                <a:lnTo>
                  <a:pt x="205" y="81"/>
                </a:lnTo>
                <a:lnTo>
                  <a:pt x="181" y="105"/>
                </a:lnTo>
                <a:lnTo>
                  <a:pt x="157" y="129"/>
                </a:lnTo>
                <a:lnTo>
                  <a:pt x="133" y="157"/>
                </a:lnTo>
                <a:lnTo>
                  <a:pt x="113" y="181"/>
                </a:lnTo>
                <a:lnTo>
                  <a:pt x="93" y="209"/>
                </a:lnTo>
                <a:lnTo>
                  <a:pt x="73" y="238"/>
                </a:lnTo>
                <a:lnTo>
                  <a:pt x="56" y="266"/>
                </a:lnTo>
                <a:lnTo>
                  <a:pt x="40" y="294"/>
                </a:lnTo>
                <a:lnTo>
                  <a:pt x="28" y="322"/>
                </a:lnTo>
                <a:lnTo>
                  <a:pt x="16" y="350"/>
                </a:lnTo>
                <a:lnTo>
                  <a:pt x="8" y="379"/>
                </a:lnTo>
                <a:lnTo>
                  <a:pt x="0" y="407"/>
                </a:lnTo>
                <a:lnTo>
                  <a:pt x="101" y="467"/>
                </a:lnTo>
                <a:lnTo>
                  <a:pt x="121" y="451"/>
                </a:lnTo>
                <a:lnTo>
                  <a:pt x="28" y="399"/>
                </a:lnTo>
                <a:lnTo>
                  <a:pt x="28" y="391"/>
                </a:lnTo>
                <a:lnTo>
                  <a:pt x="32" y="379"/>
                </a:lnTo>
                <a:lnTo>
                  <a:pt x="32" y="367"/>
                </a:lnTo>
                <a:lnTo>
                  <a:pt x="36" y="354"/>
                </a:lnTo>
                <a:lnTo>
                  <a:pt x="40" y="338"/>
                </a:lnTo>
                <a:lnTo>
                  <a:pt x="44" y="326"/>
                </a:lnTo>
                <a:lnTo>
                  <a:pt x="48" y="314"/>
                </a:lnTo>
                <a:lnTo>
                  <a:pt x="56" y="302"/>
                </a:lnTo>
                <a:lnTo>
                  <a:pt x="60" y="290"/>
                </a:lnTo>
                <a:lnTo>
                  <a:pt x="69" y="278"/>
                </a:lnTo>
                <a:lnTo>
                  <a:pt x="77" y="266"/>
                </a:lnTo>
                <a:lnTo>
                  <a:pt x="81" y="254"/>
                </a:lnTo>
                <a:lnTo>
                  <a:pt x="89" y="242"/>
                </a:lnTo>
                <a:lnTo>
                  <a:pt x="97" y="230"/>
                </a:lnTo>
                <a:lnTo>
                  <a:pt x="101" y="222"/>
                </a:lnTo>
                <a:lnTo>
                  <a:pt x="109" y="209"/>
                </a:lnTo>
                <a:lnTo>
                  <a:pt x="121" y="193"/>
                </a:lnTo>
                <a:lnTo>
                  <a:pt x="129" y="181"/>
                </a:lnTo>
                <a:lnTo>
                  <a:pt x="141" y="165"/>
                </a:lnTo>
                <a:lnTo>
                  <a:pt x="153" y="149"/>
                </a:lnTo>
                <a:lnTo>
                  <a:pt x="165" y="137"/>
                </a:lnTo>
                <a:lnTo>
                  <a:pt x="177" y="121"/>
                </a:lnTo>
                <a:lnTo>
                  <a:pt x="189" y="109"/>
                </a:lnTo>
                <a:lnTo>
                  <a:pt x="201" y="97"/>
                </a:lnTo>
                <a:lnTo>
                  <a:pt x="214" y="85"/>
                </a:lnTo>
                <a:lnTo>
                  <a:pt x="226" y="72"/>
                </a:lnTo>
                <a:lnTo>
                  <a:pt x="242" y="60"/>
                </a:lnTo>
                <a:lnTo>
                  <a:pt x="254" y="48"/>
                </a:lnTo>
                <a:lnTo>
                  <a:pt x="270" y="36"/>
                </a:lnTo>
                <a:lnTo>
                  <a:pt x="282" y="24"/>
                </a:lnTo>
                <a:lnTo>
                  <a:pt x="298" y="12"/>
                </a:lnTo>
                <a:lnTo>
                  <a:pt x="314" y="0"/>
                </a:lnTo>
              </a:path>
            </a:pathLst>
          </a:custGeom>
          <a:solidFill>
            <a:srgbClr val="FFFFFF"/>
          </a:solidFill>
          <a:ln w="9525" cap="rnd">
            <a:noFill/>
            <a:round/>
            <a:headEnd/>
            <a:tailEnd/>
          </a:ln>
        </p:spPr>
        <p:txBody>
          <a:bodyPr/>
          <a:lstStyle/>
          <a:p>
            <a:endParaRPr lang="en-US"/>
          </a:p>
        </p:txBody>
      </p:sp>
      <p:sp>
        <p:nvSpPr>
          <p:cNvPr id="22533" name="Rectangle 4"/>
          <p:cNvSpPr>
            <a:spLocks noChangeArrowheads="1"/>
          </p:cNvSpPr>
          <p:nvPr/>
        </p:nvSpPr>
        <p:spPr bwMode="auto">
          <a:xfrm>
            <a:off x="1524000" y="914400"/>
            <a:ext cx="427038" cy="762000"/>
          </a:xfrm>
          <a:prstGeom prst="rect">
            <a:avLst/>
          </a:prstGeom>
          <a:noFill/>
          <a:ln w="9525">
            <a:noFill/>
            <a:miter lim="800000"/>
            <a:headEnd/>
            <a:tailEnd/>
          </a:ln>
        </p:spPr>
        <p:txBody>
          <a:bodyPr wrap="none" lIns="92075" tIns="46038" rIns="92075" bIns="46038">
            <a:spAutoFit/>
          </a:bodyPr>
          <a:lstStyle/>
          <a:p>
            <a:r>
              <a:rPr lang="en-US" sz="4400">
                <a:latin typeface="Comic Sans MS" pitchFamily="66" charset="0"/>
              </a:rPr>
              <a:t> </a:t>
            </a:r>
            <a:endParaRPr lang="en-US" b="0">
              <a:solidFill>
                <a:srgbClr val="CC3300"/>
              </a:solidFill>
              <a:latin typeface="Comic Sans MS" pitchFamily="66" charset="0"/>
            </a:endParaRPr>
          </a:p>
        </p:txBody>
      </p:sp>
      <p:sp>
        <p:nvSpPr>
          <p:cNvPr id="7" name="Rectangle 6"/>
          <p:cNvSpPr/>
          <p:nvPr/>
        </p:nvSpPr>
        <p:spPr>
          <a:xfrm>
            <a:off x="1447800" y="1143000"/>
            <a:ext cx="6096000" cy="3416320"/>
          </a:xfrm>
          <a:prstGeom prst="rect">
            <a:avLst/>
          </a:prstGeom>
          <a:solidFill>
            <a:srgbClr val="FFFFCC"/>
          </a:solidFill>
          <a:ln w="38100">
            <a:solidFill>
              <a:srgbClr val="0066FF"/>
            </a:solidFill>
          </a:ln>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7200" dirty="0" smtClean="0">
                <a:ln w="11430">
                  <a:solidFill>
                    <a:srgbClr val="FFFF00"/>
                  </a:solidFill>
                </a:ln>
                <a:solidFill>
                  <a:srgbClr val="0066FF"/>
                </a:solidFill>
                <a:effectLst>
                  <a:outerShdw blurRad="50800" dist="39000" dir="5460000" algn="tl">
                    <a:srgbClr val="000000">
                      <a:alpha val="38000"/>
                    </a:srgbClr>
                  </a:outerShdw>
                </a:effectLst>
              </a:rPr>
              <a:t>Graphics and Constructors</a:t>
            </a:r>
            <a:endParaRPr lang="en-US" sz="7200" b="1" cap="none" spc="0" dirty="0">
              <a:ln w="11430">
                <a:solidFill>
                  <a:srgbClr val="FFFF00"/>
                </a:solidFill>
              </a:ln>
              <a:solidFill>
                <a:srgbClr val="0066FF"/>
              </a:solidFill>
              <a:effectLst>
                <a:outerShdw blurRad="50800" dist="39000" dir="5460000" algn="tl">
                  <a:srgbClr val="000000">
                    <a:alpha val="38000"/>
                  </a:srgbClr>
                </a:outerShdw>
              </a:effectLst>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158722" name="Text Box 2"/>
          <p:cNvSpPr txBox="1">
            <a:spLocks noChangeArrowheads="1"/>
          </p:cNvSpPr>
          <p:nvPr/>
        </p:nvSpPr>
        <p:spPr bwMode="auto">
          <a:xfrm>
            <a:off x="762000" y="1752600"/>
            <a:ext cx="7620000" cy="2862322"/>
          </a:xfrm>
          <a:prstGeom prst="rect">
            <a:avLst/>
          </a:prstGeom>
          <a:noFill/>
          <a:ln w="12700">
            <a:noFill/>
            <a:miter lim="800000"/>
            <a:headEnd type="none" w="sm" len="sm"/>
            <a:tailEnd type="none" w="sm" len="sm"/>
          </a:ln>
        </p:spPr>
        <p:txBody>
          <a:bodyPr>
            <a:spAutoFit/>
          </a:bodyPr>
          <a:lstStyle/>
          <a:p>
            <a:r>
              <a:rPr lang="en-US" sz="3200" dirty="0">
                <a:latin typeface="Arial" charset="0"/>
              </a:rPr>
              <a:t>Constructors always have the same name as the class.</a:t>
            </a:r>
          </a:p>
          <a:p>
            <a:r>
              <a:rPr lang="en-US" sz="3200" dirty="0">
                <a:latin typeface="Arial" charset="0"/>
              </a:rPr>
              <a:t/>
            </a:r>
            <a:br>
              <a:rPr lang="en-US" sz="3200" dirty="0">
                <a:latin typeface="Arial" charset="0"/>
              </a:rPr>
            </a:br>
            <a:r>
              <a:rPr lang="en-US" sz="2800" dirty="0" err="1" smtClean="0"/>
              <a:t>GraphOne</a:t>
            </a:r>
            <a:r>
              <a:rPr lang="en-US" sz="2800" dirty="0" smtClean="0"/>
              <a:t> </a:t>
            </a:r>
            <a:r>
              <a:rPr lang="en-US" sz="2800" dirty="0"/>
              <a:t>test = new </a:t>
            </a:r>
            <a:r>
              <a:rPr lang="en-US" sz="2800" dirty="0" err="1">
                <a:solidFill>
                  <a:srgbClr val="FF5050"/>
                </a:solidFill>
              </a:rPr>
              <a:t>GraphOne</a:t>
            </a:r>
            <a:r>
              <a:rPr lang="en-US" sz="2800" dirty="0"/>
              <a:t>();</a:t>
            </a:r>
          </a:p>
          <a:p>
            <a:r>
              <a:rPr lang="en-US" sz="2800" dirty="0"/>
              <a:t>				</a:t>
            </a:r>
          </a:p>
          <a:p>
            <a:r>
              <a:rPr lang="en-US" sz="2800" dirty="0" err="1" smtClean="0"/>
              <a:t>AplusBug</a:t>
            </a:r>
            <a:r>
              <a:rPr lang="en-US" sz="2800" dirty="0" smtClean="0"/>
              <a:t> </a:t>
            </a:r>
            <a:r>
              <a:rPr lang="en-US" sz="2800" dirty="0"/>
              <a:t>rob = new </a:t>
            </a:r>
            <a:r>
              <a:rPr lang="en-US" sz="2800" dirty="0" err="1" smtClean="0">
                <a:solidFill>
                  <a:srgbClr val="FF5050"/>
                </a:solidFill>
              </a:rPr>
              <a:t>AplusBug</a:t>
            </a:r>
            <a:r>
              <a:rPr lang="en-US" sz="2800" dirty="0" smtClean="0"/>
              <a:t>();</a:t>
            </a:r>
            <a:endParaRPr lang="en-US" sz="2800" dirty="0"/>
          </a:p>
        </p:txBody>
      </p:sp>
      <p:sp>
        <p:nvSpPr>
          <p:cNvPr id="6" name="Rectangle 5"/>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Constructors</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pic>
        <p:nvPicPr>
          <p:cNvPr id="5" name="Picture 4"/>
          <p:cNvPicPr>
            <a:picLocks noChangeAspect="1" noChangeArrowheads="1"/>
          </p:cNvPicPr>
          <p:nvPr/>
        </p:nvPicPr>
        <p:blipFill>
          <a:blip r:embed="rId3" cstate="print"/>
          <a:srcRect/>
          <a:stretch>
            <a:fillRect/>
          </a:stretch>
        </p:blipFill>
        <p:spPr bwMode="auto">
          <a:xfrm>
            <a:off x="381000" y="4876800"/>
            <a:ext cx="1600200" cy="1779662"/>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8722"/>
                                        </p:tgtEl>
                                        <p:attrNameLst>
                                          <p:attrName>style.visibility</p:attrName>
                                        </p:attrNameLst>
                                      </p:cBhvr>
                                      <p:to>
                                        <p:strVal val="visible"/>
                                      </p:to>
                                    </p:set>
                                    <p:anim calcmode="lin" valueType="num">
                                      <p:cBhvr additive="base">
                                        <p:cTn id="7" dur="500" fill="hold"/>
                                        <p:tgtEl>
                                          <p:spTgt spid="158722"/>
                                        </p:tgtEl>
                                        <p:attrNameLst>
                                          <p:attrName>ppt_x</p:attrName>
                                        </p:attrNameLst>
                                      </p:cBhvr>
                                      <p:tavLst>
                                        <p:tav tm="0">
                                          <p:val>
                                            <p:strVal val="#ppt_x"/>
                                          </p:val>
                                        </p:tav>
                                        <p:tav tm="100000">
                                          <p:val>
                                            <p:strVal val="#ppt_x"/>
                                          </p:val>
                                        </p:tav>
                                      </p:tavLst>
                                    </p:anim>
                                    <p:anim calcmode="lin" valueType="num">
                                      <p:cBhvr additive="base">
                                        <p:cTn id="8" dur="500" fill="hold"/>
                                        <p:tgtEl>
                                          <p:spTgt spid="1587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2"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31747" name="Rectangle 2"/>
          <p:cNvSpPr>
            <a:spLocks noChangeArrowheads="1"/>
          </p:cNvSpPr>
          <p:nvPr/>
        </p:nvSpPr>
        <p:spPr bwMode="auto">
          <a:xfrm>
            <a:off x="320675" y="2963863"/>
            <a:ext cx="8458200" cy="2041525"/>
          </a:xfrm>
          <a:prstGeom prst="rect">
            <a:avLst/>
          </a:prstGeom>
          <a:solidFill>
            <a:schemeClr val="bg1"/>
          </a:solidFill>
          <a:ln w="9525">
            <a:noFill/>
            <a:miter lim="800000"/>
            <a:headEnd/>
            <a:tailEnd/>
          </a:ln>
        </p:spPr>
        <p:txBody>
          <a:bodyPr lIns="92075" tIns="46038" rIns="92075" bIns="46038">
            <a:spAutoFit/>
          </a:bodyPr>
          <a:lstStyle/>
          <a:p>
            <a:pPr eaLnBrk="1" hangingPunct="1"/>
            <a:r>
              <a:rPr lang="en-US" sz="3200"/>
              <a:t>Scanner </a:t>
            </a:r>
            <a:r>
              <a:rPr lang="en-US" sz="3200">
                <a:solidFill>
                  <a:srgbClr val="FF3300"/>
                </a:solidFill>
              </a:rPr>
              <a:t>keyboard</a:t>
            </a:r>
            <a:r>
              <a:rPr lang="en-US" sz="3200"/>
              <a:t> = </a:t>
            </a:r>
          </a:p>
          <a:p>
            <a:pPr eaLnBrk="1" hangingPunct="1"/>
            <a:r>
              <a:rPr lang="en-US" sz="3200"/>
              <a:t>		       </a:t>
            </a:r>
            <a:r>
              <a:rPr lang="en-US" sz="3200">
                <a:solidFill>
                  <a:srgbClr val="0000FF"/>
                </a:solidFill>
              </a:rPr>
              <a:t>new Scanner(</a:t>
            </a:r>
            <a:r>
              <a:rPr lang="en-US" sz="3200"/>
              <a:t>System.in</a:t>
            </a:r>
            <a:r>
              <a:rPr lang="en-US" sz="3200">
                <a:solidFill>
                  <a:srgbClr val="0000FF"/>
                </a:solidFill>
              </a:rPr>
              <a:t>)</a:t>
            </a:r>
            <a:r>
              <a:rPr lang="en-US" sz="3200"/>
              <a:t>; </a:t>
            </a:r>
          </a:p>
          <a:p>
            <a:pPr eaLnBrk="1" hangingPunct="1"/>
            <a:endParaRPr lang="en-US" sz="3200"/>
          </a:p>
          <a:p>
            <a:pPr eaLnBrk="1" hangingPunct="1"/>
            <a:endParaRPr lang="en-US" sz="3200"/>
          </a:p>
        </p:txBody>
      </p:sp>
      <p:sp>
        <p:nvSpPr>
          <p:cNvPr id="31748" name="Text Box 3"/>
          <p:cNvSpPr txBox="1">
            <a:spLocks noChangeArrowheads="1"/>
          </p:cNvSpPr>
          <p:nvPr/>
        </p:nvSpPr>
        <p:spPr bwMode="auto">
          <a:xfrm>
            <a:off x="5622925" y="438150"/>
            <a:ext cx="184150" cy="519113"/>
          </a:xfrm>
          <a:prstGeom prst="rect">
            <a:avLst/>
          </a:prstGeom>
          <a:noFill/>
          <a:ln w="12700">
            <a:noFill/>
            <a:miter lim="800000"/>
            <a:headEnd type="none" w="sm" len="sm"/>
            <a:tailEnd type="none" w="sm" len="sm"/>
          </a:ln>
        </p:spPr>
        <p:txBody>
          <a:bodyPr wrap="none">
            <a:spAutoFit/>
          </a:bodyPr>
          <a:lstStyle/>
          <a:p>
            <a:pPr eaLnBrk="1" hangingPunct="1"/>
            <a:endParaRPr lang="en-US" sz="2800"/>
          </a:p>
        </p:txBody>
      </p:sp>
      <p:sp>
        <p:nvSpPr>
          <p:cNvPr id="31749" name="Line 5"/>
          <p:cNvSpPr>
            <a:spLocks noChangeShapeType="1"/>
          </p:cNvSpPr>
          <p:nvPr/>
        </p:nvSpPr>
        <p:spPr bwMode="auto">
          <a:xfrm>
            <a:off x="1387475" y="2354263"/>
            <a:ext cx="1295400" cy="685800"/>
          </a:xfrm>
          <a:prstGeom prst="line">
            <a:avLst/>
          </a:prstGeom>
          <a:noFill/>
          <a:ln w="50800">
            <a:solidFill>
              <a:srgbClr val="FF0000"/>
            </a:solidFill>
            <a:round/>
            <a:headEnd/>
            <a:tailEnd type="triangle" w="med" len="med"/>
          </a:ln>
        </p:spPr>
        <p:txBody>
          <a:bodyPr/>
          <a:lstStyle/>
          <a:p>
            <a:endParaRPr lang="en-US"/>
          </a:p>
        </p:txBody>
      </p:sp>
      <p:sp>
        <p:nvSpPr>
          <p:cNvPr id="31750" name="Text Box 6"/>
          <p:cNvSpPr txBox="1">
            <a:spLocks noChangeArrowheads="1"/>
          </p:cNvSpPr>
          <p:nvPr/>
        </p:nvSpPr>
        <p:spPr bwMode="auto">
          <a:xfrm>
            <a:off x="838200" y="1828800"/>
            <a:ext cx="3890963" cy="579438"/>
          </a:xfrm>
          <a:prstGeom prst="rect">
            <a:avLst/>
          </a:prstGeom>
          <a:noFill/>
          <a:ln w="9525">
            <a:noFill/>
            <a:miter lim="800000"/>
            <a:headEnd/>
            <a:tailEnd/>
          </a:ln>
        </p:spPr>
        <p:txBody>
          <a:bodyPr wrap="none">
            <a:spAutoFit/>
          </a:bodyPr>
          <a:lstStyle/>
          <a:p>
            <a:pPr eaLnBrk="1" hangingPunct="1"/>
            <a:r>
              <a:rPr lang="en-US" sz="3200">
                <a:solidFill>
                  <a:srgbClr val="FF3300"/>
                </a:solidFill>
              </a:rPr>
              <a:t>reference variable</a:t>
            </a:r>
          </a:p>
        </p:txBody>
      </p:sp>
      <p:sp>
        <p:nvSpPr>
          <p:cNvPr id="31751" name="Line 7"/>
          <p:cNvSpPr>
            <a:spLocks noChangeShapeType="1"/>
          </p:cNvSpPr>
          <p:nvPr/>
        </p:nvSpPr>
        <p:spPr bwMode="auto">
          <a:xfrm flipV="1">
            <a:off x="3048000" y="4038600"/>
            <a:ext cx="533400" cy="838200"/>
          </a:xfrm>
          <a:prstGeom prst="line">
            <a:avLst/>
          </a:prstGeom>
          <a:noFill/>
          <a:ln w="50800">
            <a:solidFill>
              <a:srgbClr val="0000FF"/>
            </a:solidFill>
            <a:round/>
            <a:headEnd/>
            <a:tailEnd type="triangle" w="med" len="med"/>
          </a:ln>
        </p:spPr>
        <p:txBody>
          <a:bodyPr/>
          <a:lstStyle/>
          <a:p>
            <a:endParaRPr lang="en-US"/>
          </a:p>
        </p:txBody>
      </p:sp>
      <p:sp>
        <p:nvSpPr>
          <p:cNvPr id="31752" name="Text Box 8"/>
          <p:cNvSpPr txBox="1">
            <a:spLocks noChangeArrowheads="1"/>
          </p:cNvSpPr>
          <p:nvPr/>
        </p:nvSpPr>
        <p:spPr bwMode="auto">
          <a:xfrm>
            <a:off x="457200" y="5029200"/>
            <a:ext cx="7824788" cy="579438"/>
          </a:xfrm>
          <a:prstGeom prst="rect">
            <a:avLst/>
          </a:prstGeom>
          <a:noFill/>
          <a:ln w="9525">
            <a:noFill/>
            <a:miter lim="800000"/>
            <a:headEnd/>
            <a:tailEnd/>
          </a:ln>
        </p:spPr>
        <p:txBody>
          <a:bodyPr wrap="none">
            <a:spAutoFit/>
          </a:bodyPr>
          <a:lstStyle/>
          <a:p>
            <a:pPr eaLnBrk="1" hangingPunct="1"/>
            <a:r>
              <a:rPr lang="en-US" sz="3200">
                <a:solidFill>
                  <a:srgbClr val="0000FF"/>
                </a:solidFill>
              </a:rPr>
              <a:t>object instantiation / constructor call</a:t>
            </a:r>
          </a:p>
        </p:txBody>
      </p:sp>
      <p:sp>
        <p:nvSpPr>
          <p:cNvPr id="31753" name="Line 9"/>
          <p:cNvSpPr>
            <a:spLocks noChangeShapeType="1"/>
          </p:cNvSpPr>
          <p:nvPr/>
        </p:nvSpPr>
        <p:spPr bwMode="auto">
          <a:xfrm flipH="1" flipV="1">
            <a:off x="5029200" y="4038600"/>
            <a:ext cx="533400" cy="914400"/>
          </a:xfrm>
          <a:prstGeom prst="line">
            <a:avLst/>
          </a:prstGeom>
          <a:noFill/>
          <a:ln w="50800">
            <a:solidFill>
              <a:srgbClr val="0000FF"/>
            </a:solidFill>
            <a:round/>
            <a:headEnd/>
            <a:tailEnd type="triangle" w="med" len="med"/>
          </a:ln>
        </p:spPr>
        <p:txBody>
          <a:bodyPr/>
          <a:lstStyle/>
          <a:p>
            <a:endParaRPr lang="en-US"/>
          </a:p>
        </p:txBody>
      </p:sp>
      <p:sp>
        <p:nvSpPr>
          <p:cNvPr id="12" name="Rectangle 11"/>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Constructors</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32771" name="Text Box 2"/>
          <p:cNvSpPr txBox="1">
            <a:spLocks noChangeArrowheads="1"/>
          </p:cNvSpPr>
          <p:nvPr/>
        </p:nvSpPr>
        <p:spPr bwMode="auto">
          <a:xfrm>
            <a:off x="304800" y="1295400"/>
            <a:ext cx="7848600" cy="5273675"/>
          </a:xfrm>
          <a:prstGeom prst="rect">
            <a:avLst/>
          </a:prstGeom>
          <a:noFill/>
          <a:ln w="12700">
            <a:noFill/>
            <a:miter lim="800000"/>
            <a:headEnd type="none" w="sm" len="sm"/>
            <a:tailEnd type="none" w="sm" len="sm"/>
          </a:ln>
        </p:spPr>
        <p:txBody>
          <a:bodyPr>
            <a:spAutoFit/>
          </a:bodyPr>
          <a:lstStyle/>
          <a:p>
            <a:r>
              <a:rPr lang="en-US"/>
              <a:t>public class GraphicsRunner extends JFrame</a:t>
            </a:r>
          </a:p>
          <a:p>
            <a:r>
              <a:rPr lang="en-US"/>
              <a:t>{</a:t>
            </a:r>
          </a:p>
          <a:p>
            <a:r>
              <a:rPr lang="en-US"/>
              <a:t>   private static final int WIDTH = 640;</a:t>
            </a:r>
          </a:p>
          <a:p>
            <a:r>
              <a:rPr lang="en-US"/>
              <a:t>   private static final int HEIGHT = 480;</a:t>
            </a:r>
          </a:p>
          <a:p>
            <a:endParaRPr lang="en-US"/>
          </a:p>
          <a:p>
            <a:r>
              <a:rPr lang="en-US"/>
              <a:t>   public </a:t>
            </a:r>
            <a:r>
              <a:rPr lang="en-US">
                <a:solidFill>
                  <a:srgbClr val="008000"/>
                </a:solidFill>
              </a:rPr>
              <a:t>GraphicsRunner()</a:t>
            </a:r>
          </a:p>
          <a:p>
            <a:r>
              <a:rPr lang="en-US"/>
              <a:t>   {</a:t>
            </a:r>
          </a:p>
          <a:p>
            <a:r>
              <a:rPr lang="en-US"/>
              <a:t>      setSize(WIDTH,HEIGHT);</a:t>
            </a:r>
          </a:p>
          <a:p>
            <a:r>
              <a:rPr lang="en-US"/>
              <a:t>      getContentPane().add(  </a:t>
            </a:r>
            <a:r>
              <a:rPr lang="en-US">
                <a:solidFill>
                  <a:srgbClr val="000066"/>
                </a:solidFill>
              </a:rPr>
              <a:t>new Circles()</a:t>
            </a:r>
            <a:r>
              <a:rPr lang="en-US"/>
              <a:t>  );</a:t>
            </a:r>
          </a:p>
          <a:p>
            <a:r>
              <a:rPr lang="en-US"/>
              <a:t>      setVisible(true);</a:t>
            </a:r>
          </a:p>
          <a:p>
            <a:r>
              <a:rPr lang="en-US"/>
              <a:t>   }</a:t>
            </a:r>
          </a:p>
          <a:p>
            <a:r>
              <a:rPr lang="en-US"/>
              <a:t>	</a:t>
            </a:r>
          </a:p>
          <a:p>
            <a:r>
              <a:rPr lang="en-US"/>
              <a:t>   public static void main( String args[] )</a:t>
            </a:r>
          </a:p>
          <a:p>
            <a:r>
              <a:rPr lang="en-US"/>
              <a:t>   {</a:t>
            </a:r>
          </a:p>
          <a:p>
            <a:r>
              <a:rPr lang="en-US"/>
              <a:t>      GraphicsRunner run = new </a:t>
            </a:r>
            <a:r>
              <a:rPr lang="en-US">
                <a:solidFill>
                  <a:srgbClr val="008000"/>
                </a:solidFill>
              </a:rPr>
              <a:t>GraphicsRunner()</a:t>
            </a:r>
            <a:r>
              <a:rPr lang="en-US"/>
              <a:t>;</a:t>
            </a:r>
          </a:p>
          <a:p>
            <a:r>
              <a:rPr lang="en-US"/>
              <a:t>   }</a:t>
            </a:r>
          </a:p>
          <a:p>
            <a:r>
              <a:rPr lang="en-US"/>
              <a:t>}</a:t>
            </a:r>
          </a:p>
        </p:txBody>
      </p:sp>
      <p:sp>
        <p:nvSpPr>
          <p:cNvPr id="32772" name="Line 4"/>
          <p:cNvSpPr>
            <a:spLocks noChangeShapeType="1"/>
          </p:cNvSpPr>
          <p:nvPr/>
        </p:nvSpPr>
        <p:spPr bwMode="auto">
          <a:xfrm flipH="1">
            <a:off x="3810000" y="3048000"/>
            <a:ext cx="1752600" cy="0"/>
          </a:xfrm>
          <a:prstGeom prst="line">
            <a:avLst/>
          </a:prstGeom>
          <a:noFill/>
          <a:ln w="50800">
            <a:solidFill>
              <a:srgbClr val="008000"/>
            </a:solidFill>
            <a:round/>
            <a:headEnd/>
            <a:tailEnd type="triangle" w="med" len="med"/>
          </a:ln>
        </p:spPr>
        <p:txBody>
          <a:bodyPr/>
          <a:lstStyle/>
          <a:p>
            <a:endParaRPr lang="en-US"/>
          </a:p>
        </p:txBody>
      </p:sp>
      <p:sp>
        <p:nvSpPr>
          <p:cNvPr id="32773" name="Text Box 6"/>
          <p:cNvSpPr txBox="1">
            <a:spLocks noChangeArrowheads="1"/>
          </p:cNvSpPr>
          <p:nvPr/>
        </p:nvSpPr>
        <p:spPr bwMode="auto">
          <a:xfrm>
            <a:off x="6172200" y="5029200"/>
            <a:ext cx="2573338" cy="466725"/>
          </a:xfrm>
          <a:prstGeom prst="rect">
            <a:avLst/>
          </a:prstGeom>
          <a:noFill/>
          <a:ln w="9525">
            <a:solidFill>
              <a:srgbClr val="008000"/>
            </a:solidFill>
            <a:miter lim="800000"/>
            <a:headEnd/>
            <a:tailEnd/>
          </a:ln>
        </p:spPr>
        <p:txBody>
          <a:bodyPr wrap="none">
            <a:spAutoFit/>
          </a:bodyPr>
          <a:lstStyle/>
          <a:p>
            <a:pPr eaLnBrk="1" hangingPunct="1"/>
            <a:r>
              <a:rPr lang="en-US" sz="2400">
                <a:solidFill>
                  <a:srgbClr val="008000"/>
                </a:solidFill>
              </a:rPr>
              <a:t>constructor call</a:t>
            </a:r>
          </a:p>
        </p:txBody>
      </p:sp>
      <p:sp>
        <p:nvSpPr>
          <p:cNvPr id="32774" name="Line 7"/>
          <p:cNvSpPr>
            <a:spLocks noChangeShapeType="1"/>
          </p:cNvSpPr>
          <p:nvPr/>
        </p:nvSpPr>
        <p:spPr bwMode="auto">
          <a:xfrm flipH="1">
            <a:off x="5257800" y="5334000"/>
            <a:ext cx="914400" cy="304800"/>
          </a:xfrm>
          <a:prstGeom prst="line">
            <a:avLst/>
          </a:prstGeom>
          <a:noFill/>
          <a:ln w="50800">
            <a:solidFill>
              <a:srgbClr val="008000"/>
            </a:solidFill>
            <a:round/>
            <a:headEnd/>
            <a:tailEnd type="triangle" w="med" len="med"/>
          </a:ln>
        </p:spPr>
        <p:txBody>
          <a:bodyPr/>
          <a:lstStyle/>
          <a:p>
            <a:endParaRPr lang="en-US"/>
          </a:p>
        </p:txBody>
      </p:sp>
      <p:sp>
        <p:nvSpPr>
          <p:cNvPr id="32776" name="Text Box 9"/>
          <p:cNvSpPr txBox="1">
            <a:spLocks noChangeArrowheads="1"/>
          </p:cNvSpPr>
          <p:nvPr/>
        </p:nvSpPr>
        <p:spPr bwMode="auto">
          <a:xfrm>
            <a:off x="5562600" y="2819400"/>
            <a:ext cx="2549525" cy="466725"/>
          </a:xfrm>
          <a:prstGeom prst="rect">
            <a:avLst/>
          </a:prstGeom>
          <a:noFill/>
          <a:ln w="9525">
            <a:solidFill>
              <a:srgbClr val="008000"/>
            </a:solidFill>
            <a:miter lim="800000"/>
            <a:headEnd/>
            <a:tailEnd/>
          </a:ln>
        </p:spPr>
        <p:txBody>
          <a:bodyPr wrap="none">
            <a:spAutoFit/>
          </a:bodyPr>
          <a:lstStyle/>
          <a:p>
            <a:pPr eaLnBrk="1" hangingPunct="1"/>
            <a:r>
              <a:rPr lang="en-US" sz="2400">
                <a:solidFill>
                  <a:srgbClr val="008000"/>
                </a:solidFill>
              </a:rPr>
              <a:t>the constructor</a:t>
            </a:r>
          </a:p>
        </p:txBody>
      </p:sp>
      <p:sp>
        <p:nvSpPr>
          <p:cNvPr id="10" name="Rectangle 9"/>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Constructors</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33795" name="Text Box 4"/>
          <p:cNvSpPr txBox="1">
            <a:spLocks noChangeArrowheads="1"/>
          </p:cNvSpPr>
          <p:nvPr/>
        </p:nvSpPr>
        <p:spPr bwMode="auto">
          <a:xfrm>
            <a:off x="5562600" y="2667000"/>
            <a:ext cx="2647950" cy="466725"/>
          </a:xfrm>
          <a:prstGeom prst="rect">
            <a:avLst/>
          </a:prstGeom>
          <a:noFill/>
          <a:ln w="9525">
            <a:solidFill>
              <a:srgbClr val="993300"/>
            </a:solidFill>
            <a:miter lim="800000"/>
            <a:headEnd/>
            <a:tailEnd/>
          </a:ln>
        </p:spPr>
        <p:txBody>
          <a:bodyPr wrap="none">
            <a:spAutoFit/>
          </a:bodyPr>
          <a:lstStyle/>
          <a:p>
            <a:pPr eaLnBrk="1" hangingPunct="1"/>
            <a:r>
              <a:rPr lang="en-US" sz="2400">
                <a:solidFill>
                  <a:srgbClr val="990000"/>
                </a:solidFill>
              </a:rPr>
              <a:t>Canvas / JPanel</a:t>
            </a:r>
          </a:p>
        </p:txBody>
      </p:sp>
      <p:sp>
        <p:nvSpPr>
          <p:cNvPr id="33797" name="Text Box 7"/>
          <p:cNvSpPr txBox="1">
            <a:spLocks noChangeArrowheads="1"/>
          </p:cNvSpPr>
          <p:nvPr/>
        </p:nvSpPr>
        <p:spPr bwMode="auto">
          <a:xfrm>
            <a:off x="5638800" y="1905000"/>
            <a:ext cx="2627313" cy="466725"/>
          </a:xfrm>
          <a:prstGeom prst="rect">
            <a:avLst/>
          </a:prstGeom>
          <a:noFill/>
          <a:ln w="9525">
            <a:solidFill>
              <a:srgbClr val="008000"/>
            </a:solidFill>
            <a:miter lim="800000"/>
            <a:headEnd/>
            <a:tailEnd/>
          </a:ln>
        </p:spPr>
        <p:txBody>
          <a:bodyPr wrap="none">
            <a:spAutoFit/>
          </a:bodyPr>
          <a:lstStyle/>
          <a:p>
            <a:pPr eaLnBrk="1" hangingPunct="1"/>
            <a:r>
              <a:rPr lang="en-US" sz="2400">
                <a:solidFill>
                  <a:srgbClr val="008000"/>
                </a:solidFill>
              </a:rPr>
              <a:t>Frame / JFrame</a:t>
            </a:r>
          </a:p>
        </p:txBody>
      </p:sp>
      <p:sp>
        <p:nvSpPr>
          <p:cNvPr id="33798" name="Rectangle 8"/>
          <p:cNvSpPr>
            <a:spLocks noChangeArrowheads="1"/>
          </p:cNvSpPr>
          <p:nvPr/>
        </p:nvSpPr>
        <p:spPr bwMode="auto">
          <a:xfrm>
            <a:off x="1066800" y="1676400"/>
            <a:ext cx="3810000" cy="3962400"/>
          </a:xfrm>
          <a:prstGeom prst="rect">
            <a:avLst/>
          </a:prstGeom>
          <a:solidFill>
            <a:srgbClr val="C0C0C0"/>
          </a:solidFill>
          <a:ln w="9525">
            <a:solidFill>
              <a:schemeClr val="tx1"/>
            </a:solidFill>
            <a:miter lim="800000"/>
            <a:headEnd/>
            <a:tailEnd/>
          </a:ln>
        </p:spPr>
        <p:txBody>
          <a:bodyPr wrap="none" anchor="ctr"/>
          <a:lstStyle/>
          <a:p>
            <a:endParaRPr lang="en-US"/>
          </a:p>
        </p:txBody>
      </p:sp>
      <p:sp>
        <p:nvSpPr>
          <p:cNvPr id="33799" name="Rectangle 9"/>
          <p:cNvSpPr>
            <a:spLocks noChangeArrowheads="1"/>
          </p:cNvSpPr>
          <p:nvPr/>
        </p:nvSpPr>
        <p:spPr bwMode="auto">
          <a:xfrm>
            <a:off x="1219200" y="1828800"/>
            <a:ext cx="3505200" cy="3657600"/>
          </a:xfrm>
          <a:prstGeom prst="rect">
            <a:avLst/>
          </a:prstGeom>
          <a:solidFill>
            <a:srgbClr val="FFFFFF"/>
          </a:solidFill>
          <a:ln w="9525">
            <a:solidFill>
              <a:schemeClr val="tx1"/>
            </a:solidFill>
            <a:miter lim="800000"/>
            <a:headEnd/>
            <a:tailEnd/>
          </a:ln>
        </p:spPr>
        <p:txBody>
          <a:bodyPr wrap="none" anchor="ctr"/>
          <a:lstStyle/>
          <a:p>
            <a:endParaRPr lang="en-US"/>
          </a:p>
        </p:txBody>
      </p:sp>
      <p:sp>
        <p:nvSpPr>
          <p:cNvPr id="33800" name="Line 10"/>
          <p:cNvSpPr>
            <a:spLocks noChangeShapeType="1"/>
          </p:cNvSpPr>
          <p:nvPr/>
        </p:nvSpPr>
        <p:spPr bwMode="auto">
          <a:xfrm flipH="1">
            <a:off x="4038600" y="2971800"/>
            <a:ext cx="1524000" cy="0"/>
          </a:xfrm>
          <a:prstGeom prst="line">
            <a:avLst/>
          </a:prstGeom>
          <a:noFill/>
          <a:ln w="50800">
            <a:solidFill>
              <a:srgbClr val="800000"/>
            </a:solidFill>
            <a:round/>
            <a:headEnd/>
            <a:tailEnd type="triangle" w="med" len="med"/>
          </a:ln>
        </p:spPr>
        <p:txBody>
          <a:bodyPr/>
          <a:lstStyle/>
          <a:p>
            <a:endParaRPr lang="en-US"/>
          </a:p>
        </p:txBody>
      </p:sp>
      <p:sp>
        <p:nvSpPr>
          <p:cNvPr id="33801" name="Line 11"/>
          <p:cNvSpPr>
            <a:spLocks noChangeShapeType="1"/>
          </p:cNvSpPr>
          <p:nvPr/>
        </p:nvSpPr>
        <p:spPr bwMode="auto">
          <a:xfrm flipH="1">
            <a:off x="4800600" y="2133600"/>
            <a:ext cx="838200" cy="0"/>
          </a:xfrm>
          <a:prstGeom prst="line">
            <a:avLst/>
          </a:prstGeom>
          <a:noFill/>
          <a:ln w="50800">
            <a:solidFill>
              <a:srgbClr val="008000"/>
            </a:solidFill>
            <a:round/>
            <a:headEnd/>
            <a:tailEnd type="triangle" w="med" len="med"/>
          </a:ln>
        </p:spPr>
        <p:txBody>
          <a:bodyPr/>
          <a:lstStyle/>
          <a:p>
            <a:endParaRPr lang="en-US"/>
          </a:p>
        </p:txBody>
      </p:sp>
      <p:sp>
        <p:nvSpPr>
          <p:cNvPr id="33802" name="Text Box 12"/>
          <p:cNvSpPr txBox="1">
            <a:spLocks noChangeArrowheads="1"/>
          </p:cNvSpPr>
          <p:nvPr/>
        </p:nvSpPr>
        <p:spPr bwMode="auto">
          <a:xfrm>
            <a:off x="5410200" y="4038600"/>
            <a:ext cx="2895600" cy="1016000"/>
          </a:xfrm>
          <a:prstGeom prst="rect">
            <a:avLst/>
          </a:prstGeom>
          <a:noFill/>
          <a:ln w="9525">
            <a:solidFill>
              <a:srgbClr val="000080"/>
            </a:solidFill>
            <a:miter lim="800000"/>
            <a:headEnd/>
            <a:tailEnd/>
          </a:ln>
        </p:spPr>
        <p:txBody>
          <a:bodyPr>
            <a:spAutoFit/>
          </a:bodyPr>
          <a:lstStyle/>
          <a:p>
            <a:pPr>
              <a:spcBef>
                <a:spcPct val="50000"/>
              </a:spcBef>
            </a:pPr>
            <a:r>
              <a:rPr lang="en-US">
                <a:solidFill>
                  <a:srgbClr val="000066"/>
                </a:solidFill>
              </a:rPr>
              <a:t>The Frame is used to hold up / display a Canvas or Panel.</a:t>
            </a:r>
          </a:p>
        </p:txBody>
      </p:sp>
      <p:sp>
        <p:nvSpPr>
          <p:cNvPr id="12" name="Rectangle 11"/>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Frame</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34819" name="Text Box 2"/>
          <p:cNvSpPr txBox="1">
            <a:spLocks noChangeArrowheads="1"/>
          </p:cNvSpPr>
          <p:nvPr/>
        </p:nvSpPr>
        <p:spPr bwMode="auto">
          <a:xfrm>
            <a:off x="457200" y="1600200"/>
            <a:ext cx="5181600" cy="4760913"/>
          </a:xfrm>
          <a:prstGeom prst="rect">
            <a:avLst/>
          </a:prstGeom>
          <a:noFill/>
          <a:ln w="12700">
            <a:noFill/>
            <a:miter lim="800000"/>
            <a:headEnd type="none" w="sm" len="sm"/>
            <a:tailEnd type="none" w="sm" len="sm"/>
          </a:ln>
        </p:spPr>
        <p:txBody>
          <a:bodyPr>
            <a:spAutoFit/>
          </a:bodyPr>
          <a:lstStyle/>
          <a:p>
            <a:r>
              <a:rPr lang="en-US" sz="1800"/>
              <a:t>public class Circles extends Canvas</a:t>
            </a:r>
          </a:p>
          <a:p>
            <a:r>
              <a:rPr lang="en-US" sz="1800"/>
              <a:t>{</a:t>
            </a:r>
          </a:p>
          <a:p>
            <a:r>
              <a:rPr lang="en-US" sz="1800"/>
              <a:t>  </a:t>
            </a:r>
          </a:p>
          <a:p>
            <a:r>
              <a:rPr lang="en-US" sz="1800"/>
              <a:t>   </a:t>
            </a:r>
            <a:r>
              <a:rPr lang="en-US" sz="1800">
                <a:solidFill>
                  <a:srgbClr val="008000"/>
                </a:solidFill>
              </a:rPr>
              <a:t>//constructors</a:t>
            </a:r>
            <a:r>
              <a:rPr lang="en-US" sz="1800"/>
              <a:t> </a:t>
            </a:r>
          </a:p>
          <a:p>
            <a:r>
              <a:rPr lang="en-US" sz="1800"/>
              <a:t>  </a:t>
            </a:r>
          </a:p>
          <a:p>
            <a:r>
              <a:rPr lang="en-US" sz="1800"/>
              <a:t>   public void </a:t>
            </a:r>
            <a:r>
              <a:rPr lang="en-US" sz="1800">
                <a:solidFill>
                  <a:schemeClr val="accent2"/>
                </a:solidFill>
              </a:rPr>
              <a:t>paint(</a:t>
            </a:r>
            <a:r>
              <a:rPr lang="en-US" sz="1800"/>
              <a:t> Graphics window</a:t>
            </a:r>
            <a:r>
              <a:rPr lang="en-US" sz="1800">
                <a:solidFill>
                  <a:schemeClr val="accent2"/>
                </a:solidFill>
              </a:rPr>
              <a:t> )</a:t>
            </a:r>
          </a:p>
          <a:p>
            <a:r>
              <a:rPr lang="en-US" sz="1800"/>
              <a:t>   {</a:t>
            </a:r>
          </a:p>
          <a:p>
            <a:r>
              <a:rPr lang="en-US" sz="1800"/>
              <a:t>      window.setColor(Color.BLACK);</a:t>
            </a:r>
          </a:p>
          <a:p>
            <a:r>
              <a:rPr lang="en-US" sz="1800"/>
              <a:t>      window.drawString("Circles", 50, 50);</a:t>
            </a:r>
          </a:p>
          <a:p>
            <a:r>
              <a:rPr lang="en-US" sz="1800"/>
              <a:t>      </a:t>
            </a:r>
          </a:p>
          <a:p>
            <a:r>
              <a:rPr lang="en-US" sz="1800"/>
              <a:t>      window.setColor(Color.BLUE);</a:t>
            </a:r>
          </a:p>
          <a:p>
            <a:r>
              <a:rPr lang="en-US" sz="1800"/>
              <a:t>      window.drawOval(500,300,40,40);</a:t>
            </a:r>
          </a:p>
          <a:p>
            <a:r>
              <a:rPr lang="en-US" sz="1800"/>
              <a:t>   }</a:t>
            </a:r>
          </a:p>
          <a:p>
            <a:endParaRPr lang="en-US" sz="1800"/>
          </a:p>
          <a:p>
            <a:r>
              <a:rPr lang="en-US" sz="1800"/>
              <a:t>   </a:t>
            </a:r>
            <a:r>
              <a:rPr lang="en-US" sz="1800">
                <a:solidFill>
                  <a:srgbClr val="008000"/>
                </a:solidFill>
              </a:rPr>
              <a:t>//other methods</a:t>
            </a:r>
          </a:p>
          <a:p>
            <a:endParaRPr lang="en-US" sz="1800"/>
          </a:p>
          <a:p>
            <a:r>
              <a:rPr lang="en-US" sz="1800"/>
              <a:t>}</a:t>
            </a:r>
          </a:p>
        </p:txBody>
      </p:sp>
      <p:sp>
        <p:nvSpPr>
          <p:cNvPr id="34820" name="Text Box 7"/>
          <p:cNvSpPr txBox="1">
            <a:spLocks noChangeArrowheads="1"/>
          </p:cNvSpPr>
          <p:nvPr/>
        </p:nvSpPr>
        <p:spPr bwMode="auto">
          <a:xfrm>
            <a:off x="5715000" y="3429000"/>
            <a:ext cx="2971800" cy="2228850"/>
          </a:xfrm>
          <a:prstGeom prst="rect">
            <a:avLst/>
          </a:prstGeom>
          <a:noFill/>
          <a:ln w="9525">
            <a:solidFill>
              <a:srgbClr val="993300"/>
            </a:solidFill>
            <a:miter lim="800000"/>
            <a:headEnd/>
            <a:tailEnd/>
          </a:ln>
        </p:spPr>
        <p:txBody>
          <a:bodyPr>
            <a:spAutoFit/>
          </a:bodyPr>
          <a:lstStyle/>
          <a:p>
            <a:pPr>
              <a:spcBef>
                <a:spcPct val="50000"/>
              </a:spcBef>
            </a:pPr>
            <a:r>
              <a:rPr lang="en-US" sz="1400">
                <a:solidFill>
                  <a:srgbClr val="CC0000"/>
                </a:solidFill>
              </a:rPr>
              <a:t>paint() is called automatically when you instantiate the class containing the paint method.    </a:t>
            </a:r>
          </a:p>
          <a:p>
            <a:pPr>
              <a:spcBef>
                <a:spcPct val="50000"/>
              </a:spcBef>
            </a:pPr>
            <a:r>
              <a:rPr lang="en-US" sz="1400">
                <a:solidFill>
                  <a:srgbClr val="CC0000"/>
                </a:solidFill>
              </a:rPr>
              <a:t>When an event is triggered that requires a redraw,</a:t>
            </a:r>
            <a:br>
              <a:rPr lang="en-US" sz="1400">
                <a:solidFill>
                  <a:srgbClr val="CC0000"/>
                </a:solidFill>
              </a:rPr>
            </a:br>
            <a:r>
              <a:rPr lang="en-US" sz="1400">
                <a:solidFill>
                  <a:srgbClr val="CC0000"/>
                </a:solidFill>
              </a:rPr>
              <a:t>paint is called again.</a:t>
            </a:r>
          </a:p>
          <a:p>
            <a:pPr>
              <a:spcBef>
                <a:spcPct val="50000"/>
              </a:spcBef>
            </a:pPr>
            <a:r>
              <a:rPr lang="en-US" sz="1400">
                <a:solidFill>
                  <a:srgbClr val="CC0000"/>
                </a:solidFill>
              </a:rPr>
              <a:t>To call paint() without a Graphics parameter, you can</a:t>
            </a:r>
            <a:br>
              <a:rPr lang="en-US" sz="1400">
                <a:solidFill>
                  <a:srgbClr val="CC0000"/>
                </a:solidFill>
              </a:rPr>
            </a:br>
            <a:r>
              <a:rPr lang="en-US" sz="1400">
                <a:solidFill>
                  <a:srgbClr val="CC0000"/>
                </a:solidFill>
              </a:rPr>
              <a:t>use the repaint() method.  </a:t>
            </a:r>
          </a:p>
        </p:txBody>
      </p:sp>
      <p:sp>
        <p:nvSpPr>
          <p:cNvPr id="34822" name="Line 11"/>
          <p:cNvSpPr>
            <a:spLocks noChangeShapeType="1"/>
          </p:cNvSpPr>
          <p:nvPr/>
        </p:nvSpPr>
        <p:spPr bwMode="auto">
          <a:xfrm flipH="1">
            <a:off x="4953000" y="2667000"/>
            <a:ext cx="914400" cy="457200"/>
          </a:xfrm>
          <a:prstGeom prst="line">
            <a:avLst/>
          </a:prstGeom>
          <a:noFill/>
          <a:ln w="50800">
            <a:solidFill>
              <a:srgbClr val="008000"/>
            </a:solidFill>
            <a:round/>
            <a:headEnd/>
            <a:tailEnd type="triangle" w="med" len="med"/>
          </a:ln>
        </p:spPr>
        <p:txBody>
          <a:bodyPr/>
          <a:lstStyle/>
          <a:p>
            <a:endParaRPr lang="en-US"/>
          </a:p>
        </p:txBody>
      </p:sp>
      <p:sp>
        <p:nvSpPr>
          <p:cNvPr id="34823" name="Text Box 12"/>
          <p:cNvSpPr txBox="1">
            <a:spLocks noChangeArrowheads="1"/>
          </p:cNvSpPr>
          <p:nvPr/>
        </p:nvSpPr>
        <p:spPr bwMode="auto">
          <a:xfrm>
            <a:off x="5867400" y="2362200"/>
            <a:ext cx="982663" cy="466725"/>
          </a:xfrm>
          <a:prstGeom prst="rect">
            <a:avLst/>
          </a:prstGeom>
          <a:noFill/>
          <a:ln w="9525">
            <a:solidFill>
              <a:srgbClr val="008000"/>
            </a:solidFill>
            <a:miter lim="800000"/>
            <a:headEnd/>
            <a:tailEnd/>
          </a:ln>
        </p:spPr>
        <p:txBody>
          <a:bodyPr wrap="none">
            <a:spAutoFit/>
          </a:bodyPr>
          <a:lstStyle/>
          <a:p>
            <a:pPr eaLnBrk="1" hangingPunct="1"/>
            <a:r>
              <a:rPr lang="en-US" sz="2400">
                <a:solidFill>
                  <a:srgbClr val="008000"/>
                </a:solidFill>
              </a:rPr>
              <a:t>paint</a:t>
            </a:r>
          </a:p>
        </p:txBody>
      </p:sp>
      <p:sp>
        <p:nvSpPr>
          <p:cNvPr id="9" name="Rectangle 8"/>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Paint</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5" name="Rectangle 4"/>
          <p:cNvSpPr/>
          <p:nvPr/>
        </p:nvSpPr>
        <p:spPr>
          <a:xfrm>
            <a:off x="0" y="1981200"/>
            <a:ext cx="9144000" cy="2133600"/>
          </a:xfrm>
          <a:prstGeom prst="rect">
            <a:avLst/>
          </a:prstGeom>
          <a:solidFill>
            <a:srgbClr val="FFFFCC"/>
          </a:solidFill>
          <a:ln w="28575">
            <a:solidFill>
              <a:srgbClr val="FFC000"/>
            </a:solidFill>
          </a:ln>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6600" spc="50" dirty="0" smtClean="0">
                <a:ln w="11430">
                  <a:solidFill>
                    <a:srgbClr val="FF0000"/>
                  </a:solidFill>
                </a:ln>
                <a:solidFill>
                  <a:srgbClr val="FF3300"/>
                </a:solidFill>
                <a:effectLst>
                  <a:outerShdw blurRad="76200" dist="50800" dir="5400000" algn="tl" rotWithShape="0">
                    <a:srgbClr val="000000">
                      <a:alpha val="65000"/>
                    </a:srgbClr>
                  </a:outerShdw>
                </a:effectLst>
              </a:rPr>
              <a:t>graphicsrunner.java</a:t>
            </a:r>
          </a:p>
          <a:p>
            <a:pPr algn="ctr"/>
            <a:r>
              <a:rPr lang="en-US" sz="6600" b="1" cap="none" spc="50" dirty="0" smtClean="0">
                <a:ln w="11430">
                  <a:solidFill>
                    <a:srgbClr val="FF0000"/>
                  </a:solidFill>
                </a:ln>
                <a:solidFill>
                  <a:srgbClr val="FF3300"/>
                </a:solidFill>
                <a:effectLst>
                  <a:outerShdw blurRad="76200" dist="50800" dir="5400000" algn="tl" rotWithShape="0">
                    <a:srgbClr val="000000">
                      <a:alpha val="65000"/>
                    </a:srgbClr>
                  </a:outerShdw>
                </a:effectLst>
              </a:rPr>
              <a:t>circles.java</a:t>
            </a:r>
            <a:endParaRPr lang="en-US" sz="6000" b="1" cap="none" spc="50" dirty="0">
              <a:ln w="11430">
                <a:solidFill>
                  <a:srgbClr val="FF0000"/>
                </a:solidFill>
              </a:ln>
              <a:solidFill>
                <a:srgbClr val="FF3300"/>
              </a:soli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3"/>
          <p:cNvSpPr>
            <a:spLocks noGrp="1"/>
          </p:cNvSpPr>
          <p:nvPr>
            <p:ph type="ftr" sz="quarter" idx="12"/>
          </p:nvPr>
        </p:nvSpPr>
        <p:spPr>
          <a:noFill/>
        </p:spPr>
        <p:txBody>
          <a:bodyPr/>
          <a:lstStyle/>
          <a:p>
            <a:endParaRPr lang="en-US" dirty="0" smtClean="0">
              <a:latin typeface="Times New Roman" pitchFamily="18" charset="0"/>
            </a:endParaRPr>
          </a:p>
          <a:p>
            <a:endParaRPr lang="en-US" b="0" dirty="0" smtClean="0"/>
          </a:p>
          <a:p>
            <a:endParaRPr lang="en-US" dirty="0" smtClean="0"/>
          </a:p>
        </p:txBody>
      </p:sp>
      <p:sp>
        <p:nvSpPr>
          <p:cNvPr id="22531" name="Freeform 2"/>
          <p:cNvSpPr>
            <a:spLocks/>
          </p:cNvSpPr>
          <p:nvPr/>
        </p:nvSpPr>
        <p:spPr bwMode="auto">
          <a:xfrm>
            <a:off x="6446838" y="982663"/>
            <a:ext cx="2697162" cy="960437"/>
          </a:xfrm>
          <a:custGeom>
            <a:avLst/>
            <a:gdLst>
              <a:gd name="T0" fmla="*/ 2147483647 w 1274"/>
              <a:gd name="T1" fmla="*/ 1141631069 h 807"/>
              <a:gd name="T2" fmla="*/ 0 w 1274"/>
              <a:gd name="T3" fmla="*/ 610474906 h 807"/>
              <a:gd name="T4" fmla="*/ 0 w 1274"/>
              <a:gd name="T5" fmla="*/ 525489943 h 807"/>
              <a:gd name="T6" fmla="*/ 2147483647 w 1274"/>
              <a:gd name="T7" fmla="*/ 0 h 807"/>
              <a:gd name="T8" fmla="*/ 2147483647 w 1274"/>
              <a:gd name="T9" fmla="*/ 525489943 h 807"/>
              <a:gd name="T10" fmla="*/ 2147483647 w 1274"/>
              <a:gd name="T11" fmla="*/ 610474906 h 807"/>
              <a:gd name="T12" fmla="*/ 2147483647 w 1274"/>
              <a:gd name="T13" fmla="*/ 1141631069 h 807"/>
              <a:gd name="T14" fmla="*/ 0 60000 65536"/>
              <a:gd name="T15" fmla="*/ 0 60000 65536"/>
              <a:gd name="T16" fmla="*/ 0 60000 65536"/>
              <a:gd name="T17" fmla="*/ 0 60000 65536"/>
              <a:gd name="T18" fmla="*/ 0 60000 65536"/>
              <a:gd name="T19" fmla="*/ 0 60000 65536"/>
              <a:gd name="T20" fmla="*/ 0 60000 65536"/>
              <a:gd name="T21" fmla="*/ 0 w 1274"/>
              <a:gd name="T22" fmla="*/ 0 h 807"/>
              <a:gd name="T23" fmla="*/ 1274 w 1274"/>
              <a:gd name="T24" fmla="*/ 807 h 8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74" h="807">
                <a:moveTo>
                  <a:pt x="637" y="806"/>
                </a:moveTo>
                <a:lnTo>
                  <a:pt x="0" y="431"/>
                </a:lnTo>
                <a:lnTo>
                  <a:pt x="0" y="371"/>
                </a:lnTo>
                <a:lnTo>
                  <a:pt x="637" y="0"/>
                </a:lnTo>
                <a:lnTo>
                  <a:pt x="1273" y="371"/>
                </a:lnTo>
                <a:lnTo>
                  <a:pt x="1273" y="431"/>
                </a:lnTo>
                <a:lnTo>
                  <a:pt x="637" y="806"/>
                </a:lnTo>
              </a:path>
            </a:pathLst>
          </a:custGeom>
          <a:solidFill>
            <a:srgbClr val="FFFFFF"/>
          </a:solidFill>
          <a:ln w="9525" cap="rnd">
            <a:noFill/>
            <a:round/>
            <a:headEnd/>
            <a:tailEnd/>
          </a:ln>
        </p:spPr>
        <p:txBody>
          <a:bodyPr/>
          <a:lstStyle/>
          <a:p>
            <a:endParaRPr lang="en-US"/>
          </a:p>
        </p:txBody>
      </p:sp>
      <p:sp>
        <p:nvSpPr>
          <p:cNvPr id="22532" name="Freeform 3"/>
          <p:cNvSpPr>
            <a:spLocks/>
          </p:cNvSpPr>
          <p:nvPr/>
        </p:nvSpPr>
        <p:spPr bwMode="auto">
          <a:xfrm>
            <a:off x="7143750" y="5543550"/>
            <a:ext cx="666750" cy="557213"/>
          </a:xfrm>
          <a:custGeom>
            <a:avLst/>
            <a:gdLst>
              <a:gd name="T0" fmla="*/ 1406806501 w 315"/>
              <a:gd name="T1" fmla="*/ 0 h 468"/>
              <a:gd name="T2" fmla="*/ 1281360183 w 315"/>
              <a:gd name="T3" fmla="*/ 22681430 h 468"/>
              <a:gd name="T4" fmla="*/ 1155911748 w 315"/>
              <a:gd name="T5" fmla="*/ 51033810 h 468"/>
              <a:gd name="T6" fmla="*/ 1048384858 w 315"/>
              <a:gd name="T7" fmla="*/ 85055960 h 468"/>
              <a:gd name="T8" fmla="*/ 918457559 w 315"/>
              <a:gd name="T9" fmla="*/ 114825176 h 468"/>
              <a:gd name="T10" fmla="*/ 810930934 w 315"/>
              <a:gd name="T11" fmla="*/ 148847307 h 468"/>
              <a:gd name="T12" fmla="*/ 703404309 w 315"/>
              <a:gd name="T13" fmla="*/ 182869475 h 468"/>
              <a:gd name="T14" fmla="*/ 595877684 w 315"/>
              <a:gd name="T15" fmla="*/ 222561366 h 468"/>
              <a:gd name="T16" fmla="*/ 506270619 w 315"/>
              <a:gd name="T17" fmla="*/ 256583497 h 468"/>
              <a:gd name="T18" fmla="*/ 416665804 w 315"/>
              <a:gd name="T19" fmla="*/ 296276579 h 468"/>
              <a:gd name="T20" fmla="*/ 327060989 w 315"/>
              <a:gd name="T21" fmla="*/ 337386579 h 468"/>
              <a:gd name="T22" fmla="*/ 250894819 w 315"/>
              <a:gd name="T23" fmla="*/ 377079661 h 468"/>
              <a:gd name="T24" fmla="*/ 179211813 w 315"/>
              <a:gd name="T25" fmla="*/ 416771552 h 468"/>
              <a:gd name="T26" fmla="*/ 125448468 w 315"/>
              <a:gd name="T27" fmla="*/ 456464633 h 468"/>
              <a:gd name="T28" fmla="*/ 71685155 w 315"/>
              <a:gd name="T29" fmla="*/ 496156524 h 468"/>
              <a:gd name="T30" fmla="*/ 35841519 w 315"/>
              <a:gd name="T31" fmla="*/ 537266450 h 468"/>
              <a:gd name="T32" fmla="*/ 0 w 315"/>
              <a:gd name="T33" fmla="*/ 576959532 h 468"/>
              <a:gd name="T34" fmla="*/ 452507307 w 315"/>
              <a:gd name="T35" fmla="*/ 662014413 h 468"/>
              <a:gd name="T36" fmla="*/ 542114239 w 315"/>
              <a:gd name="T37" fmla="*/ 639332992 h 468"/>
              <a:gd name="T38" fmla="*/ 125448468 w 315"/>
              <a:gd name="T39" fmla="*/ 565618821 h 468"/>
              <a:gd name="T40" fmla="*/ 125448468 w 315"/>
              <a:gd name="T41" fmla="*/ 554278111 h 468"/>
              <a:gd name="T42" fmla="*/ 143368194 w 315"/>
              <a:gd name="T43" fmla="*/ 537266450 h 468"/>
              <a:gd name="T44" fmla="*/ 143368194 w 315"/>
              <a:gd name="T45" fmla="*/ 520255980 h 468"/>
              <a:gd name="T46" fmla="*/ 161290004 w 315"/>
              <a:gd name="T47" fmla="*/ 501827474 h 468"/>
              <a:gd name="T48" fmla="*/ 179211813 w 315"/>
              <a:gd name="T49" fmla="*/ 479146054 h 468"/>
              <a:gd name="T50" fmla="*/ 197131506 w 315"/>
              <a:gd name="T51" fmla="*/ 462134393 h 468"/>
              <a:gd name="T52" fmla="*/ 215053316 w 315"/>
              <a:gd name="T53" fmla="*/ 445123923 h 468"/>
              <a:gd name="T54" fmla="*/ 250894819 w 315"/>
              <a:gd name="T55" fmla="*/ 428112262 h 468"/>
              <a:gd name="T56" fmla="*/ 268816629 w 315"/>
              <a:gd name="T57" fmla="*/ 411101792 h 468"/>
              <a:gd name="T58" fmla="*/ 309139179 w 315"/>
              <a:gd name="T59" fmla="*/ 394090131 h 468"/>
              <a:gd name="T60" fmla="*/ 344980682 w 315"/>
              <a:gd name="T61" fmla="*/ 377079661 h 468"/>
              <a:gd name="T62" fmla="*/ 362902492 w 315"/>
              <a:gd name="T63" fmla="*/ 360068000 h 468"/>
              <a:gd name="T64" fmla="*/ 398743994 w 315"/>
              <a:gd name="T65" fmla="*/ 343057530 h 468"/>
              <a:gd name="T66" fmla="*/ 434587614 w 315"/>
              <a:gd name="T67" fmla="*/ 326045869 h 468"/>
              <a:gd name="T68" fmla="*/ 452507307 w 315"/>
              <a:gd name="T69" fmla="*/ 314705159 h 468"/>
              <a:gd name="T70" fmla="*/ 488350926 w 315"/>
              <a:gd name="T71" fmla="*/ 296276579 h 468"/>
              <a:gd name="T72" fmla="*/ 542114239 w 315"/>
              <a:gd name="T73" fmla="*/ 273595158 h 468"/>
              <a:gd name="T74" fmla="*/ 577955874 w 315"/>
              <a:gd name="T75" fmla="*/ 256583497 h 468"/>
              <a:gd name="T76" fmla="*/ 631719186 w 315"/>
              <a:gd name="T77" fmla="*/ 233902076 h 468"/>
              <a:gd name="T78" fmla="*/ 685482499 w 315"/>
              <a:gd name="T79" fmla="*/ 211220656 h 468"/>
              <a:gd name="T80" fmla="*/ 739245811 w 315"/>
              <a:gd name="T81" fmla="*/ 194210186 h 468"/>
              <a:gd name="T82" fmla="*/ 793009124 w 315"/>
              <a:gd name="T83" fmla="*/ 171528765 h 468"/>
              <a:gd name="T84" fmla="*/ 846772436 w 315"/>
              <a:gd name="T85" fmla="*/ 154517067 h 468"/>
              <a:gd name="T86" fmla="*/ 900535749 w 315"/>
              <a:gd name="T87" fmla="*/ 137506597 h 468"/>
              <a:gd name="T88" fmla="*/ 958780043 w 315"/>
              <a:gd name="T89" fmla="*/ 120494936 h 468"/>
              <a:gd name="T90" fmla="*/ 1012543356 w 315"/>
              <a:gd name="T91" fmla="*/ 102066430 h 468"/>
              <a:gd name="T92" fmla="*/ 1084226361 w 315"/>
              <a:gd name="T93" fmla="*/ 85055960 h 468"/>
              <a:gd name="T94" fmla="*/ 1137989938 w 315"/>
              <a:gd name="T95" fmla="*/ 68044281 h 468"/>
              <a:gd name="T96" fmla="*/ 1209675060 w 315"/>
              <a:gd name="T97" fmla="*/ 51033810 h 468"/>
              <a:gd name="T98" fmla="*/ 1263438373 w 315"/>
              <a:gd name="T99" fmla="*/ 34022140 h 468"/>
              <a:gd name="T100" fmla="*/ 1335123495 w 315"/>
              <a:gd name="T101" fmla="*/ 17011665 h 468"/>
              <a:gd name="T102" fmla="*/ 1406806501 w 315"/>
              <a:gd name="T103" fmla="*/ 0 h 46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315"/>
              <a:gd name="T157" fmla="*/ 0 h 468"/>
              <a:gd name="T158" fmla="*/ 315 w 315"/>
              <a:gd name="T159" fmla="*/ 468 h 468"/>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315" h="468">
                <a:moveTo>
                  <a:pt x="314" y="0"/>
                </a:moveTo>
                <a:lnTo>
                  <a:pt x="286" y="16"/>
                </a:lnTo>
                <a:lnTo>
                  <a:pt x="258" y="36"/>
                </a:lnTo>
                <a:lnTo>
                  <a:pt x="234" y="60"/>
                </a:lnTo>
                <a:lnTo>
                  <a:pt x="205" y="81"/>
                </a:lnTo>
                <a:lnTo>
                  <a:pt x="181" y="105"/>
                </a:lnTo>
                <a:lnTo>
                  <a:pt x="157" y="129"/>
                </a:lnTo>
                <a:lnTo>
                  <a:pt x="133" y="157"/>
                </a:lnTo>
                <a:lnTo>
                  <a:pt x="113" y="181"/>
                </a:lnTo>
                <a:lnTo>
                  <a:pt x="93" y="209"/>
                </a:lnTo>
                <a:lnTo>
                  <a:pt x="73" y="238"/>
                </a:lnTo>
                <a:lnTo>
                  <a:pt x="56" y="266"/>
                </a:lnTo>
                <a:lnTo>
                  <a:pt x="40" y="294"/>
                </a:lnTo>
                <a:lnTo>
                  <a:pt x="28" y="322"/>
                </a:lnTo>
                <a:lnTo>
                  <a:pt x="16" y="350"/>
                </a:lnTo>
                <a:lnTo>
                  <a:pt x="8" y="379"/>
                </a:lnTo>
                <a:lnTo>
                  <a:pt x="0" y="407"/>
                </a:lnTo>
                <a:lnTo>
                  <a:pt x="101" y="467"/>
                </a:lnTo>
                <a:lnTo>
                  <a:pt x="121" y="451"/>
                </a:lnTo>
                <a:lnTo>
                  <a:pt x="28" y="399"/>
                </a:lnTo>
                <a:lnTo>
                  <a:pt x="28" y="391"/>
                </a:lnTo>
                <a:lnTo>
                  <a:pt x="32" y="379"/>
                </a:lnTo>
                <a:lnTo>
                  <a:pt x="32" y="367"/>
                </a:lnTo>
                <a:lnTo>
                  <a:pt x="36" y="354"/>
                </a:lnTo>
                <a:lnTo>
                  <a:pt x="40" y="338"/>
                </a:lnTo>
                <a:lnTo>
                  <a:pt x="44" y="326"/>
                </a:lnTo>
                <a:lnTo>
                  <a:pt x="48" y="314"/>
                </a:lnTo>
                <a:lnTo>
                  <a:pt x="56" y="302"/>
                </a:lnTo>
                <a:lnTo>
                  <a:pt x="60" y="290"/>
                </a:lnTo>
                <a:lnTo>
                  <a:pt x="69" y="278"/>
                </a:lnTo>
                <a:lnTo>
                  <a:pt x="77" y="266"/>
                </a:lnTo>
                <a:lnTo>
                  <a:pt x="81" y="254"/>
                </a:lnTo>
                <a:lnTo>
                  <a:pt x="89" y="242"/>
                </a:lnTo>
                <a:lnTo>
                  <a:pt x="97" y="230"/>
                </a:lnTo>
                <a:lnTo>
                  <a:pt x="101" y="222"/>
                </a:lnTo>
                <a:lnTo>
                  <a:pt x="109" y="209"/>
                </a:lnTo>
                <a:lnTo>
                  <a:pt x="121" y="193"/>
                </a:lnTo>
                <a:lnTo>
                  <a:pt x="129" y="181"/>
                </a:lnTo>
                <a:lnTo>
                  <a:pt x="141" y="165"/>
                </a:lnTo>
                <a:lnTo>
                  <a:pt x="153" y="149"/>
                </a:lnTo>
                <a:lnTo>
                  <a:pt x="165" y="137"/>
                </a:lnTo>
                <a:lnTo>
                  <a:pt x="177" y="121"/>
                </a:lnTo>
                <a:lnTo>
                  <a:pt x="189" y="109"/>
                </a:lnTo>
                <a:lnTo>
                  <a:pt x="201" y="97"/>
                </a:lnTo>
                <a:lnTo>
                  <a:pt x="214" y="85"/>
                </a:lnTo>
                <a:lnTo>
                  <a:pt x="226" y="72"/>
                </a:lnTo>
                <a:lnTo>
                  <a:pt x="242" y="60"/>
                </a:lnTo>
                <a:lnTo>
                  <a:pt x="254" y="48"/>
                </a:lnTo>
                <a:lnTo>
                  <a:pt x="270" y="36"/>
                </a:lnTo>
                <a:lnTo>
                  <a:pt x="282" y="24"/>
                </a:lnTo>
                <a:lnTo>
                  <a:pt x="298" y="12"/>
                </a:lnTo>
                <a:lnTo>
                  <a:pt x="314" y="0"/>
                </a:lnTo>
              </a:path>
            </a:pathLst>
          </a:custGeom>
          <a:solidFill>
            <a:srgbClr val="FFFFFF"/>
          </a:solidFill>
          <a:ln w="9525" cap="rnd">
            <a:noFill/>
            <a:round/>
            <a:headEnd/>
            <a:tailEnd/>
          </a:ln>
        </p:spPr>
        <p:txBody>
          <a:bodyPr/>
          <a:lstStyle/>
          <a:p>
            <a:endParaRPr lang="en-US"/>
          </a:p>
        </p:txBody>
      </p:sp>
      <p:sp>
        <p:nvSpPr>
          <p:cNvPr id="22533" name="Rectangle 4"/>
          <p:cNvSpPr>
            <a:spLocks noChangeArrowheads="1"/>
          </p:cNvSpPr>
          <p:nvPr/>
        </p:nvSpPr>
        <p:spPr bwMode="auto">
          <a:xfrm>
            <a:off x="1524000" y="914400"/>
            <a:ext cx="427038" cy="762000"/>
          </a:xfrm>
          <a:prstGeom prst="rect">
            <a:avLst/>
          </a:prstGeom>
          <a:noFill/>
          <a:ln w="9525">
            <a:noFill/>
            <a:miter lim="800000"/>
            <a:headEnd/>
            <a:tailEnd/>
          </a:ln>
        </p:spPr>
        <p:txBody>
          <a:bodyPr wrap="none" lIns="92075" tIns="46038" rIns="92075" bIns="46038">
            <a:spAutoFit/>
          </a:bodyPr>
          <a:lstStyle/>
          <a:p>
            <a:r>
              <a:rPr lang="en-US" sz="4400">
                <a:latin typeface="Comic Sans MS" pitchFamily="66" charset="0"/>
              </a:rPr>
              <a:t> </a:t>
            </a:r>
            <a:endParaRPr lang="en-US" b="0">
              <a:solidFill>
                <a:srgbClr val="CC3300"/>
              </a:solidFill>
              <a:latin typeface="Comic Sans MS" pitchFamily="66" charset="0"/>
            </a:endParaRPr>
          </a:p>
        </p:txBody>
      </p:sp>
      <p:sp>
        <p:nvSpPr>
          <p:cNvPr id="7" name="Rectangle 6"/>
          <p:cNvSpPr/>
          <p:nvPr/>
        </p:nvSpPr>
        <p:spPr>
          <a:xfrm>
            <a:off x="1447800" y="1143000"/>
            <a:ext cx="6096000" cy="3416320"/>
          </a:xfrm>
          <a:prstGeom prst="rect">
            <a:avLst/>
          </a:prstGeom>
          <a:solidFill>
            <a:srgbClr val="FFFFCC"/>
          </a:solidFill>
          <a:ln w="38100">
            <a:solidFill>
              <a:srgbClr val="0066FF"/>
            </a:solidFill>
          </a:ln>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7200" dirty="0" smtClean="0">
                <a:ln w="11430">
                  <a:solidFill>
                    <a:srgbClr val="FFFF00"/>
                  </a:solidFill>
                </a:ln>
                <a:solidFill>
                  <a:srgbClr val="0066FF"/>
                </a:solidFill>
                <a:effectLst>
                  <a:outerShdw blurRad="50800" dist="39000" dir="5460000" algn="tl">
                    <a:srgbClr val="000000">
                      <a:alpha val="38000"/>
                    </a:srgbClr>
                  </a:outerShdw>
                </a:effectLst>
              </a:rPr>
              <a:t>Graphics and Methods</a:t>
            </a:r>
            <a:endParaRPr lang="en-US" sz="7200" b="1" cap="none" spc="0" dirty="0">
              <a:ln w="11430">
                <a:solidFill>
                  <a:srgbClr val="FFFF00"/>
                </a:solidFill>
              </a:ln>
              <a:solidFill>
                <a:srgbClr val="0066FF"/>
              </a:solidFill>
              <a:effectLst>
                <a:outerShdw blurRad="50800" dist="39000" dir="5460000" algn="tl">
                  <a:srgbClr val="000000">
                    <a:alpha val="38000"/>
                  </a:srgbClr>
                </a:outerShdw>
              </a:effectLst>
            </a:endParaRPr>
          </a:p>
        </p:txBody>
      </p:sp>
      <p:sp>
        <p:nvSpPr>
          <p:cNvPr id="8" name="Footer Placeholder 2"/>
          <p:cNvSpPr>
            <a:spLocks noGrp="1"/>
          </p:cNvSpPr>
          <p:nvPr>
            <p:ph type="ftr" sz="quarter" idx="11"/>
          </p:nvPr>
        </p:nvSpPr>
        <p:spPr>
          <a:xfrm>
            <a:off x="3124200" y="6248400"/>
            <a:ext cx="2895600" cy="457200"/>
          </a:xfrm>
          <a:noFill/>
        </p:spPr>
        <p:txBody>
          <a:bodyPr/>
          <a:lstStyle/>
          <a:p>
            <a:endParaRPr lang="en-US" dirty="0" smtClean="0">
              <a:latin typeface="Times New Roman" pitchFamily="18" charset="0"/>
            </a:endParaRPr>
          </a:p>
          <a:p>
            <a:endParaRPr lang="en-US" b="0" dirty="0" smtClean="0"/>
          </a:p>
          <a:p>
            <a:endParaRPr lang="en-US" dirty="0" smtClean="0"/>
          </a:p>
          <a:p>
            <a:r>
              <a:rPr lang="en-US" dirty="0" smtClean="0"/>
              <a:t>© A+ Computer Science  -  www.apluscompsci.com</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graphicFrame>
        <p:nvGraphicFramePr>
          <p:cNvPr id="197678" name="Group 46"/>
          <p:cNvGraphicFramePr>
            <a:graphicFrameLocks noGrp="1"/>
          </p:cNvGraphicFramePr>
          <p:nvPr/>
        </p:nvGraphicFramePr>
        <p:xfrm>
          <a:off x="609600" y="533400"/>
          <a:ext cx="8077200" cy="3998849"/>
        </p:xfrm>
        <a:graphic>
          <a:graphicData uri="http://schemas.openxmlformats.org/drawingml/2006/table">
            <a:tbl>
              <a:tblPr/>
              <a:tblGrid>
                <a:gridCol w="2720975"/>
                <a:gridCol w="5356225"/>
              </a:tblGrid>
              <a:tr h="1143000">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3600" b="1" i="0" u="none" strike="noStrike" cap="none" normalizeH="0" baseline="0" smtClean="0">
                          <a:ln>
                            <a:noFill/>
                          </a:ln>
                          <a:solidFill>
                            <a:srgbClr val="FF0000"/>
                          </a:solidFill>
                          <a:effectLst/>
                          <a:latin typeface="Tahoma" pitchFamily="34" charset="0"/>
                        </a:rPr>
                        <a:t>Graphics</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006600"/>
                          </a:solidFill>
                          <a:effectLst/>
                          <a:latin typeface="Tahoma" pitchFamily="34" charset="0"/>
                        </a:rPr>
                        <a:t>frequently used methods</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solidFill>
                  </a:tcPr>
                </a:tc>
                <a:tc hMerge="1">
                  <a:txBody>
                    <a:bodyPr/>
                    <a:lstStyle/>
                    <a:p>
                      <a:endParaRPr lang="en-US"/>
                    </a:p>
                  </a:txBody>
                  <a:tcPr/>
                </a:tc>
              </a:tr>
              <a:tr h="5238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1" i="0" u="none" strike="noStrike" cap="none" normalizeH="0" baseline="0" smtClean="0">
                          <a:ln>
                            <a:noFill/>
                          </a:ln>
                          <a:solidFill>
                            <a:srgbClr val="330099"/>
                          </a:solidFill>
                          <a:effectLst/>
                          <a:latin typeface="Tahoma" pitchFamily="34" charset="0"/>
                        </a:rPr>
                        <a:t>Name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1" i="0" u="none" strike="noStrike" cap="none" normalizeH="0" baseline="0" smtClean="0">
                          <a:ln>
                            <a:noFill/>
                          </a:ln>
                          <a:solidFill>
                            <a:srgbClr val="330099"/>
                          </a:solidFill>
                          <a:effectLst/>
                          <a:latin typeface="Tahoma" pitchFamily="34" charset="0"/>
                        </a:rPr>
                        <a:t>Use</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r>
              <a:tr h="4699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accent2"/>
                          </a:solidFill>
                          <a:effectLst/>
                          <a:latin typeface="Tahoma" pitchFamily="34" charset="0"/>
                        </a:rPr>
                        <a:t>setColor(x)</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accent2"/>
                          </a:solidFill>
                          <a:effectLst/>
                          <a:latin typeface="Tahoma" pitchFamily="34" charset="0"/>
                        </a:rPr>
                        <a:t>sets the current drawing color to x</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4508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accent2"/>
                          </a:solidFill>
                          <a:effectLst/>
                          <a:latin typeface="Tahoma" pitchFamily="34" charset="0"/>
                        </a:rPr>
                        <a:t>drawString(s,x,y)</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accent2"/>
                          </a:solidFill>
                          <a:effectLst/>
                          <a:latin typeface="Tahoma" pitchFamily="34" charset="0"/>
                        </a:rPr>
                        <a:t>draws String s at spot x,y</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44926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accent2"/>
                          </a:solidFill>
                          <a:effectLst/>
                          <a:latin typeface="Tahoma" pitchFamily="34" charset="0"/>
                        </a:rPr>
                        <a:t>drawOval(x,y,w,h)</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accent2"/>
                          </a:solidFill>
                          <a:effectLst/>
                          <a:latin typeface="Tahoma" pitchFamily="34" charset="0"/>
                        </a:rPr>
                        <a:t>draws an unfilled oval at spot x,y that is w wide and h tall</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44926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accent2"/>
                          </a:solidFill>
                          <a:effectLst/>
                          <a:latin typeface="Tahoma" pitchFamily="34" charset="0"/>
                        </a:rPr>
                        <a:t>fillOval(x,y,w,h)</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accent2"/>
                          </a:solidFill>
                          <a:effectLst/>
                          <a:latin typeface="Tahoma" pitchFamily="34" charset="0"/>
                        </a:rPr>
                        <a:t>draws a filled oval at spot x,y that is w wide and h tall</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r>
            </a:tbl>
          </a:graphicData>
        </a:graphic>
      </p:graphicFrame>
      <p:sp>
        <p:nvSpPr>
          <p:cNvPr id="37913" name="Text Box 27"/>
          <p:cNvSpPr txBox="1">
            <a:spLocks noChangeArrowheads="1"/>
          </p:cNvSpPr>
          <p:nvPr/>
        </p:nvSpPr>
        <p:spPr bwMode="auto">
          <a:xfrm>
            <a:off x="2514600" y="5181600"/>
            <a:ext cx="3962400" cy="1019175"/>
          </a:xfrm>
          <a:prstGeom prst="rect">
            <a:avLst/>
          </a:prstGeom>
          <a:noFill/>
          <a:ln w="12700">
            <a:solidFill>
              <a:srgbClr val="0000FF"/>
            </a:solidFill>
            <a:miter lim="800000"/>
            <a:headEnd type="none" w="sm" len="sm"/>
            <a:tailEnd type="none" w="sm" len="sm"/>
          </a:ln>
        </p:spPr>
        <p:txBody>
          <a:bodyPr>
            <a:spAutoFit/>
          </a:bodyPr>
          <a:lstStyle/>
          <a:p>
            <a:r>
              <a:rPr lang="en-US">
                <a:solidFill>
                  <a:schemeClr val="accent2"/>
                </a:solidFill>
              </a:rPr>
              <a:t>import java.awt.Graphics;</a:t>
            </a:r>
          </a:p>
          <a:p>
            <a:r>
              <a:rPr lang="en-US">
                <a:solidFill>
                  <a:schemeClr val="accent2"/>
                </a:solidFill>
              </a:rPr>
              <a:t>import java.awt.Color;</a:t>
            </a:r>
          </a:p>
          <a:p>
            <a:r>
              <a:rPr lang="en-US">
                <a:solidFill>
                  <a:schemeClr val="accent2"/>
                </a:solidFill>
              </a:rPr>
              <a:t>import javax.swing.JFrame;</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38915" name="Text Box 2"/>
          <p:cNvSpPr txBox="1">
            <a:spLocks noChangeArrowheads="1"/>
          </p:cNvSpPr>
          <p:nvPr/>
        </p:nvSpPr>
        <p:spPr bwMode="auto">
          <a:xfrm>
            <a:off x="609600" y="1676400"/>
            <a:ext cx="7650163" cy="1309688"/>
          </a:xfrm>
          <a:prstGeom prst="rect">
            <a:avLst/>
          </a:prstGeom>
          <a:noFill/>
          <a:ln w="12700">
            <a:noFill/>
            <a:miter lim="800000"/>
            <a:headEnd type="none" w="sm" len="sm"/>
            <a:tailEnd type="none" w="sm" len="sm"/>
          </a:ln>
        </p:spPr>
        <p:txBody>
          <a:bodyPr wrap="none">
            <a:spAutoFit/>
          </a:bodyPr>
          <a:lstStyle/>
          <a:p>
            <a:r>
              <a:rPr lang="en-US" sz="2400"/>
              <a:t>A parameter/argument is a channel used to pass</a:t>
            </a:r>
            <a:br>
              <a:rPr lang="en-US" sz="2400"/>
            </a:br>
            <a:r>
              <a:rPr lang="en-US" sz="2400"/>
              <a:t>information to a method.  setColor() is a method</a:t>
            </a:r>
            <a:br>
              <a:rPr lang="en-US" sz="2400"/>
            </a:br>
            <a:r>
              <a:rPr lang="en-US" sz="2400"/>
              <a:t>of the Graphics class the receives a Color.</a:t>
            </a:r>
            <a:r>
              <a:rPr lang="en-US" sz="3200">
                <a:latin typeface="Times New Roman" pitchFamily="18" charset="0"/>
              </a:rPr>
              <a:t>  </a:t>
            </a:r>
            <a:endParaRPr lang="en-US" sz="2800" b="0">
              <a:latin typeface="Times New Roman" pitchFamily="18" charset="0"/>
            </a:endParaRPr>
          </a:p>
        </p:txBody>
      </p:sp>
      <p:sp>
        <p:nvSpPr>
          <p:cNvPr id="38916" name="Text Box 3"/>
          <p:cNvSpPr txBox="1">
            <a:spLocks noChangeArrowheads="1"/>
          </p:cNvSpPr>
          <p:nvPr/>
        </p:nvSpPr>
        <p:spPr bwMode="auto">
          <a:xfrm>
            <a:off x="1600200" y="3505200"/>
            <a:ext cx="6276975" cy="1920875"/>
          </a:xfrm>
          <a:prstGeom prst="rect">
            <a:avLst/>
          </a:prstGeom>
          <a:noFill/>
          <a:ln w="12700">
            <a:noFill/>
            <a:miter lim="800000"/>
            <a:headEnd type="none" w="sm" len="sm"/>
            <a:tailEnd type="none" w="sm" len="sm"/>
          </a:ln>
        </p:spPr>
        <p:txBody>
          <a:bodyPr wrap="none">
            <a:spAutoFit/>
          </a:bodyPr>
          <a:lstStyle/>
          <a:p>
            <a:r>
              <a:rPr lang="en-US" sz="3200">
                <a:solidFill>
                  <a:srgbClr val="006600"/>
                </a:solidFill>
              </a:rPr>
              <a:t>void setColor(Color theColor) </a:t>
            </a:r>
          </a:p>
          <a:p>
            <a:endParaRPr lang="en-US" sz="3200"/>
          </a:p>
          <a:p>
            <a:r>
              <a:rPr lang="en-US" sz="2800"/>
              <a:t>   window.setColor( Color.RED );</a:t>
            </a:r>
            <a:endParaRPr lang="en-US" sz="3200">
              <a:solidFill>
                <a:srgbClr val="660066"/>
              </a:solidFill>
            </a:endParaRPr>
          </a:p>
          <a:p>
            <a:r>
              <a:rPr lang="en-US" sz="2800" b="0">
                <a:solidFill>
                  <a:srgbClr val="660066"/>
                </a:solidFill>
                <a:latin typeface="Times New Roman" pitchFamily="18" charset="0"/>
              </a:rPr>
              <a:t>		</a:t>
            </a:r>
          </a:p>
        </p:txBody>
      </p:sp>
      <p:sp>
        <p:nvSpPr>
          <p:cNvPr id="38918" name="Rectangle 12"/>
          <p:cNvSpPr>
            <a:spLocks noChangeArrowheads="1"/>
          </p:cNvSpPr>
          <p:nvPr/>
        </p:nvSpPr>
        <p:spPr bwMode="auto">
          <a:xfrm>
            <a:off x="1371600" y="4419600"/>
            <a:ext cx="6781800" cy="1524000"/>
          </a:xfrm>
          <a:prstGeom prst="rect">
            <a:avLst/>
          </a:prstGeom>
          <a:solidFill>
            <a:schemeClr val="accent1">
              <a:alpha val="0"/>
            </a:schemeClr>
          </a:solidFill>
          <a:ln w="9525">
            <a:solidFill>
              <a:schemeClr val="accent2"/>
            </a:solidFill>
            <a:miter lim="800000"/>
            <a:headEnd/>
            <a:tailEnd/>
          </a:ln>
        </p:spPr>
        <p:txBody>
          <a:bodyPr wrap="none" anchor="ctr"/>
          <a:lstStyle/>
          <a:p>
            <a:endParaRPr lang="en-US"/>
          </a:p>
        </p:txBody>
      </p:sp>
      <p:sp>
        <p:nvSpPr>
          <p:cNvPr id="38919" name="Text Box 13"/>
          <p:cNvSpPr txBox="1">
            <a:spLocks noChangeArrowheads="1"/>
          </p:cNvSpPr>
          <p:nvPr/>
        </p:nvSpPr>
        <p:spPr bwMode="auto">
          <a:xfrm>
            <a:off x="1981200" y="5105400"/>
            <a:ext cx="5257800" cy="528638"/>
          </a:xfrm>
          <a:prstGeom prst="rect">
            <a:avLst/>
          </a:prstGeom>
          <a:noFill/>
          <a:ln w="9525">
            <a:solidFill>
              <a:schemeClr val="accent2"/>
            </a:solidFill>
            <a:miter lim="800000"/>
            <a:headEnd/>
            <a:tailEnd/>
          </a:ln>
        </p:spPr>
        <p:txBody>
          <a:bodyPr>
            <a:spAutoFit/>
          </a:bodyPr>
          <a:lstStyle/>
          <a:p>
            <a:pPr>
              <a:spcBef>
                <a:spcPct val="50000"/>
              </a:spcBef>
            </a:pPr>
            <a:r>
              <a:rPr lang="en-US" sz="2800">
                <a:solidFill>
                  <a:schemeClr val="accent2"/>
                </a:solidFill>
              </a:rPr>
              <a:t>method call with parameter</a:t>
            </a:r>
          </a:p>
        </p:txBody>
      </p:sp>
      <p:sp>
        <p:nvSpPr>
          <p:cNvPr id="38920" name="Line 14"/>
          <p:cNvSpPr>
            <a:spLocks noChangeShapeType="1"/>
          </p:cNvSpPr>
          <p:nvPr/>
        </p:nvSpPr>
        <p:spPr bwMode="auto">
          <a:xfrm flipH="1" flipV="1">
            <a:off x="3352800" y="4114800"/>
            <a:ext cx="228600" cy="457200"/>
          </a:xfrm>
          <a:prstGeom prst="line">
            <a:avLst/>
          </a:prstGeom>
          <a:noFill/>
          <a:ln w="57150">
            <a:solidFill>
              <a:srgbClr val="FF0000"/>
            </a:solidFill>
            <a:round/>
            <a:headEnd type="oval" w="sm" len="sm"/>
            <a:tailEnd type="stealth" w="med" len="lg"/>
          </a:ln>
        </p:spPr>
        <p:txBody>
          <a:bodyPr wrap="none" anchor="ctr"/>
          <a:lstStyle/>
          <a:p>
            <a:endParaRPr lang="en-US"/>
          </a:p>
        </p:txBody>
      </p:sp>
      <p:sp>
        <p:nvSpPr>
          <p:cNvPr id="38921" name="Line 15"/>
          <p:cNvSpPr>
            <a:spLocks noChangeShapeType="1"/>
          </p:cNvSpPr>
          <p:nvPr/>
        </p:nvSpPr>
        <p:spPr bwMode="auto">
          <a:xfrm flipV="1">
            <a:off x="5638800" y="4114800"/>
            <a:ext cx="533400" cy="457200"/>
          </a:xfrm>
          <a:prstGeom prst="line">
            <a:avLst/>
          </a:prstGeom>
          <a:noFill/>
          <a:ln w="57150">
            <a:solidFill>
              <a:srgbClr val="FF0000"/>
            </a:solidFill>
            <a:round/>
            <a:headEnd type="oval" w="sm" len="sm"/>
            <a:tailEnd type="stealth" w="med" len="lg"/>
          </a:ln>
        </p:spPr>
        <p:txBody>
          <a:bodyPr wrap="none" anchor="ctr"/>
          <a:lstStyle/>
          <a:p>
            <a:endParaRPr lang="en-US"/>
          </a:p>
        </p:txBody>
      </p:sp>
      <p:sp>
        <p:nvSpPr>
          <p:cNvPr id="11" name="Rectangle 10"/>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Passing Parameters</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39939" name="Text Box 3"/>
          <p:cNvSpPr txBox="1">
            <a:spLocks noChangeArrowheads="1"/>
          </p:cNvSpPr>
          <p:nvPr/>
        </p:nvSpPr>
        <p:spPr bwMode="auto">
          <a:xfrm>
            <a:off x="304800" y="2209800"/>
            <a:ext cx="8428038" cy="1920875"/>
          </a:xfrm>
          <a:prstGeom prst="rect">
            <a:avLst/>
          </a:prstGeom>
          <a:noFill/>
          <a:ln w="12700">
            <a:noFill/>
            <a:miter lim="800000"/>
            <a:headEnd type="none" w="sm" len="sm"/>
            <a:tailEnd type="none" w="sm" len="sm"/>
          </a:ln>
        </p:spPr>
        <p:txBody>
          <a:bodyPr wrap="none">
            <a:spAutoFit/>
          </a:bodyPr>
          <a:lstStyle/>
          <a:p>
            <a:r>
              <a:rPr lang="en-US" sz="2800"/>
              <a:t>void fillRect (int x, int y, int width, int height) </a:t>
            </a:r>
            <a:endParaRPr lang="en-US" sz="3200"/>
          </a:p>
          <a:p>
            <a:endParaRPr lang="en-US" sz="3200"/>
          </a:p>
          <a:p>
            <a:endParaRPr lang="en-US" sz="3200"/>
          </a:p>
          <a:p>
            <a:r>
              <a:rPr lang="en-US" sz="2800"/>
              <a:t>             window.fillRect( 10, 50, 30, 70 );</a:t>
            </a:r>
            <a:r>
              <a:rPr lang="en-US" sz="2800" b="0">
                <a:solidFill>
                  <a:srgbClr val="660066"/>
                </a:solidFill>
                <a:latin typeface="Times New Roman" pitchFamily="18" charset="0"/>
              </a:rPr>
              <a:t>		</a:t>
            </a:r>
          </a:p>
        </p:txBody>
      </p:sp>
      <p:sp>
        <p:nvSpPr>
          <p:cNvPr id="39941" name="Rectangle 17"/>
          <p:cNvSpPr>
            <a:spLocks noChangeArrowheads="1"/>
          </p:cNvSpPr>
          <p:nvPr/>
        </p:nvSpPr>
        <p:spPr bwMode="auto">
          <a:xfrm>
            <a:off x="1371600" y="3581400"/>
            <a:ext cx="6781800" cy="1524000"/>
          </a:xfrm>
          <a:prstGeom prst="rect">
            <a:avLst/>
          </a:prstGeom>
          <a:solidFill>
            <a:schemeClr val="accent1">
              <a:alpha val="0"/>
            </a:schemeClr>
          </a:solidFill>
          <a:ln w="9525">
            <a:solidFill>
              <a:schemeClr val="accent2"/>
            </a:solidFill>
            <a:miter lim="800000"/>
            <a:headEnd/>
            <a:tailEnd/>
          </a:ln>
        </p:spPr>
        <p:txBody>
          <a:bodyPr wrap="none" anchor="ctr"/>
          <a:lstStyle/>
          <a:p>
            <a:endParaRPr lang="en-US"/>
          </a:p>
        </p:txBody>
      </p:sp>
      <p:sp>
        <p:nvSpPr>
          <p:cNvPr id="39942" name="Text Box 18"/>
          <p:cNvSpPr txBox="1">
            <a:spLocks noChangeArrowheads="1"/>
          </p:cNvSpPr>
          <p:nvPr/>
        </p:nvSpPr>
        <p:spPr bwMode="auto">
          <a:xfrm>
            <a:off x="1981200" y="4267200"/>
            <a:ext cx="5410200" cy="528638"/>
          </a:xfrm>
          <a:prstGeom prst="rect">
            <a:avLst/>
          </a:prstGeom>
          <a:noFill/>
          <a:ln w="9525">
            <a:solidFill>
              <a:schemeClr val="accent2"/>
            </a:solidFill>
            <a:miter lim="800000"/>
            <a:headEnd/>
            <a:tailEnd/>
          </a:ln>
        </p:spPr>
        <p:txBody>
          <a:bodyPr>
            <a:spAutoFit/>
          </a:bodyPr>
          <a:lstStyle/>
          <a:p>
            <a:pPr>
              <a:spcBef>
                <a:spcPct val="50000"/>
              </a:spcBef>
            </a:pPr>
            <a:r>
              <a:rPr lang="en-US" sz="2800">
                <a:solidFill>
                  <a:schemeClr val="accent2"/>
                </a:solidFill>
              </a:rPr>
              <a:t>method call with parameters</a:t>
            </a:r>
          </a:p>
        </p:txBody>
      </p:sp>
      <p:sp>
        <p:nvSpPr>
          <p:cNvPr id="39943" name="Line 20"/>
          <p:cNvSpPr>
            <a:spLocks noChangeShapeType="1"/>
          </p:cNvSpPr>
          <p:nvPr/>
        </p:nvSpPr>
        <p:spPr bwMode="auto">
          <a:xfrm flipH="1" flipV="1">
            <a:off x="3581400" y="2743200"/>
            <a:ext cx="1447800" cy="914400"/>
          </a:xfrm>
          <a:prstGeom prst="line">
            <a:avLst/>
          </a:prstGeom>
          <a:noFill/>
          <a:ln w="57150">
            <a:solidFill>
              <a:srgbClr val="FF0000"/>
            </a:solidFill>
            <a:round/>
            <a:headEnd type="oval" w="sm" len="sm"/>
            <a:tailEnd type="stealth" w="med" len="lg"/>
          </a:ln>
        </p:spPr>
        <p:txBody>
          <a:bodyPr wrap="none" anchor="ctr"/>
          <a:lstStyle/>
          <a:p>
            <a:endParaRPr lang="en-US"/>
          </a:p>
        </p:txBody>
      </p:sp>
      <p:sp>
        <p:nvSpPr>
          <p:cNvPr id="39944" name="Line 21"/>
          <p:cNvSpPr>
            <a:spLocks noChangeShapeType="1"/>
          </p:cNvSpPr>
          <p:nvPr/>
        </p:nvSpPr>
        <p:spPr bwMode="auto">
          <a:xfrm flipH="1" flipV="1">
            <a:off x="4495800" y="2743200"/>
            <a:ext cx="1219200" cy="914400"/>
          </a:xfrm>
          <a:prstGeom prst="line">
            <a:avLst/>
          </a:prstGeom>
          <a:noFill/>
          <a:ln w="57150">
            <a:solidFill>
              <a:srgbClr val="FF0000"/>
            </a:solidFill>
            <a:round/>
            <a:headEnd type="oval" w="sm" len="sm"/>
            <a:tailEnd type="stealth" w="med" len="lg"/>
          </a:ln>
        </p:spPr>
        <p:txBody>
          <a:bodyPr wrap="none" anchor="ctr"/>
          <a:lstStyle/>
          <a:p>
            <a:endParaRPr lang="en-US"/>
          </a:p>
        </p:txBody>
      </p:sp>
      <p:sp>
        <p:nvSpPr>
          <p:cNvPr id="39945" name="Line 22"/>
          <p:cNvSpPr>
            <a:spLocks noChangeShapeType="1"/>
          </p:cNvSpPr>
          <p:nvPr/>
        </p:nvSpPr>
        <p:spPr bwMode="auto">
          <a:xfrm flipH="1" flipV="1">
            <a:off x="6019800" y="2667000"/>
            <a:ext cx="381000" cy="990600"/>
          </a:xfrm>
          <a:prstGeom prst="line">
            <a:avLst/>
          </a:prstGeom>
          <a:noFill/>
          <a:ln w="57150">
            <a:solidFill>
              <a:srgbClr val="FF0000"/>
            </a:solidFill>
            <a:round/>
            <a:headEnd type="oval" w="sm" len="sm"/>
            <a:tailEnd type="stealth" w="med" len="lg"/>
          </a:ln>
        </p:spPr>
        <p:txBody>
          <a:bodyPr wrap="none" anchor="ctr"/>
          <a:lstStyle/>
          <a:p>
            <a:endParaRPr lang="en-US"/>
          </a:p>
        </p:txBody>
      </p:sp>
      <p:sp>
        <p:nvSpPr>
          <p:cNvPr id="39946" name="Line 23"/>
          <p:cNvSpPr>
            <a:spLocks noChangeShapeType="1"/>
          </p:cNvSpPr>
          <p:nvPr/>
        </p:nvSpPr>
        <p:spPr bwMode="auto">
          <a:xfrm flipV="1">
            <a:off x="7086600" y="2743200"/>
            <a:ext cx="533400" cy="914400"/>
          </a:xfrm>
          <a:prstGeom prst="line">
            <a:avLst/>
          </a:prstGeom>
          <a:noFill/>
          <a:ln w="57150">
            <a:solidFill>
              <a:srgbClr val="FF0000"/>
            </a:solidFill>
            <a:round/>
            <a:headEnd type="oval" w="sm" len="sm"/>
            <a:tailEnd type="stealth" w="med" len="lg"/>
          </a:ln>
        </p:spPr>
        <p:txBody>
          <a:bodyPr wrap="none" anchor="ctr"/>
          <a:lstStyle/>
          <a:p>
            <a:endParaRPr lang="en-US"/>
          </a:p>
        </p:txBody>
      </p:sp>
      <p:sp>
        <p:nvSpPr>
          <p:cNvPr id="12" name="Rectangle 11"/>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Passing Parameters</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40963" name="Rectangle 2"/>
          <p:cNvSpPr>
            <a:spLocks noChangeArrowheads="1"/>
          </p:cNvSpPr>
          <p:nvPr/>
        </p:nvSpPr>
        <p:spPr bwMode="auto">
          <a:xfrm>
            <a:off x="457200" y="1828800"/>
            <a:ext cx="8218488" cy="2105025"/>
          </a:xfrm>
          <a:prstGeom prst="rect">
            <a:avLst/>
          </a:prstGeom>
          <a:noFill/>
          <a:ln w="9525">
            <a:noFill/>
            <a:miter lim="800000"/>
            <a:headEnd/>
            <a:tailEnd/>
          </a:ln>
        </p:spPr>
        <p:txBody>
          <a:bodyPr wrap="none">
            <a:spAutoFit/>
          </a:bodyPr>
          <a:lstStyle/>
          <a:p>
            <a:r>
              <a:rPr lang="en-US" sz="2800"/>
              <a:t>void fillRect(int x, int y, int width, int height)</a:t>
            </a:r>
            <a:endParaRPr lang="en-US" sz="3200">
              <a:solidFill>
                <a:srgbClr val="006600"/>
              </a:solidFill>
            </a:endParaRPr>
          </a:p>
          <a:p>
            <a:endParaRPr lang="en-US" sz="3200"/>
          </a:p>
          <a:p>
            <a:endParaRPr lang="en-US" sz="2800"/>
          </a:p>
          <a:p>
            <a:r>
              <a:rPr lang="en-US" sz="2800"/>
              <a:t>      window.fillRect( 10, 50, 30, 70 );</a:t>
            </a:r>
            <a:r>
              <a:rPr lang="en-US" sz="2800" b="0">
                <a:solidFill>
                  <a:srgbClr val="660066"/>
                </a:solidFill>
                <a:latin typeface="Times New Roman" pitchFamily="18" charset="0"/>
              </a:rPr>
              <a:t>	</a:t>
            </a:r>
          </a:p>
          <a:p>
            <a:endParaRPr lang="en-US" sz="1600">
              <a:latin typeface="Cooper Black" pitchFamily="18" charset="0"/>
            </a:endParaRPr>
          </a:p>
        </p:txBody>
      </p:sp>
      <p:sp>
        <p:nvSpPr>
          <p:cNvPr id="40964" name="Line 7"/>
          <p:cNvSpPr>
            <a:spLocks noChangeShapeType="1"/>
          </p:cNvSpPr>
          <p:nvPr/>
        </p:nvSpPr>
        <p:spPr bwMode="auto">
          <a:xfrm flipH="1" flipV="1">
            <a:off x="3657600" y="2362200"/>
            <a:ext cx="762000" cy="838200"/>
          </a:xfrm>
          <a:prstGeom prst="line">
            <a:avLst/>
          </a:prstGeom>
          <a:noFill/>
          <a:ln w="57150">
            <a:solidFill>
              <a:srgbClr val="FF0000"/>
            </a:solidFill>
            <a:round/>
            <a:headEnd type="oval" w="sm" len="sm"/>
            <a:tailEnd type="stealth" w="med" len="lg"/>
          </a:ln>
        </p:spPr>
        <p:txBody>
          <a:bodyPr wrap="none" anchor="ctr"/>
          <a:lstStyle/>
          <a:p>
            <a:endParaRPr lang="en-US"/>
          </a:p>
        </p:txBody>
      </p:sp>
      <p:sp>
        <p:nvSpPr>
          <p:cNvPr id="40965" name="Line 8"/>
          <p:cNvSpPr>
            <a:spLocks noChangeShapeType="1"/>
          </p:cNvSpPr>
          <p:nvPr/>
        </p:nvSpPr>
        <p:spPr bwMode="auto">
          <a:xfrm flipH="1" flipV="1">
            <a:off x="4572000" y="2362200"/>
            <a:ext cx="533400" cy="838200"/>
          </a:xfrm>
          <a:prstGeom prst="line">
            <a:avLst/>
          </a:prstGeom>
          <a:noFill/>
          <a:ln w="57150">
            <a:solidFill>
              <a:srgbClr val="FF0000"/>
            </a:solidFill>
            <a:round/>
            <a:headEnd type="oval" w="sm" len="sm"/>
            <a:tailEnd type="stealth" w="med" len="lg"/>
          </a:ln>
        </p:spPr>
        <p:txBody>
          <a:bodyPr wrap="none" anchor="ctr"/>
          <a:lstStyle/>
          <a:p>
            <a:endParaRPr lang="en-US"/>
          </a:p>
        </p:txBody>
      </p:sp>
      <p:sp>
        <p:nvSpPr>
          <p:cNvPr id="40966" name="Line 9"/>
          <p:cNvSpPr>
            <a:spLocks noChangeShapeType="1"/>
          </p:cNvSpPr>
          <p:nvPr/>
        </p:nvSpPr>
        <p:spPr bwMode="auto">
          <a:xfrm flipV="1">
            <a:off x="5791200" y="2286000"/>
            <a:ext cx="152400" cy="914400"/>
          </a:xfrm>
          <a:prstGeom prst="line">
            <a:avLst/>
          </a:prstGeom>
          <a:noFill/>
          <a:ln w="57150">
            <a:solidFill>
              <a:srgbClr val="FF0000"/>
            </a:solidFill>
            <a:round/>
            <a:headEnd type="oval" w="sm" len="sm"/>
            <a:tailEnd type="stealth" w="med" len="lg"/>
          </a:ln>
        </p:spPr>
        <p:txBody>
          <a:bodyPr wrap="none" anchor="ctr"/>
          <a:lstStyle/>
          <a:p>
            <a:endParaRPr lang="en-US"/>
          </a:p>
        </p:txBody>
      </p:sp>
      <p:sp>
        <p:nvSpPr>
          <p:cNvPr id="40967" name="Line 10"/>
          <p:cNvSpPr>
            <a:spLocks noChangeShapeType="1"/>
          </p:cNvSpPr>
          <p:nvPr/>
        </p:nvSpPr>
        <p:spPr bwMode="auto">
          <a:xfrm flipV="1">
            <a:off x="6553200" y="2362200"/>
            <a:ext cx="1219200" cy="838200"/>
          </a:xfrm>
          <a:prstGeom prst="line">
            <a:avLst/>
          </a:prstGeom>
          <a:noFill/>
          <a:ln w="57150">
            <a:solidFill>
              <a:srgbClr val="FF0000"/>
            </a:solidFill>
            <a:round/>
            <a:headEnd type="oval" w="sm" len="sm"/>
            <a:tailEnd type="stealth" w="med" len="lg"/>
          </a:ln>
        </p:spPr>
        <p:txBody>
          <a:bodyPr wrap="none" anchor="ctr"/>
          <a:lstStyle/>
          <a:p>
            <a:endParaRPr lang="en-US"/>
          </a:p>
        </p:txBody>
      </p:sp>
      <p:sp>
        <p:nvSpPr>
          <p:cNvPr id="40969" name="Text Box 16"/>
          <p:cNvSpPr txBox="1">
            <a:spLocks noChangeArrowheads="1"/>
          </p:cNvSpPr>
          <p:nvPr/>
        </p:nvSpPr>
        <p:spPr bwMode="auto">
          <a:xfrm>
            <a:off x="838200" y="4038600"/>
            <a:ext cx="7391400" cy="1196975"/>
          </a:xfrm>
          <a:prstGeom prst="rect">
            <a:avLst/>
          </a:prstGeom>
          <a:noFill/>
          <a:ln w="9525">
            <a:solidFill>
              <a:schemeClr val="accent2"/>
            </a:solidFill>
            <a:miter lim="800000"/>
            <a:headEnd/>
            <a:tailEnd/>
          </a:ln>
        </p:spPr>
        <p:txBody>
          <a:bodyPr>
            <a:spAutoFit/>
          </a:bodyPr>
          <a:lstStyle/>
          <a:p>
            <a:r>
              <a:rPr lang="en-US" sz="2400">
                <a:solidFill>
                  <a:schemeClr val="accent2"/>
                </a:solidFill>
              </a:rPr>
              <a:t>The call to fillRect would draw a rectangle at </a:t>
            </a:r>
          </a:p>
          <a:p>
            <a:r>
              <a:rPr lang="en-US" sz="2400">
                <a:solidFill>
                  <a:schemeClr val="accent2"/>
                </a:solidFill>
              </a:rPr>
              <a:t>position 10,50 with a width of 30 and a height</a:t>
            </a:r>
          </a:p>
          <a:p>
            <a:r>
              <a:rPr lang="en-US" sz="2400">
                <a:solidFill>
                  <a:schemeClr val="accent2"/>
                </a:solidFill>
              </a:rPr>
              <a:t>of 70. </a:t>
            </a:r>
          </a:p>
        </p:txBody>
      </p:sp>
      <p:sp>
        <p:nvSpPr>
          <p:cNvPr id="11" name="Rectangle 10"/>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Passing Parameters</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graphicFrame>
        <p:nvGraphicFramePr>
          <p:cNvPr id="198713" name="Group 57"/>
          <p:cNvGraphicFramePr>
            <a:graphicFrameLocks noGrp="1"/>
          </p:cNvGraphicFramePr>
          <p:nvPr/>
        </p:nvGraphicFramePr>
        <p:xfrm>
          <a:off x="609600" y="533400"/>
          <a:ext cx="8077200" cy="3855720"/>
        </p:xfrm>
        <a:graphic>
          <a:graphicData uri="http://schemas.openxmlformats.org/drawingml/2006/table">
            <a:tbl>
              <a:tblPr/>
              <a:tblGrid>
                <a:gridCol w="3200400"/>
                <a:gridCol w="4876800"/>
              </a:tblGrid>
              <a:tr h="1219200">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3600" b="1" i="0" u="none" strike="noStrike" cap="none" normalizeH="0" baseline="0" smtClean="0">
                          <a:ln>
                            <a:noFill/>
                          </a:ln>
                          <a:solidFill>
                            <a:srgbClr val="FF0000"/>
                          </a:solidFill>
                          <a:effectLst/>
                          <a:latin typeface="Tahoma" pitchFamily="34" charset="0"/>
                        </a:rPr>
                        <a:t>Graphics</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006600"/>
                          </a:solidFill>
                          <a:effectLst/>
                          <a:latin typeface="Tahoma" pitchFamily="34" charset="0"/>
                        </a:rPr>
                        <a:t>frequently used methods</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solidFill>
                  </a:tcPr>
                </a:tc>
                <a:tc hMerge="1">
                  <a:txBody>
                    <a:bodyPr/>
                    <a:lstStyle/>
                    <a:p>
                      <a:endParaRPr lang="en-US"/>
                    </a:p>
                  </a:txBody>
                  <a:tcPr/>
                </a:tc>
              </a:tr>
              <a:tr h="5334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1" i="0" u="none" strike="noStrike" cap="none" normalizeH="0" baseline="0" smtClean="0">
                          <a:ln>
                            <a:noFill/>
                          </a:ln>
                          <a:solidFill>
                            <a:srgbClr val="330099"/>
                          </a:solidFill>
                          <a:effectLst/>
                          <a:latin typeface="Tahoma" pitchFamily="34" charset="0"/>
                        </a:rPr>
                        <a:t>Name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1" i="0" u="none" strike="noStrike" cap="none" normalizeH="0" baseline="0" smtClean="0">
                          <a:ln>
                            <a:noFill/>
                          </a:ln>
                          <a:solidFill>
                            <a:srgbClr val="330099"/>
                          </a:solidFill>
                          <a:effectLst/>
                          <a:latin typeface="Tahoma" pitchFamily="34" charset="0"/>
                        </a:rPr>
                        <a:t>Use</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r>
              <a:tr h="4699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accent2"/>
                          </a:solidFill>
                          <a:effectLst/>
                          <a:latin typeface="Tahoma" pitchFamily="34" charset="0"/>
                        </a:rPr>
                        <a:t>drawLine(a,b,c,d)</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accent2"/>
                          </a:solidFill>
                          <a:effectLst/>
                          <a:latin typeface="Tahoma" pitchFamily="34" charset="0"/>
                        </a:rPr>
                        <a:t>draws a line starting at point a,b and going to point c,d</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44926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accent2"/>
                          </a:solidFill>
                          <a:effectLst/>
                          <a:latin typeface="Tahoma" pitchFamily="34" charset="0"/>
                        </a:rPr>
                        <a:t>drawRect(x,y,w,h)</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accent2"/>
                          </a:solidFill>
                          <a:effectLst/>
                          <a:latin typeface="Tahoma" pitchFamily="34" charset="0"/>
                        </a:rPr>
                        <a:t>draws an unfilled rectangle at spot x,y that is w wide and h tall</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44926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accent2"/>
                          </a:solidFill>
                          <a:effectLst/>
                          <a:latin typeface="Tahoma" pitchFamily="34" charset="0"/>
                        </a:rPr>
                        <a:t>fillRect(x,y,w,h)</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accent2"/>
                          </a:solidFill>
                          <a:effectLst/>
                          <a:latin typeface="Tahoma" pitchFamily="34" charset="0"/>
                        </a:rPr>
                        <a:t>draws a filled rectangle at spot x,y that is w wide and h tall</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r>
            </a:tbl>
          </a:graphicData>
        </a:graphic>
      </p:graphicFrame>
      <p:sp>
        <p:nvSpPr>
          <p:cNvPr id="42006" name="Text Box 25"/>
          <p:cNvSpPr txBox="1">
            <a:spLocks noChangeArrowheads="1"/>
          </p:cNvSpPr>
          <p:nvPr/>
        </p:nvSpPr>
        <p:spPr bwMode="auto">
          <a:xfrm>
            <a:off x="2514600" y="5029200"/>
            <a:ext cx="3962400" cy="1019175"/>
          </a:xfrm>
          <a:prstGeom prst="rect">
            <a:avLst/>
          </a:prstGeom>
          <a:noFill/>
          <a:ln w="12700">
            <a:solidFill>
              <a:srgbClr val="0000FF"/>
            </a:solidFill>
            <a:miter lim="800000"/>
            <a:headEnd type="none" w="sm" len="sm"/>
            <a:tailEnd type="none" w="sm" len="sm"/>
          </a:ln>
        </p:spPr>
        <p:txBody>
          <a:bodyPr>
            <a:spAutoFit/>
          </a:bodyPr>
          <a:lstStyle/>
          <a:p>
            <a:r>
              <a:rPr lang="en-US">
                <a:solidFill>
                  <a:schemeClr val="accent2"/>
                </a:solidFill>
              </a:rPr>
              <a:t>import java.awt.Graphics;</a:t>
            </a:r>
          </a:p>
          <a:p>
            <a:r>
              <a:rPr lang="en-US">
                <a:solidFill>
                  <a:schemeClr val="accent2"/>
                </a:solidFill>
              </a:rPr>
              <a:t>import java.awt.Color;</a:t>
            </a:r>
          </a:p>
          <a:p>
            <a:r>
              <a:rPr lang="en-US">
                <a:solidFill>
                  <a:schemeClr val="accent2"/>
                </a:solidFill>
              </a:rPr>
              <a:t>import javax.swing.JFrame;</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43011" name="Rectangle 4"/>
          <p:cNvSpPr>
            <a:spLocks noChangeArrowheads="1"/>
          </p:cNvSpPr>
          <p:nvPr/>
        </p:nvSpPr>
        <p:spPr bwMode="auto">
          <a:xfrm>
            <a:off x="1539875" y="2076450"/>
            <a:ext cx="6172200" cy="3505200"/>
          </a:xfrm>
          <a:prstGeom prst="rect">
            <a:avLst/>
          </a:prstGeom>
          <a:solidFill>
            <a:schemeClr val="bg1"/>
          </a:solidFill>
          <a:ln w="9525">
            <a:solidFill>
              <a:schemeClr val="tx1"/>
            </a:solidFill>
            <a:miter lim="800000"/>
            <a:headEnd/>
            <a:tailEnd/>
          </a:ln>
        </p:spPr>
        <p:txBody>
          <a:bodyPr wrap="none" anchor="ctr"/>
          <a:lstStyle/>
          <a:p>
            <a:endParaRPr lang="en-US"/>
          </a:p>
        </p:txBody>
      </p:sp>
      <p:sp>
        <p:nvSpPr>
          <p:cNvPr id="43012" name="Text Box 5"/>
          <p:cNvSpPr txBox="1">
            <a:spLocks noChangeArrowheads="1"/>
          </p:cNvSpPr>
          <p:nvPr/>
        </p:nvSpPr>
        <p:spPr bwMode="auto">
          <a:xfrm>
            <a:off x="701675" y="1619250"/>
            <a:ext cx="749300" cy="519113"/>
          </a:xfrm>
          <a:prstGeom prst="rect">
            <a:avLst/>
          </a:prstGeom>
          <a:noFill/>
          <a:ln w="9525">
            <a:noFill/>
            <a:miter lim="800000"/>
            <a:headEnd/>
            <a:tailEnd/>
          </a:ln>
        </p:spPr>
        <p:txBody>
          <a:bodyPr wrap="none">
            <a:spAutoFit/>
          </a:bodyPr>
          <a:lstStyle/>
          <a:p>
            <a:r>
              <a:rPr lang="en-US" sz="2800"/>
              <a:t>0,0</a:t>
            </a:r>
          </a:p>
        </p:txBody>
      </p:sp>
      <p:sp>
        <p:nvSpPr>
          <p:cNvPr id="43013" name="Text Box 6"/>
          <p:cNvSpPr txBox="1">
            <a:spLocks noChangeArrowheads="1"/>
          </p:cNvSpPr>
          <p:nvPr/>
        </p:nvSpPr>
        <p:spPr bwMode="auto">
          <a:xfrm>
            <a:off x="7026275" y="5581650"/>
            <a:ext cx="1657350" cy="519113"/>
          </a:xfrm>
          <a:prstGeom prst="rect">
            <a:avLst/>
          </a:prstGeom>
          <a:noFill/>
          <a:ln w="9525">
            <a:noFill/>
            <a:miter lim="800000"/>
            <a:headEnd/>
            <a:tailEnd/>
          </a:ln>
        </p:spPr>
        <p:txBody>
          <a:bodyPr wrap="none">
            <a:spAutoFit/>
          </a:bodyPr>
          <a:lstStyle/>
          <a:p>
            <a:r>
              <a:rPr lang="en-US" sz="2800"/>
              <a:t>639,479</a:t>
            </a:r>
          </a:p>
        </p:txBody>
      </p:sp>
      <p:sp>
        <p:nvSpPr>
          <p:cNvPr id="43015" name="Rectangle 8"/>
          <p:cNvSpPr>
            <a:spLocks noChangeArrowheads="1"/>
          </p:cNvSpPr>
          <p:nvPr/>
        </p:nvSpPr>
        <p:spPr bwMode="auto">
          <a:xfrm>
            <a:off x="1844675" y="2533650"/>
            <a:ext cx="457200" cy="1371600"/>
          </a:xfrm>
          <a:prstGeom prst="rect">
            <a:avLst/>
          </a:prstGeom>
          <a:solidFill>
            <a:schemeClr val="accent2"/>
          </a:solidFill>
          <a:ln w="9525">
            <a:solidFill>
              <a:schemeClr val="tx1"/>
            </a:solidFill>
            <a:miter lim="800000"/>
            <a:headEnd/>
            <a:tailEnd/>
          </a:ln>
        </p:spPr>
        <p:txBody>
          <a:bodyPr wrap="none" anchor="ctr"/>
          <a:lstStyle/>
          <a:p>
            <a:endParaRPr lang="en-US"/>
          </a:p>
        </p:txBody>
      </p:sp>
      <p:sp>
        <p:nvSpPr>
          <p:cNvPr id="43016" name="Rectangle 9"/>
          <p:cNvSpPr>
            <a:spLocks noChangeArrowheads="1"/>
          </p:cNvSpPr>
          <p:nvPr/>
        </p:nvSpPr>
        <p:spPr bwMode="auto">
          <a:xfrm>
            <a:off x="701675" y="5886450"/>
            <a:ext cx="6096000" cy="519113"/>
          </a:xfrm>
          <a:prstGeom prst="rect">
            <a:avLst/>
          </a:prstGeom>
          <a:noFill/>
          <a:ln w="9525">
            <a:noFill/>
            <a:miter lim="800000"/>
            <a:headEnd/>
            <a:tailEnd/>
          </a:ln>
        </p:spPr>
        <p:txBody>
          <a:bodyPr wrap="none">
            <a:spAutoFit/>
          </a:bodyPr>
          <a:lstStyle/>
          <a:p>
            <a:r>
              <a:rPr lang="en-US" sz="2800"/>
              <a:t>window.fillRect( 10, 50, 30, 70 );</a:t>
            </a:r>
          </a:p>
        </p:txBody>
      </p:sp>
      <p:sp>
        <p:nvSpPr>
          <p:cNvPr id="43017" name="Text Box 10"/>
          <p:cNvSpPr txBox="1">
            <a:spLocks noChangeArrowheads="1"/>
          </p:cNvSpPr>
          <p:nvPr/>
        </p:nvSpPr>
        <p:spPr bwMode="auto">
          <a:xfrm>
            <a:off x="3276600" y="1524000"/>
            <a:ext cx="2611438" cy="519113"/>
          </a:xfrm>
          <a:prstGeom prst="rect">
            <a:avLst/>
          </a:prstGeom>
          <a:noFill/>
          <a:ln w="9525">
            <a:noFill/>
            <a:miter lim="800000"/>
            <a:headEnd/>
            <a:tailEnd/>
          </a:ln>
        </p:spPr>
        <p:txBody>
          <a:bodyPr wrap="none">
            <a:spAutoFit/>
          </a:bodyPr>
          <a:lstStyle/>
          <a:p>
            <a:r>
              <a:rPr lang="en-US" sz="2800">
                <a:solidFill>
                  <a:srgbClr val="FF5050"/>
                </a:solidFill>
              </a:rPr>
              <a:t>X goes across</a:t>
            </a:r>
          </a:p>
        </p:txBody>
      </p:sp>
      <p:sp>
        <p:nvSpPr>
          <p:cNvPr id="43018" name="Text Box 11"/>
          <p:cNvSpPr txBox="1">
            <a:spLocks noChangeArrowheads="1"/>
          </p:cNvSpPr>
          <p:nvPr/>
        </p:nvSpPr>
        <p:spPr bwMode="auto">
          <a:xfrm>
            <a:off x="396875" y="2990850"/>
            <a:ext cx="1169988" cy="1373188"/>
          </a:xfrm>
          <a:prstGeom prst="rect">
            <a:avLst/>
          </a:prstGeom>
          <a:noFill/>
          <a:ln w="9525">
            <a:noFill/>
            <a:miter lim="800000"/>
            <a:headEnd/>
            <a:tailEnd/>
          </a:ln>
        </p:spPr>
        <p:txBody>
          <a:bodyPr wrap="none">
            <a:spAutoFit/>
          </a:bodyPr>
          <a:lstStyle/>
          <a:p>
            <a:r>
              <a:rPr lang="en-US" sz="2800">
                <a:solidFill>
                  <a:srgbClr val="FF5050"/>
                </a:solidFill>
              </a:rPr>
              <a:t>  Y</a:t>
            </a:r>
          </a:p>
          <a:p>
            <a:r>
              <a:rPr lang="en-US" sz="2800">
                <a:solidFill>
                  <a:srgbClr val="FF5050"/>
                </a:solidFill>
              </a:rPr>
              <a:t>goes</a:t>
            </a:r>
          </a:p>
          <a:p>
            <a:r>
              <a:rPr lang="en-US" sz="2800">
                <a:solidFill>
                  <a:srgbClr val="FF5050"/>
                </a:solidFill>
              </a:rPr>
              <a:t>down</a:t>
            </a:r>
          </a:p>
        </p:txBody>
      </p:sp>
      <p:sp>
        <p:nvSpPr>
          <p:cNvPr id="43019" name="Line 12"/>
          <p:cNvSpPr>
            <a:spLocks noChangeShapeType="1"/>
          </p:cNvSpPr>
          <p:nvPr/>
        </p:nvSpPr>
        <p:spPr bwMode="auto">
          <a:xfrm>
            <a:off x="854075" y="4362450"/>
            <a:ext cx="0" cy="838200"/>
          </a:xfrm>
          <a:prstGeom prst="line">
            <a:avLst/>
          </a:prstGeom>
          <a:noFill/>
          <a:ln w="50800">
            <a:solidFill>
              <a:schemeClr val="tx1"/>
            </a:solidFill>
            <a:round/>
            <a:headEnd/>
            <a:tailEnd type="triangle" w="med" len="med"/>
          </a:ln>
        </p:spPr>
        <p:txBody>
          <a:bodyPr/>
          <a:lstStyle/>
          <a:p>
            <a:endParaRPr lang="en-US"/>
          </a:p>
        </p:txBody>
      </p:sp>
      <p:sp>
        <p:nvSpPr>
          <p:cNvPr id="43020" name="Line 13"/>
          <p:cNvSpPr>
            <a:spLocks noChangeShapeType="1"/>
          </p:cNvSpPr>
          <p:nvPr/>
        </p:nvSpPr>
        <p:spPr bwMode="auto">
          <a:xfrm>
            <a:off x="6035675" y="1847850"/>
            <a:ext cx="1066800" cy="0"/>
          </a:xfrm>
          <a:prstGeom prst="line">
            <a:avLst/>
          </a:prstGeom>
          <a:noFill/>
          <a:ln w="50800">
            <a:solidFill>
              <a:schemeClr val="tx1"/>
            </a:solidFill>
            <a:round/>
            <a:headEnd/>
            <a:tailEnd type="triangle" w="med" len="med"/>
          </a:ln>
        </p:spPr>
        <p:txBody>
          <a:bodyPr/>
          <a:lstStyle/>
          <a:p>
            <a:endParaRPr lang="en-US"/>
          </a:p>
        </p:txBody>
      </p:sp>
      <p:sp>
        <p:nvSpPr>
          <p:cNvPr id="13" name="Rectangle 12"/>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Graphics</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44035" name="Rectangle 2"/>
          <p:cNvSpPr>
            <a:spLocks noChangeArrowheads="1"/>
          </p:cNvSpPr>
          <p:nvPr/>
        </p:nvSpPr>
        <p:spPr bwMode="auto">
          <a:xfrm>
            <a:off x="1692275" y="2000250"/>
            <a:ext cx="6172200" cy="3505200"/>
          </a:xfrm>
          <a:prstGeom prst="rect">
            <a:avLst/>
          </a:prstGeom>
          <a:solidFill>
            <a:schemeClr val="bg1"/>
          </a:solidFill>
          <a:ln w="9525">
            <a:solidFill>
              <a:schemeClr val="tx1"/>
            </a:solidFill>
            <a:miter lim="800000"/>
            <a:headEnd/>
            <a:tailEnd/>
          </a:ln>
        </p:spPr>
        <p:txBody>
          <a:bodyPr wrap="none" anchor="ctr"/>
          <a:lstStyle/>
          <a:p>
            <a:endParaRPr lang="en-US"/>
          </a:p>
        </p:txBody>
      </p:sp>
      <p:sp>
        <p:nvSpPr>
          <p:cNvPr id="44036" name="Text Box 3"/>
          <p:cNvSpPr txBox="1">
            <a:spLocks noChangeArrowheads="1"/>
          </p:cNvSpPr>
          <p:nvPr/>
        </p:nvSpPr>
        <p:spPr bwMode="auto">
          <a:xfrm>
            <a:off x="549275" y="1619250"/>
            <a:ext cx="749300" cy="519113"/>
          </a:xfrm>
          <a:prstGeom prst="rect">
            <a:avLst/>
          </a:prstGeom>
          <a:noFill/>
          <a:ln w="9525">
            <a:noFill/>
            <a:miter lim="800000"/>
            <a:headEnd/>
            <a:tailEnd/>
          </a:ln>
        </p:spPr>
        <p:txBody>
          <a:bodyPr wrap="none">
            <a:spAutoFit/>
          </a:bodyPr>
          <a:lstStyle/>
          <a:p>
            <a:r>
              <a:rPr lang="en-US" sz="2800"/>
              <a:t>0,0</a:t>
            </a:r>
          </a:p>
        </p:txBody>
      </p:sp>
      <p:sp>
        <p:nvSpPr>
          <p:cNvPr id="44038" name="Rectangle 7"/>
          <p:cNvSpPr>
            <a:spLocks noChangeArrowheads="1"/>
          </p:cNvSpPr>
          <p:nvPr/>
        </p:nvSpPr>
        <p:spPr bwMode="auto">
          <a:xfrm>
            <a:off x="1463675" y="5810250"/>
            <a:ext cx="6545263" cy="519113"/>
          </a:xfrm>
          <a:prstGeom prst="rect">
            <a:avLst/>
          </a:prstGeom>
          <a:noFill/>
          <a:ln w="9525">
            <a:noFill/>
            <a:miter lim="800000"/>
            <a:headEnd/>
            <a:tailEnd/>
          </a:ln>
        </p:spPr>
        <p:txBody>
          <a:bodyPr wrap="none">
            <a:spAutoFit/>
          </a:bodyPr>
          <a:lstStyle/>
          <a:p>
            <a:r>
              <a:rPr lang="en-US" sz="2800"/>
              <a:t>window.fillOval( 100, 100, 50, 50 );</a:t>
            </a:r>
          </a:p>
        </p:txBody>
      </p:sp>
      <p:sp>
        <p:nvSpPr>
          <p:cNvPr id="44039" name="Text Box 8"/>
          <p:cNvSpPr txBox="1">
            <a:spLocks noChangeArrowheads="1"/>
          </p:cNvSpPr>
          <p:nvPr/>
        </p:nvSpPr>
        <p:spPr bwMode="auto">
          <a:xfrm>
            <a:off x="3429000" y="1447800"/>
            <a:ext cx="2611438" cy="519113"/>
          </a:xfrm>
          <a:prstGeom prst="rect">
            <a:avLst/>
          </a:prstGeom>
          <a:noFill/>
          <a:ln w="9525">
            <a:noFill/>
            <a:miter lim="800000"/>
            <a:headEnd/>
            <a:tailEnd/>
          </a:ln>
        </p:spPr>
        <p:txBody>
          <a:bodyPr wrap="none">
            <a:spAutoFit/>
          </a:bodyPr>
          <a:lstStyle/>
          <a:p>
            <a:r>
              <a:rPr lang="en-US" sz="2800">
                <a:solidFill>
                  <a:srgbClr val="FF5050"/>
                </a:solidFill>
              </a:rPr>
              <a:t>X goes across</a:t>
            </a:r>
          </a:p>
        </p:txBody>
      </p:sp>
      <p:sp>
        <p:nvSpPr>
          <p:cNvPr id="44040" name="Text Box 9"/>
          <p:cNvSpPr txBox="1">
            <a:spLocks noChangeArrowheads="1"/>
          </p:cNvSpPr>
          <p:nvPr/>
        </p:nvSpPr>
        <p:spPr bwMode="auto">
          <a:xfrm>
            <a:off x="549275" y="2914650"/>
            <a:ext cx="1169988" cy="1373188"/>
          </a:xfrm>
          <a:prstGeom prst="rect">
            <a:avLst/>
          </a:prstGeom>
          <a:noFill/>
          <a:ln w="9525">
            <a:noFill/>
            <a:miter lim="800000"/>
            <a:headEnd/>
            <a:tailEnd/>
          </a:ln>
        </p:spPr>
        <p:txBody>
          <a:bodyPr wrap="none">
            <a:spAutoFit/>
          </a:bodyPr>
          <a:lstStyle/>
          <a:p>
            <a:r>
              <a:rPr lang="en-US" sz="2800">
                <a:solidFill>
                  <a:srgbClr val="FF5050"/>
                </a:solidFill>
              </a:rPr>
              <a:t>  Y</a:t>
            </a:r>
          </a:p>
          <a:p>
            <a:r>
              <a:rPr lang="en-US" sz="2800">
                <a:solidFill>
                  <a:srgbClr val="FF5050"/>
                </a:solidFill>
              </a:rPr>
              <a:t>goes</a:t>
            </a:r>
          </a:p>
          <a:p>
            <a:r>
              <a:rPr lang="en-US" sz="2800">
                <a:solidFill>
                  <a:srgbClr val="FF5050"/>
                </a:solidFill>
              </a:rPr>
              <a:t>down</a:t>
            </a:r>
          </a:p>
        </p:txBody>
      </p:sp>
      <p:sp>
        <p:nvSpPr>
          <p:cNvPr id="44041" name="Line 10"/>
          <p:cNvSpPr>
            <a:spLocks noChangeShapeType="1"/>
          </p:cNvSpPr>
          <p:nvPr/>
        </p:nvSpPr>
        <p:spPr bwMode="auto">
          <a:xfrm>
            <a:off x="1006475" y="4286250"/>
            <a:ext cx="0" cy="838200"/>
          </a:xfrm>
          <a:prstGeom prst="line">
            <a:avLst/>
          </a:prstGeom>
          <a:noFill/>
          <a:ln w="50800">
            <a:solidFill>
              <a:schemeClr val="tx1"/>
            </a:solidFill>
            <a:round/>
            <a:headEnd/>
            <a:tailEnd type="triangle" w="med" len="med"/>
          </a:ln>
        </p:spPr>
        <p:txBody>
          <a:bodyPr/>
          <a:lstStyle/>
          <a:p>
            <a:endParaRPr lang="en-US"/>
          </a:p>
        </p:txBody>
      </p:sp>
      <p:sp>
        <p:nvSpPr>
          <p:cNvPr id="44042" name="Line 11"/>
          <p:cNvSpPr>
            <a:spLocks noChangeShapeType="1"/>
          </p:cNvSpPr>
          <p:nvPr/>
        </p:nvSpPr>
        <p:spPr bwMode="auto">
          <a:xfrm>
            <a:off x="6188075" y="1771650"/>
            <a:ext cx="1066800" cy="0"/>
          </a:xfrm>
          <a:prstGeom prst="line">
            <a:avLst/>
          </a:prstGeom>
          <a:noFill/>
          <a:ln w="50800">
            <a:solidFill>
              <a:schemeClr val="tx1"/>
            </a:solidFill>
            <a:round/>
            <a:headEnd/>
            <a:tailEnd type="triangle" w="med" len="med"/>
          </a:ln>
        </p:spPr>
        <p:txBody>
          <a:bodyPr/>
          <a:lstStyle/>
          <a:p>
            <a:endParaRPr lang="en-US"/>
          </a:p>
        </p:txBody>
      </p:sp>
      <p:sp>
        <p:nvSpPr>
          <p:cNvPr id="44043" name="Oval 12"/>
          <p:cNvSpPr>
            <a:spLocks noChangeArrowheads="1"/>
          </p:cNvSpPr>
          <p:nvPr/>
        </p:nvSpPr>
        <p:spPr bwMode="auto">
          <a:xfrm>
            <a:off x="2606675" y="2686050"/>
            <a:ext cx="990600" cy="914400"/>
          </a:xfrm>
          <a:prstGeom prst="ellipse">
            <a:avLst/>
          </a:prstGeom>
          <a:solidFill>
            <a:srgbClr val="0000FF"/>
          </a:solidFill>
          <a:ln w="9525">
            <a:solidFill>
              <a:schemeClr val="tx1"/>
            </a:solidFill>
            <a:round/>
            <a:headEnd/>
            <a:tailEnd/>
          </a:ln>
        </p:spPr>
        <p:txBody>
          <a:bodyPr wrap="none" anchor="ctr"/>
          <a:lstStyle/>
          <a:p>
            <a:endParaRPr lang="en-US"/>
          </a:p>
        </p:txBody>
      </p:sp>
      <p:sp>
        <p:nvSpPr>
          <p:cNvPr id="44044" name="Text Box 13"/>
          <p:cNvSpPr txBox="1">
            <a:spLocks noChangeArrowheads="1"/>
          </p:cNvSpPr>
          <p:nvPr/>
        </p:nvSpPr>
        <p:spPr bwMode="auto">
          <a:xfrm>
            <a:off x="2301875" y="2381250"/>
            <a:ext cx="1828800" cy="304800"/>
          </a:xfrm>
          <a:prstGeom prst="rect">
            <a:avLst/>
          </a:prstGeom>
          <a:noFill/>
          <a:ln w="9525">
            <a:noFill/>
            <a:miter lim="800000"/>
            <a:headEnd/>
            <a:tailEnd/>
          </a:ln>
        </p:spPr>
        <p:txBody>
          <a:bodyPr>
            <a:spAutoFit/>
          </a:bodyPr>
          <a:lstStyle/>
          <a:p>
            <a:pPr>
              <a:spcBef>
                <a:spcPct val="50000"/>
              </a:spcBef>
            </a:pPr>
            <a:r>
              <a:rPr lang="en-US" sz="1400"/>
              <a:t>X=100   y=100</a:t>
            </a:r>
          </a:p>
        </p:txBody>
      </p:sp>
      <p:sp>
        <p:nvSpPr>
          <p:cNvPr id="44045" name="Text Box 14"/>
          <p:cNvSpPr txBox="1">
            <a:spLocks noChangeArrowheads="1"/>
          </p:cNvSpPr>
          <p:nvPr/>
        </p:nvSpPr>
        <p:spPr bwMode="auto">
          <a:xfrm>
            <a:off x="2073275" y="3676650"/>
            <a:ext cx="2209800" cy="304800"/>
          </a:xfrm>
          <a:prstGeom prst="rect">
            <a:avLst/>
          </a:prstGeom>
          <a:noFill/>
          <a:ln w="9525">
            <a:noFill/>
            <a:miter lim="800000"/>
            <a:headEnd/>
            <a:tailEnd/>
          </a:ln>
        </p:spPr>
        <p:txBody>
          <a:bodyPr>
            <a:spAutoFit/>
          </a:bodyPr>
          <a:lstStyle/>
          <a:p>
            <a:pPr>
              <a:spcBef>
                <a:spcPct val="50000"/>
              </a:spcBef>
            </a:pPr>
            <a:r>
              <a:rPr lang="en-US" sz="1400"/>
              <a:t>width=50   height=50</a:t>
            </a:r>
          </a:p>
        </p:txBody>
      </p:sp>
      <p:sp>
        <p:nvSpPr>
          <p:cNvPr id="14" name="Rectangle 13"/>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Passing Parameters</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45059" name="Text Box 2"/>
          <p:cNvSpPr txBox="1">
            <a:spLocks noChangeArrowheads="1"/>
          </p:cNvSpPr>
          <p:nvPr/>
        </p:nvSpPr>
        <p:spPr bwMode="auto">
          <a:xfrm>
            <a:off x="990600" y="1600200"/>
            <a:ext cx="7848600" cy="3081338"/>
          </a:xfrm>
          <a:prstGeom prst="rect">
            <a:avLst/>
          </a:prstGeom>
          <a:noFill/>
          <a:ln w="12700">
            <a:noFill/>
            <a:miter lim="800000"/>
            <a:headEnd type="none" w="sm" len="sm"/>
            <a:tailEnd type="none" w="sm" len="sm"/>
          </a:ln>
        </p:spPr>
        <p:txBody>
          <a:bodyPr>
            <a:spAutoFit/>
          </a:bodyPr>
          <a:lstStyle/>
          <a:p>
            <a:r>
              <a:rPr lang="en-US" sz="2800"/>
              <a:t>public void paint( Graphics window )</a:t>
            </a:r>
          </a:p>
          <a:p>
            <a:r>
              <a:rPr lang="en-US" sz="2800"/>
              <a:t>{</a:t>
            </a:r>
          </a:p>
          <a:p>
            <a:r>
              <a:rPr lang="en-US" sz="2800"/>
              <a:t>   window.setColor(Color.BLUE);</a:t>
            </a:r>
          </a:p>
          <a:p>
            <a:r>
              <a:rPr lang="en-US" sz="2800"/>
              <a:t>   window.</a:t>
            </a:r>
            <a:r>
              <a:rPr lang="en-US" sz="2800">
                <a:solidFill>
                  <a:schemeClr val="accent2"/>
                </a:solidFill>
              </a:rPr>
              <a:t>fillRect</a:t>
            </a:r>
            <a:r>
              <a:rPr lang="en-US" sz="2800"/>
              <a:t>(150, 300, 100, 20);</a:t>
            </a:r>
          </a:p>
          <a:p>
            <a:r>
              <a:rPr lang="en-US" sz="2800"/>
              <a:t>   window.setColor(Color.GRAY);</a:t>
            </a:r>
          </a:p>
          <a:p>
            <a:r>
              <a:rPr lang="en-US" sz="2800"/>
              <a:t>   window.</a:t>
            </a:r>
            <a:r>
              <a:rPr lang="en-US" sz="2800">
                <a:solidFill>
                  <a:schemeClr val="accent2"/>
                </a:solidFill>
              </a:rPr>
              <a:t>drawRect</a:t>
            </a:r>
            <a:r>
              <a:rPr lang="en-US" sz="2800"/>
              <a:t>(200,80,50,50);</a:t>
            </a:r>
          </a:p>
          <a:p>
            <a:r>
              <a:rPr lang="en-US" sz="2800"/>
              <a:t>}</a:t>
            </a:r>
            <a:r>
              <a:rPr lang="en-US" sz="1800"/>
              <a:t>  </a:t>
            </a:r>
          </a:p>
        </p:txBody>
      </p:sp>
      <p:sp>
        <p:nvSpPr>
          <p:cNvPr id="6" name="Rectangle 5"/>
          <p:cNvSpPr/>
          <p:nvPr/>
        </p:nvSpPr>
        <p:spPr>
          <a:xfrm>
            <a:off x="0" y="381000"/>
            <a:ext cx="9144000" cy="923330"/>
          </a:xfrm>
          <a:prstGeom prst="rect">
            <a:avLst/>
          </a:prstGeom>
          <a:noFill/>
        </p:spPr>
        <p:txBody>
          <a:bodyPr wrap="square" lIns="91440" tIns="45720" rIns="91440" bIns="45720">
            <a:spAutoFit/>
          </a:bodyPr>
          <a:lstStyle/>
          <a:p>
            <a:pPr algn="ctr"/>
            <a:r>
              <a:rPr lang="en-US" sz="5400" dirty="0" smtClean="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rPr>
              <a:t>Rectangles</a:t>
            </a:r>
            <a:endParaRPr lang="en-US" sz="5400" dirty="0">
              <a:ln w="18000">
                <a:solidFill>
                  <a:schemeClr val="accent2">
                    <a:satMod val="140000"/>
                  </a:schemeClr>
                </a:solidFill>
                <a:prstDash val="solid"/>
                <a:miter lim="800000"/>
              </a:ln>
              <a:solidFill>
                <a:srgbClr val="6F93DB"/>
              </a:solidFill>
              <a:effectLst>
                <a:outerShdw blurRad="25500" dist="23000" dir="7020000" algn="tl">
                  <a:srgbClr val="000000">
                    <a:alpha val="50000"/>
                  </a:srgbClr>
                </a:outerShdw>
              </a:effectLst>
              <a:ea typeface="Tahoma" pitchFamily="34" charset="0"/>
              <a:cs typeface="Tahoma" pitchFamily="34"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4" name="Rectangle 3"/>
          <p:cNvSpPr/>
          <p:nvPr/>
        </p:nvSpPr>
        <p:spPr>
          <a:xfrm>
            <a:off x="914400" y="2895600"/>
            <a:ext cx="7162800" cy="1107996"/>
          </a:xfrm>
          <a:prstGeom prst="rect">
            <a:avLst/>
          </a:prstGeom>
          <a:solidFill>
            <a:srgbClr val="FFFFCC"/>
          </a:solidFill>
          <a:ln w="28575">
            <a:solidFill>
              <a:srgbClr val="FFC000"/>
            </a:solidFill>
          </a:ln>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6600" spc="50" dirty="0" smtClean="0">
                <a:ln w="11430">
                  <a:solidFill>
                    <a:srgbClr val="FF0000"/>
                  </a:solidFill>
                </a:ln>
                <a:solidFill>
                  <a:srgbClr val="FF3300"/>
                </a:solidFill>
                <a:effectLst>
                  <a:outerShdw blurRad="76200" dist="50800" dir="5400000" algn="tl" rotWithShape="0">
                    <a:srgbClr val="000000">
                      <a:alpha val="65000"/>
                    </a:srgbClr>
                  </a:outerShdw>
                </a:effectLst>
              </a:rPr>
              <a:t>rectangles.java</a:t>
            </a:r>
            <a:endParaRPr lang="en-US" sz="6000" b="1" cap="none" spc="50" dirty="0">
              <a:ln w="11430">
                <a:solidFill>
                  <a:srgbClr val="FF0000"/>
                </a:solidFill>
              </a:ln>
              <a:solidFill>
                <a:srgbClr val="FF3300"/>
              </a:soli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4" name="Rectangle 3"/>
          <p:cNvSpPr/>
          <p:nvPr/>
        </p:nvSpPr>
        <p:spPr>
          <a:xfrm>
            <a:off x="914400" y="2895600"/>
            <a:ext cx="7162800" cy="1107996"/>
          </a:xfrm>
          <a:prstGeom prst="rect">
            <a:avLst/>
          </a:prstGeom>
          <a:solidFill>
            <a:srgbClr val="FFFFCC"/>
          </a:solidFill>
          <a:ln w="28575">
            <a:solidFill>
              <a:srgbClr val="FFC000"/>
            </a:solidFill>
          </a:ln>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6600" spc="50" dirty="0" smtClean="0">
                <a:ln w="11430">
                  <a:solidFill>
                    <a:srgbClr val="FF0000"/>
                  </a:solidFill>
                </a:ln>
                <a:solidFill>
                  <a:srgbClr val="FF3300"/>
                </a:solidFill>
                <a:effectLst>
                  <a:outerShdw blurRad="76200" dist="50800" dir="5400000" algn="tl" rotWithShape="0">
                    <a:srgbClr val="000000">
                      <a:alpha val="65000"/>
                    </a:srgbClr>
                  </a:outerShdw>
                </a:effectLst>
              </a:rPr>
              <a:t>lines.java</a:t>
            </a:r>
            <a:endParaRPr lang="en-US" sz="6000" b="1" cap="none" spc="50" dirty="0">
              <a:ln w="11430">
                <a:solidFill>
                  <a:srgbClr val="FF0000"/>
                </a:solidFill>
              </a:ln>
              <a:solidFill>
                <a:srgbClr val="FF3300"/>
              </a:soli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graphicFrame>
        <p:nvGraphicFramePr>
          <p:cNvPr id="207928" name="Group 56"/>
          <p:cNvGraphicFramePr>
            <a:graphicFrameLocks noGrp="1"/>
          </p:cNvGraphicFramePr>
          <p:nvPr/>
        </p:nvGraphicFramePr>
        <p:xfrm>
          <a:off x="609600" y="533400"/>
          <a:ext cx="8077200" cy="4526280"/>
        </p:xfrm>
        <a:graphic>
          <a:graphicData uri="http://schemas.openxmlformats.org/drawingml/2006/table">
            <a:tbl>
              <a:tblPr/>
              <a:tblGrid>
                <a:gridCol w="5105400"/>
                <a:gridCol w="2971800"/>
              </a:tblGrid>
              <a:tr h="1219200">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3600" b="1" i="0" u="none" strike="noStrike" cap="none" normalizeH="0" baseline="0" smtClean="0">
                          <a:ln>
                            <a:noFill/>
                          </a:ln>
                          <a:solidFill>
                            <a:srgbClr val="FF0000"/>
                          </a:solidFill>
                          <a:effectLst/>
                          <a:latin typeface="Tahoma" pitchFamily="34" charset="0"/>
                        </a:rPr>
                        <a:t>Graphics</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smtClean="0">
                          <a:ln>
                            <a:noFill/>
                          </a:ln>
                          <a:solidFill>
                            <a:srgbClr val="006600"/>
                          </a:solidFill>
                          <a:effectLst/>
                          <a:latin typeface="Tahoma" pitchFamily="34" charset="0"/>
                        </a:rPr>
                        <a:t>frequently used methods</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solidFill>
                  </a:tcPr>
                </a:tc>
                <a:tc hMerge="1">
                  <a:txBody>
                    <a:bodyPr/>
                    <a:lstStyle/>
                    <a:p>
                      <a:endParaRPr lang="en-US"/>
                    </a:p>
                  </a:txBody>
                  <a:tcPr/>
                </a:tc>
              </a:tr>
              <a:tr h="5334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1" i="0" u="none" strike="noStrike" cap="none" normalizeH="0" baseline="0" smtClean="0">
                          <a:ln>
                            <a:noFill/>
                          </a:ln>
                          <a:solidFill>
                            <a:srgbClr val="330099"/>
                          </a:solidFill>
                          <a:effectLst/>
                          <a:latin typeface="Tahoma" pitchFamily="34" charset="0"/>
                        </a:rPr>
                        <a:t>Name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1" i="0" u="none" strike="noStrike" cap="none" normalizeH="0" baseline="0" smtClean="0">
                          <a:ln>
                            <a:noFill/>
                          </a:ln>
                          <a:solidFill>
                            <a:srgbClr val="330099"/>
                          </a:solidFill>
                          <a:effectLst/>
                          <a:latin typeface="Tahoma" pitchFamily="34" charset="0"/>
                        </a:rPr>
                        <a:t>Use</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r>
              <a:tr h="4699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accent2"/>
                          </a:solidFill>
                          <a:effectLst/>
                          <a:latin typeface="Tahoma" pitchFamily="34" charset="0"/>
                        </a:rPr>
                        <a:t>drawArc(x,y,w,h,startAngle,arcAngle)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accent2"/>
                          </a:solidFill>
                          <a:effectLst/>
                          <a:latin typeface="Tahoma" pitchFamily="34" charset="0"/>
                        </a:rPr>
                        <a:t>draws an arc at spot x,y that is w wide and h tall</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44926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accent2"/>
                          </a:solidFill>
                          <a:effectLst/>
                          <a:latin typeface="Tahoma" pitchFamily="34" charset="0"/>
                        </a:rPr>
                        <a:t>fillArc(x,y,w,h,startAngle,arcAngle)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accent2"/>
                          </a:solidFill>
                          <a:effectLst/>
                          <a:latin typeface="Tahoma" pitchFamily="34" charset="0"/>
                        </a:rPr>
                        <a:t>draws a filled arc at spot x,y that is w wide and h tall</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noFill/>
                  </a:tcPr>
                </a:tc>
              </a:tr>
              <a:tr h="449263">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accent2"/>
                          </a:solidFill>
                          <a:effectLst/>
                          <a:latin typeface="Tahoma" pitchFamily="34" charset="0"/>
                        </a:rPr>
                        <a:t>startAngle specifies the start of the arc</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accent2"/>
                          </a:solidFill>
                          <a:effectLst/>
                          <a:latin typeface="Tahoma" pitchFamily="34" charset="0"/>
                        </a:rPr>
                        <a:t>arcAngle specifies the length of the arc</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sm" len="sm"/>
                      <a:tailEnd type="none" w="sm" len="sm"/>
                    </a:lnB>
                    <a:lnTlToBr>
                      <a:noFill/>
                    </a:lnTlToBr>
                    <a:lnBlToTr>
                      <a:noFill/>
                    </a:lnBlToTr>
                    <a:noFill/>
                  </a:tcPr>
                </a:tc>
                <a:tc hMerge="1">
                  <a:txBody>
                    <a:bodyPr/>
                    <a:lstStyle/>
                    <a:p>
                      <a:endParaRPr lang="en-US"/>
                    </a:p>
                  </a:txBody>
                  <a:tcPr/>
                </a:tc>
              </a:tr>
            </a:tbl>
          </a:graphicData>
        </a:graphic>
      </p:graphicFrame>
      <p:sp>
        <p:nvSpPr>
          <p:cNvPr id="48149" name="Text Box 57"/>
          <p:cNvSpPr txBox="1">
            <a:spLocks noChangeArrowheads="1"/>
          </p:cNvSpPr>
          <p:nvPr/>
        </p:nvSpPr>
        <p:spPr bwMode="auto">
          <a:xfrm>
            <a:off x="2514600" y="5334000"/>
            <a:ext cx="3962400" cy="1019175"/>
          </a:xfrm>
          <a:prstGeom prst="rect">
            <a:avLst/>
          </a:prstGeom>
          <a:noFill/>
          <a:ln w="12700">
            <a:solidFill>
              <a:srgbClr val="0000FF"/>
            </a:solidFill>
            <a:miter lim="800000"/>
            <a:headEnd type="none" w="sm" len="sm"/>
            <a:tailEnd type="none" w="sm" len="sm"/>
          </a:ln>
        </p:spPr>
        <p:txBody>
          <a:bodyPr>
            <a:spAutoFit/>
          </a:bodyPr>
          <a:lstStyle/>
          <a:p>
            <a:r>
              <a:rPr lang="en-US">
                <a:solidFill>
                  <a:schemeClr val="accent2"/>
                </a:solidFill>
              </a:rPr>
              <a:t>import java.awt.Graphics;</a:t>
            </a:r>
          </a:p>
          <a:p>
            <a:r>
              <a:rPr lang="en-US">
                <a:solidFill>
                  <a:schemeClr val="accent2"/>
                </a:solidFill>
              </a:rPr>
              <a:t>import java.awt.Color;</a:t>
            </a:r>
          </a:p>
          <a:p>
            <a:r>
              <a:rPr lang="en-US">
                <a:solidFill>
                  <a:schemeClr val="accent2"/>
                </a:solidFill>
              </a:rPr>
              <a:t>import javax.swing.JFrame;</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4" name="Rectangle 3"/>
          <p:cNvSpPr/>
          <p:nvPr/>
        </p:nvSpPr>
        <p:spPr>
          <a:xfrm>
            <a:off x="914400" y="2895600"/>
            <a:ext cx="7162800" cy="1107996"/>
          </a:xfrm>
          <a:prstGeom prst="rect">
            <a:avLst/>
          </a:prstGeom>
          <a:solidFill>
            <a:srgbClr val="FFFFCC"/>
          </a:solidFill>
          <a:ln w="28575">
            <a:solidFill>
              <a:srgbClr val="FFC000"/>
            </a:solidFill>
          </a:ln>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6600" spc="50" dirty="0" smtClean="0">
                <a:ln w="11430">
                  <a:solidFill>
                    <a:srgbClr val="FF0000"/>
                  </a:solidFill>
                </a:ln>
                <a:solidFill>
                  <a:srgbClr val="FF3300"/>
                </a:solidFill>
                <a:effectLst>
                  <a:outerShdw blurRad="76200" dist="50800" dir="5400000" algn="tl" rotWithShape="0">
                    <a:srgbClr val="000000">
                      <a:alpha val="65000"/>
                    </a:srgbClr>
                  </a:outerShdw>
                </a:effectLst>
              </a:rPr>
              <a:t>arcs.java</a:t>
            </a:r>
            <a:endParaRPr lang="en-US" sz="6000" b="1" cap="none" spc="50" dirty="0">
              <a:ln w="11430">
                <a:solidFill>
                  <a:srgbClr val="FF0000"/>
                </a:solidFill>
              </a:ln>
              <a:solidFill>
                <a:srgbClr val="FF3300"/>
              </a:soli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4" name="Rectangle 3"/>
          <p:cNvSpPr/>
          <p:nvPr/>
        </p:nvSpPr>
        <p:spPr>
          <a:xfrm>
            <a:off x="914400" y="2895600"/>
            <a:ext cx="7162800" cy="1107996"/>
          </a:xfrm>
          <a:prstGeom prst="rect">
            <a:avLst/>
          </a:prstGeom>
          <a:solidFill>
            <a:srgbClr val="FFFFCC"/>
          </a:solidFill>
          <a:ln w="28575">
            <a:solidFill>
              <a:srgbClr val="FFC000"/>
            </a:solidFill>
          </a:ln>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6600" spc="50" dirty="0" smtClean="0">
                <a:ln w="11430">
                  <a:solidFill>
                    <a:srgbClr val="FF0000"/>
                  </a:solidFill>
                </a:ln>
                <a:solidFill>
                  <a:srgbClr val="FF3300"/>
                </a:solidFill>
                <a:effectLst>
                  <a:outerShdw blurRad="76200" dist="50800" dir="5400000" algn="tl" rotWithShape="0">
                    <a:srgbClr val="000000">
                      <a:alpha val="65000"/>
                    </a:srgbClr>
                  </a:outerShdw>
                </a:effectLst>
              </a:rPr>
              <a:t>fonts.java</a:t>
            </a:r>
            <a:endParaRPr lang="en-US" sz="6000" b="1" cap="none" spc="50" dirty="0">
              <a:ln w="11430">
                <a:solidFill>
                  <a:srgbClr val="FF0000"/>
                </a:solidFill>
              </a:ln>
              <a:solidFill>
                <a:srgbClr val="FF3300"/>
              </a:soli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4" name="Rectangle 3"/>
          <p:cNvSpPr/>
          <p:nvPr/>
        </p:nvSpPr>
        <p:spPr>
          <a:xfrm>
            <a:off x="914400" y="2895600"/>
            <a:ext cx="7162800" cy="1107996"/>
          </a:xfrm>
          <a:prstGeom prst="rect">
            <a:avLst/>
          </a:prstGeom>
          <a:solidFill>
            <a:srgbClr val="FFFFCC"/>
          </a:solidFill>
          <a:ln w="28575">
            <a:solidFill>
              <a:srgbClr val="FFC000"/>
            </a:solidFill>
          </a:ln>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6600" spc="50" dirty="0" smtClean="0">
                <a:ln w="11430">
                  <a:solidFill>
                    <a:srgbClr val="FF0000"/>
                  </a:solidFill>
                </a:ln>
                <a:solidFill>
                  <a:srgbClr val="FF3300"/>
                </a:solidFill>
                <a:effectLst>
                  <a:outerShdw blurRad="76200" dist="50800" dir="5400000" algn="tl" rotWithShape="0">
                    <a:srgbClr val="000000">
                      <a:alpha val="65000"/>
                    </a:srgbClr>
                  </a:outerShdw>
                </a:effectLst>
              </a:rPr>
              <a:t>colors.java</a:t>
            </a:r>
            <a:endParaRPr lang="en-US" sz="6000" b="1" cap="none" spc="50" dirty="0">
              <a:ln w="11430">
                <a:solidFill>
                  <a:srgbClr val="FF0000"/>
                </a:solidFill>
              </a:ln>
              <a:solidFill>
                <a:srgbClr val="FF3300"/>
              </a:solidFill>
              <a:effectLst>
                <a:outerShdw blurRad="76200" dist="50800" dir="5400000" algn="tl" rotWithShape="0">
                  <a:srgbClr val="000000">
                    <a:alpha val="65000"/>
                  </a:srgbClr>
                </a:outerShdw>
              </a:effectLst>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3"/>
          <p:cNvSpPr>
            <a:spLocks noGrp="1"/>
          </p:cNvSpPr>
          <p:nvPr>
            <p:ph type="ftr" sz="quarter" idx="12"/>
          </p:nvPr>
        </p:nvSpPr>
        <p:spPr>
          <a:noFill/>
        </p:spPr>
        <p:txBody>
          <a:bodyPr/>
          <a:lstStyle/>
          <a:p>
            <a:endParaRPr lang="en-US" smtClean="0">
              <a:latin typeface="Times New Roman" pitchFamily="18" charset="0"/>
            </a:endParaRPr>
          </a:p>
          <a:p>
            <a:endParaRPr lang="en-US" b="0" smtClean="0"/>
          </a:p>
          <a:p>
            <a:endParaRPr lang="en-US" smtClean="0"/>
          </a:p>
          <a:p>
            <a:r>
              <a:rPr lang="en-US" smtClean="0"/>
              <a:t>© A+ Computer Science  -  www.apluscompsci.com</a:t>
            </a:r>
          </a:p>
        </p:txBody>
      </p:sp>
      <p:sp>
        <p:nvSpPr>
          <p:cNvPr id="4" name="Rectangle 3"/>
          <p:cNvSpPr/>
          <p:nvPr/>
        </p:nvSpPr>
        <p:spPr>
          <a:xfrm>
            <a:off x="609600" y="685800"/>
            <a:ext cx="7848600" cy="5632311"/>
          </a:xfrm>
          <a:prstGeom prst="rect">
            <a:avLst/>
          </a:prstGeom>
          <a:solidFill>
            <a:srgbClr val="FFFF61"/>
          </a:solidFill>
          <a:ln>
            <a:noFill/>
          </a:ln>
          <a:effectLst>
            <a:glow rad="63500">
              <a:schemeClr val="accent5">
                <a:satMod val="175000"/>
                <a:alpha val="40000"/>
              </a:schemeClr>
            </a:glow>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lIns="91440" tIns="45720" rIns="91440" bIns="45720">
            <a:spAutoFit/>
          </a:bodyPr>
          <a:lstStyle/>
          <a:p>
            <a:pPr algn="ctr"/>
            <a:r>
              <a:rPr lang="en-US" sz="7200" spc="300" dirty="0" smtClean="0">
                <a:ln w="11430" cmpd="sng">
                  <a:solidFill>
                    <a:srgbClr val="4CB93D"/>
                  </a:solidFill>
                  <a:prstDash val="solid"/>
                  <a:miter lim="800000"/>
                </a:ln>
                <a:solidFill>
                  <a:srgbClr val="38A725"/>
                </a:solidFill>
                <a:effectLst>
                  <a:glow rad="45500">
                    <a:schemeClr val="accent1">
                      <a:satMod val="220000"/>
                      <a:alpha val="35000"/>
                    </a:schemeClr>
                  </a:glow>
                </a:effectLst>
                <a:latin typeface="Eraser" pitchFamily="2" charset="0"/>
              </a:rPr>
              <a:t>Work on Programs!</a:t>
            </a:r>
            <a:br>
              <a:rPr lang="en-US" sz="7200" spc="300" dirty="0" smtClean="0">
                <a:ln w="11430" cmpd="sng">
                  <a:solidFill>
                    <a:srgbClr val="4CB93D"/>
                  </a:solidFill>
                  <a:prstDash val="solid"/>
                  <a:miter lim="800000"/>
                </a:ln>
                <a:solidFill>
                  <a:srgbClr val="38A725"/>
                </a:solidFill>
                <a:effectLst>
                  <a:glow rad="45500">
                    <a:schemeClr val="accent1">
                      <a:satMod val="220000"/>
                      <a:alpha val="35000"/>
                    </a:schemeClr>
                  </a:glow>
                </a:effectLst>
                <a:latin typeface="Eraser" pitchFamily="2" charset="0"/>
              </a:rPr>
            </a:br>
            <a:endParaRPr lang="en-US" sz="7200" spc="300" dirty="0" smtClean="0">
              <a:ln w="11430" cmpd="sng">
                <a:solidFill>
                  <a:srgbClr val="4CB93D"/>
                </a:solidFill>
                <a:prstDash val="solid"/>
                <a:miter lim="800000"/>
              </a:ln>
              <a:solidFill>
                <a:srgbClr val="38A725"/>
              </a:solidFill>
              <a:effectLst>
                <a:glow rad="45500">
                  <a:schemeClr val="accent1">
                    <a:satMod val="220000"/>
                    <a:alpha val="35000"/>
                  </a:schemeClr>
                </a:glow>
              </a:effectLst>
              <a:latin typeface="Eraser" pitchFamily="2" charset="0"/>
            </a:endParaRPr>
          </a:p>
          <a:p>
            <a:pPr algn="ctr"/>
            <a:r>
              <a:rPr lang="en-US" sz="7200" spc="300" dirty="0" smtClean="0">
                <a:ln w="11430" cmpd="sng">
                  <a:solidFill>
                    <a:srgbClr val="4CB93D"/>
                  </a:solidFill>
                  <a:prstDash val="solid"/>
                  <a:miter lim="800000"/>
                </a:ln>
                <a:solidFill>
                  <a:srgbClr val="38A725"/>
                </a:solidFill>
                <a:effectLst>
                  <a:glow rad="45500">
                    <a:schemeClr val="accent1">
                      <a:satMod val="220000"/>
                      <a:alpha val="35000"/>
                    </a:schemeClr>
                  </a:glow>
                </a:effectLst>
                <a:latin typeface="Eraser" pitchFamily="2" charset="0"/>
              </a:rPr>
              <a:t>Crank </a:t>
            </a:r>
          </a:p>
          <a:p>
            <a:pPr algn="ctr"/>
            <a:r>
              <a:rPr lang="en-US" sz="7200" spc="300" dirty="0" smtClean="0">
                <a:ln w="11430" cmpd="sng">
                  <a:solidFill>
                    <a:srgbClr val="4CB93D"/>
                  </a:solidFill>
                  <a:prstDash val="solid"/>
                  <a:miter lim="800000"/>
                </a:ln>
                <a:solidFill>
                  <a:srgbClr val="38A725"/>
                </a:solidFill>
                <a:effectLst>
                  <a:glow rad="45500">
                    <a:schemeClr val="accent1">
                      <a:satMod val="220000"/>
                      <a:alpha val="35000"/>
                    </a:schemeClr>
                  </a:glow>
                </a:effectLst>
                <a:latin typeface="Eraser" pitchFamily="2" charset="0"/>
              </a:rPr>
              <a:t>Some Code!</a:t>
            </a:r>
            <a:endParaRPr lang="en-US" sz="7200" b="1" cap="none" spc="300" dirty="0">
              <a:ln w="11430" cmpd="sng">
                <a:solidFill>
                  <a:srgbClr val="4CB93D"/>
                </a:solidFill>
                <a:prstDash val="solid"/>
                <a:miter lim="800000"/>
              </a:ln>
              <a:solidFill>
                <a:srgbClr val="38A725"/>
              </a:solidFill>
              <a:effectLst>
                <a:glow rad="45500">
                  <a:schemeClr val="accent1">
                    <a:satMod val="220000"/>
                    <a:alpha val="35000"/>
                  </a:schemeClr>
                </a:glow>
              </a:effectLst>
              <a:latin typeface="Eraser" pitchFamily="2"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533400" y="1219200"/>
            <a:ext cx="8153400" cy="4401205"/>
          </a:xfrm>
          <a:prstGeom prst="rect">
            <a:avLst/>
          </a:prstGeom>
          <a:effectLst>
            <a:glow rad="228600">
              <a:schemeClr val="accent4">
                <a:satMod val="175000"/>
                <a:alpha val="40000"/>
              </a:schemeClr>
            </a:glow>
          </a:effectLst>
        </p:spPr>
        <p:style>
          <a:lnRef idx="2">
            <a:schemeClr val="accent2">
              <a:shade val="50000"/>
            </a:schemeClr>
          </a:lnRef>
          <a:fillRef idx="1">
            <a:schemeClr val="accent2"/>
          </a:fillRef>
          <a:effectRef idx="0">
            <a:schemeClr val="accent2"/>
          </a:effectRef>
          <a:fontRef idx="minor">
            <a:schemeClr val="lt1"/>
          </a:fontRef>
        </p:style>
        <p:txBody>
          <a:bodyPr wrap="square" lIns="91440" tIns="45720" rIns="91440" bIns="45720">
            <a:spAutoFit/>
          </a:bodyPr>
          <a:lstStyle>
            <a:defPPr>
              <a:defRPr lang="en-US"/>
            </a:defPPr>
            <a:lvl1pPr algn="l" rtl="0" eaLnBrk="0" fontAlgn="base" hangingPunct="0">
              <a:spcBef>
                <a:spcPct val="0"/>
              </a:spcBef>
              <a:spcAft>
                <a:spcPct val="0"/>
              </a:spcAft>
              <a:defRPr sz="2600" b="1" kern="1200">
                <a:solidFill>
                  <a:schemeClr val="tx1"/>
                </a:solidFill>
                <a:latin typeface="Tahoma" pitchFamily="34" charset="0"/>
                <a:ea typeface="+mn-ea"/>
                <a:cs typeface="+mn-cs"/>
              </a:defRPr>
            </a:lvl1pPr>
            <a:lvl2pPr marL="457200" algn="l" rtl="0" eaLnBrk="0" fontAlgn="base" hangingPunct="0">
              <a:spcBef>
                <a:spcPct val="0"/>
              </a:spcBef>
              <a:spcAft>
                <a:spcPct val="0"/>
              </a:spcAft>
              <a:defRPr sz="2600" b="1" kern="1200">
                <a:solidFill>
                  <a:schemeClr val="tx1"/>
                </a:solidFill>
                <a:latin typeface="Tahoma" pitchFamily="34" charset="0"/>
                <a:ea typeface="+mn-ea"/>
                <a:cs typeface="+mn-cs"/>
              </a:defRPr>
            </a:lvl2pPr>
            <a:lvl3pPr marL="914400" algn="l" rtl="0" eaLnBrk="0" fontAlgn="base" hangingPunct="0">
              <a:spcBef>
                <a:spcPct val="0"/>
              </a:spcBef>
              <a:spcAft>
                <a:spcPct val="0"/>
              </a:spcAft>
              <a:defRPr sz="2600" b="1" kern="1200">
                <a:solidFill>
                  <a:schemeClr val="tx1"/>
                </a:solidFill>
                <a:latin typeface="Tahoma" pitchFamily="34" charset="0"/>
                <a:ea typeface="+mn-ea"/>
                <a:cs typeface="+mn-cs"/>
              </a:defRPr>
            </a:lvl3pPr>
            <a:lvl4pPr marL="1371600" algn="l" rtl="0" eaLnBrk="0" fontAlgn="base" hangingPunct="0">
              <a:spcBef>
                <a:spcPct val="0"/>
              </a:spcBef>
              <a:spcAft>
                <a:spcPct val="0"/>
              </a:spcAft>
              <a:defRPr sz="2600" b="1" kern="1200">
                <a:solidFill>
                  <a:schemeClr val="tx1"/>
                </a:solidFill>
                <a:latin typeface="Tahoma" pitchFamily="34" charset="0"/>
                <a:ea typeface="+mn-ea"/>
                <a:cs typeface="+mn-cs"/>
              </a:defRPr>
            </a:lvl4pPr>
            <a:lvl5pPr marL="1828800" algn="l" rtl="0" eaLnBrk="0" fontAlgn="base" hangingPunct="0">
              <a:spcBef>
                <a:spcPct val="0"/>
              </a:spcBef>
              <a:spcAft>
                <a:spcPct val="0"/>
              </a:spcAft>
              <a:defRPr sz="2600" b="1" kern="1200">
                <a:solidFill>
                  <a:schemeClr val="tx1"/>
                </a:solidFill>
                <a:latin typeface="Tahoma" pitchFamily="34" charset="0"/>
                <a:ea typeface="+mn-ea"/>
                <a:cs typeface="+mn-cs"/>
              </a:defRPr>
            </a:lvl5pPr>
            <a:lvl6pPr marL="2286000" algn="l" defTabSz="914400" rtl="0" eaLnBrk="1" latinLnBrk="0" hangingPunct="1">
              <a:defRPr sz="2600" b="1" kern="1200">
                <a:solidFill>
                  <a:schemeClr val="tx1"/>
                </a:solidFill>
                <a:latin typeface="Tahoma" pitchFamily="34" charset="0"/>
                <a:ea typeface="+mn-ea"/>
                <a:cs typeface="+mn-cs"/>
              </a:defRPr>
            </a:lvl6pPr>
            <a:lvl7pPr marL="2743200" algn="l" defTabSz="914400" rtl="0" eaLnBrk="1" latinLnBrk="0" hangingPunct="1">
              <a:defRPr sz="2600" b="1" kern="1200">
                <a:solidFill>
                  <a:schemeClr val="tx1"/>
                </a:solidFill>
                <a:latin typeface="Tahoma" pitchFamily="34" charset="0"/>
                <a:ea typeface="+mn-ea"/>
                <a:cs typeface="+mn-cs"/>
              </a:defRPr>
            </a:lvl7pPr>
            <a:lvl8pPr marL="3200400" algn="l" defTabSz="914400" rtl="0" eaLnBrk="1" latinLnBrk="0" hangingPunct="1">
              <a:defRPr sz="2600" b="1" kern="1200">
                <a:solidFill>
                  <a:schemeClr val="tx1"/>
                </a:solidFill>
                <a:latin typeface="Tahoma" pitchFamily="34" charset="0"/>
                <a:ea typeface="+mn-ea"/>
                <a:cs typeface="+mn-cs"/>
              </a:defRPr>
            </a:lvl8pPr>
            <a:lvl9pPr marL="3657600" algn="l" defTabSz="914400" rtl="0" eaLnBrk="1" latinLnBrk="0" hangingPunct="1">
              <a:defRPr sz="2600" b="1" kern="1200">
                <a:solidFill>
                  <a:schemeClr val="tx1"/>
                </a:solidFill>
                <a:latin typeface="Tahoma" pitchFamily="34" charset="0"/>
                <a:ea typeface="+mn-ea"/>
                <a:cs typeface="+mn-cs"/>
              </a:defRPr>
            </a:lvl9pPr>
          </a:lstStyle>
          <a:p>
            <a:pPr algn="ctr"/>
            <a:r>
              <a:rPr lang="en-US" sz="8000" dirty="0" smtClean="0">
                <a:ln w="12700">
                  <a:solidFill>
                    <a:schemeClr val="tx2">
                      <a:satMod val="155000"/>
                    </a:schemeClr>
                  </a:solidFill>
                  <a:prstDash val="solid"/>
                </a:ln>
                <a:solidFill>
                  <a:schemeClr val="accent5">
                    <a:lumMod val="20000"/>
                    <a:lumOff val="80000"/>
                  </a:schemeClr>
                </a:solidFill>
                <a:effectLst>
                  <a:outerShdw blurRad="41275" dist="20320" dir="1800000" algn="tl" rotWithShape="0">
                    <a:srgbClr val="000000">
                      <a:alpha val="40000"/>
                    </a:srgbClr>
                  </a:outerShdw>
                </a:effectLst>
              </a:rPr>
              <a:t/>
            </a:r>
            <a:br>
              <a:rPr lang="en-US" sz="8000" dirty="0" smtClean="0">
                <a:ln w="12700">
                  <a:solidFill>
                    <a:schemeClr val="tx2">
                      <a:satMod val="155000"/>
                    </a:schemeClr>
                  </a:solidFill>
                  <a:prstDash val="solid"/>
                </a:ln>
                <a:solidFill>
                  <a:schemeClr val="accent5">
                    <a:lumMod val="20000"/>
                    <a:lumOff val="80000"/>
                  </a:schemeClr>
                </a:solidFill>
                <a:effectLst>
                  <a:outerShdw blurRad="41275" dist="20320" dir="1800000" algn="tl" rotWithShape="0">
                    <a:srgbClr val="000000">
                      <a:alpha val="40000"/>
                    </a:srgbClr>
                  </a:outerShdw>
                </a:effectLst>
              </a:rPr>
            </a:br>
            <a:r>
              <a:rPr lang="en-US" sz="4000" dirty="0" smtClean="0">
                <a:ln w="12700">
                  <a:solidFill>
                    <a:schemeClr val="tx2">
                      <a:satMod val="155000"/>
                    </a:schemeClr>
                  </a:solidFill>
                  <a:prstDash val="solid"/>
                </a:ln>
                <a:solidFill>
                  <a:schemeClr val="accent5">
                    <a:lumMod val="20000"/>
                    <a:lumOff val="80000"/>
                  </a:schemeClr>
                </a:solidFill>
                <a:effectLst>
                  <a:outerShdw blurRad="41275" dist="20320" dir="1800000" algn="tl" rotWithShape="0">
                    <a:srgbClr val="000000">
                      <a:alpha val="40000"/>
                    </a:srgbClr>
                  </a:outerShdw>
                </a:effectLst>
                <a:latin typeface="Eraser" pitchFamily="2" charset="0"/>
              </a:rPr>
              <a:t>A+ Computer Science</a:t>
            </a:r>
          </a:p>
          <a:p>
            <a:pPr algn="ctr"/>
            <a:r>
              <a:rPr lang="en-US" sz="8000" dirty="0" smtClean="0">
                <a:ln w="12700">
                  <a:solidFill>
                    <a:schemeClr val="tx2">
                      <a:satMod val="155000"/>
                    </a:schemeClr>
                  </a:solidFill>
                  <a:prstDash val="solid"/>
                </a:ln>
                <a:solidFill>
                  <a:schemeClr val="accent5">
                    <a:lumMod val="20000"/>
                    <a:lumOff val="80000"/>
                  </a:schemeClr>
                </a:solidFill>
                <a:effectLst>
                  <a:outerShdw blurRad="41275" dist="20320" dir="1800000" algn="tl" rotWithShape="0">
                    <a:srgbClr val="000000">
                      <a:alpha val="40000"/>
                    </a:srgbClr>
                  </a:outerShdw>
                </a:effectLst>
                <a:latin typeface="Eraser" pitchFamily="2" charset="0"/>
              </a:rPr>
              <a:t>METHODS</a:t>
            </a:r>
          </a:p>
          <a:p>
            <a:pPr algn="ctr"/>
            <a:endParaRPr lang="en-US" sz="8000" dirty="0" smtClean="0">
              <a:ln w="12700">
                <a:solidFill>
                  <a:schemeClr val="tx2">
                    <a:satMod val="155000"/>
                  </a:schemeClr>
                </a:solidFill>
                <a:prstDash val="solid"/>
              </a:ln>
              <a:solidFill>
                <a:schemeClr val="accent5">
                  <a:lumMod val="20000"/>
                  <a:lumOff val="80000"/>
                </a:schemeClr>
              </a:solidFill>
              <a:effectLst>
                <a:outerShdw blurRad="41275" dist="20320" dir="1800000" algn="tl" rotWithShape="0">
                  <a:srgbClr val="000000">
                    <a:alpha val="40000"/>
                  </a:srgbClr>
                </a:outerShdw>
              </a:effectLst>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Tahoma" pitchFamily="34"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1249</TotalTime>
  <Words>1648</Words>
  <Application>Microsoft Office PowerPoint</Application>
  <PresentationFormat>On-screen Show (4:3)</PresentationFormat>
  <Paragraphs>427</Paragraphs>
  <Slides>37</Slides>
  <Notes>37</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Blank Presentation</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Manager>www.apluscompsci.com</Manager>
  <Company>A+ Computer Science</Company>
  <LinksUpToDate>false</LinksUpToDate>
  <SharedDoc>false</SharedDoc>
  <HyperlinkBase>www.apluscompsci.com</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oop params</dc:title>
  <dc:subject>OOP Parameters</dc:subject>
  <dc:creator>A+ Computer Science</dc:creator>
  <cp:keywords>www.apluscompsci.com</cp:keywords>
  <dc:description>OOP Parameters_x000d_
©A+ Computer Science_x000d_
www.apluscompsci.com</dc:description>
  <cp:lastModifiedBy>jrr</cp:lastModifiedBy>
  <cp:revision>369</cp:revision>
  <dcterms:created xsi:type="dcterms:W3CDTF">1997-10-20T19:37:18Z</dcterms:created>
  <dcterms:modified xsi:type="dcterms:W3CDTF">2016-08-26T02:50:04Z</dcterms:modified>
  <cp:category>www.apluscompsci.com</cp:category>
</cp:coreProperties>
</file>