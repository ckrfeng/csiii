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21"/>
  </p:notesMasterIdLst>
  <p:handoutMasterIdLst>
    <p:handoutMasterId r:id="rId22"/>
  </p:handoutMasterIdLst>
  <p:sldIdLst>
    <p:sldId id="412" r:id="rId3"/>
    <p:sldId id="397" r:id="rId4"/>
    <p:sldId id="399" r:id="rId5"/>
    <p:sldId id="401" r:id="rId6"/>
    <p:sldId id="366" r:id="rId7"/>
    <p:sldId id="402" r:id="rId8"/>
    <p:sldId id="405" r:id="rId9"/>
    <p:sldId id="385" r:id="rId10"/>
    <p:sldId id="386" r:id="rId11"/>
    <p:sldId id="406" r:id="rId12"/>
    <p:sldId id="394" r:id="rId13"/>
    <p:sldId id="396" r:id="rId14"/>
    <p:sldId id="358" r:id="rId15"/>
    <p:sldId id="375" r:id="rId16"/>
    <p:sldId id="359" r:id="rId17"/>
    <p:sldId id="388" r:id="rId18"/>
    <p:sldId id="410" r:id="rId19"/>
    <p:sldId id="418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99CCFF"/>
    <a:srgbClr val="CCFFFF"/>
    <a:srgbClr val="0000FF"/>
    <a:srgbClr val="FFFFCC"/>
    <a:srgbClr val="003366"/>
    <a:srgbClr val="FFFF0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40" autoAdjust="0"/>
    <p:restoredTop sz="94643" autoAdjust="0"/>
  </p:normalViewPr>
  <p:slideViewPr>
    <p:cSldViewPr>
      <p:cViewPr varScale="1">
        <p:scale>
          <a:sx n="69" d="100"/>
          <a:sy n="69" d="100"/>
        </p:scale>
        <p:origin x="-140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648"/>
    </p:cViewPr>
  </p:sorterViewPr>
  <p:notesViewPr>
    <p:cSldViewPr>
      <p:cViewPr varScale="1">
        <p:scale>
          <a:sx n="57" d="100"/>
          <a:sy n="57" d="100"/>
        </p:scale>
        <p:origin x="-178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D50780B-BC4D-45A5-BCC7-2156A83FF3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180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8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38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96B7EEC-004A-48D3-82DF-4706CF49C1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104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©A+ Computer Science     www.apluscompsci.com                 </a:t>
            </a:r>
            <a:fld id="{DC5D744A-5FC4-41A5-895E-95E35C9166FC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86569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9E8829-D85F-4471-BE69-B7B0C8593284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98917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3639A1-0CFA-4449-961D-575C84D3C675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/>
          <a:lstStyle/>
          <a:p>
            <a:endParaRPr lang="en-US" sz="1600" smtClean="0"/>
          </a:p>
        </p:txBody>
      </p:sp>
    </p:spTree>
    <p:extLst>
      <p:ext uri="{BB962C8B-B14F-4D97-AF65-F5344CB8AC3E}">
        <p14:creationId xmlns:p14="http://schemas.microsoft.com/office/powerpoint/2010/main" val="3535915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0E9327-09A0-4E11-8910-82F2E3B6CDE5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/>
          <a:lstStyle/>
          <a:p>
            <a:endParaRPr lang="en-US" sz="1600" smtClean="0"/>
          </a:p>
        </p:txBody>
      </p:sp>
    </p:spTree>
    <p:extLst>
      <p:ext uri="{BB962C8B-B14F-4D97-AF65-F5344CB8AC3E}">
        <p14:creationId xmlns:p14="http://schemas.microsoft.com/office/powerpoint/2010/main" val="4072099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F3A900-3065-4CF8-9FD7-9978E8D94AF4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28860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B0EC4B-2387-4A80-B6FE-E4285C0BC31F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02456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DC2302-F98E-45A0-84CC-CCCBE398DF49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/>
          <a:lstStyle/>
          <a:p>
            <a:endParaRPr lang="en-US" sz="1600" smtClean="0"/>
          </a:p>
        </p:txBody>
      </p:sp>
    </p:spTree>
    <p:extLst>
      <p:ext uri="{BB962C8B-B14F-4D97-AF65-F5344CB8AC3E}">
        <p14:creationId xmlns:p14="http://schemas.microsoft.com/office/powerpoint/2010/main" val="3920374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ED130A-4B4A-4849-9FEE-1D4A85A89DCC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37778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0E4F69-F97A-4F40-9FC1-1637FD712280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/>
          <a:lstStyle/>
          <a:p>
            <a:endParaRPr lang="en-US" sz="1600" smtClean="0"/>
          </a:p>
        </p:txBody>
      </p:sp>
    </p:spTree>
    <p:extLst>
      <p:ext uri="{BB962C8B-B14F-4D97-AF65-F5344CB8AC3E}">
        <p14:creationId xmlns:p14="http://schemas.microsoft.com/office/powerpoint/2010/main" val="2932372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©A+ Computer Science     www.apluscompsci.com                 </a:t>
            </a:r>
            <a:fld id="{DC5D744A-5FC4-41A5-895E-95E35C9166FC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25594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CD8FE8-3895-4E9F-B6A8-D4025C66FA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B1954-EFF6-459A-AAAF-93679DC677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C1744-9AFA-46CE-B8C7-25FF1FC769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466C1-462E-4C3D-A8D0-270413E919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DD4BE-95B7-4E2C-8001-7C7E7D40C8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3F8B7-A1C1-4155-83F0-B4DACB021A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CD71E-AFFF-42A0-8062-43B056E99F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6400800"/>
            <a:ext cx="1905000" cy="258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CCB549-7DBA-42F9-BFCB-FE6EEFEDB9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42642-C553-42C4-B941-D29E8ADEC2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CF104-96AE-460B-8EC5-AAC2904E5A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058D0-AD9B-4592-9459-A644CB12DA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Created by Mr. Armstrong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5866CF-672E-40AB-B463-152DD63354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Created by Mr. Armstrong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E9EF04-C453-4535-8F6D-A3F96DA2CB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Created by Mr. Armstrong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497D7-C831-47E1-9E55-E87E92BC7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Created by Mr. Armstrong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A3D86-C30B-460F-B4F5-D5E5F73C7B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Created by Mr. Armstrong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EBE4A-E4CA-4C13-A660-34F5794739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Created by Mr. Armstrong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29E30F-8554-46DD-9E6E-706C6F8C36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Created by Mr. Armstrong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B4E2D7-0CDB-4271-B2E4-9B518746B5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Created by Mr. Armstrong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C9916-912E-463D-8B0E-CE58BA116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Created by Mr. Armstrong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DA0BD3-A6D5-4E40-8BA0-01C8190912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Created by Mr. Armstrong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2A786-2171-4BC6-B96B-B4223E2836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Created by Mr. Armstrong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2BAB79-7B7B-4483-B975-99FCD191AE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020E85AC-90BB-4138-85F8-E2AA15489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23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3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Created by Mr. Armstrong</a:t>
            </a:r>
          </a:p>
        </p:txBody>
      </p:sp>
      <p:sp>
        <p:nvSpPr>
          <p:cNvPr id="1423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A81E7D6D-8769-413D-BDBC-F4783188B5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b="0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© A+ Computer Science  -  www.apluscompsci.com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219200"/>
            <a:ext cx="8153400" cy="4401205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800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/>
            </a:r>
            <a:br>
              <a:rPr lang="en-US" sz="800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r>
              <a:rPr lang="en-US" sz="400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Eraser" pitchFamily="2" charset="0"/>
              </a:rPr>
              <a:t>A+ Computer Science</a:t>
            </a:r>
          </a:p>
          <a:p>
            <a:pPr algn="ctr"/>
            <a:r>
              <a:rPr lang="en-US" sz="800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Eraser" pitchFamily="2" charset="0"/>
              </a:rPr>
              <a:t>Hash tables</a:t>
            </a:r>
          </a:p>
          <a:p>
            <a:pPr algn="ctr"/>
            <a:endParaRPr lang="en-US" sz="8000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15363" name="Text Box 2"/>
          <p:cNvSpPr txBox="1">
            <a:spLocks noChangeArrowheads="1"/>
          </p:cNvSpPr>
          <p:nvPr/>
        </p:nvSpPr>
        <p:spPr bwMode="auto">
          <a:xfrm>
            <a:off x="990600" y="2209800"/>
            <a:ext cx="7358063" cy="308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A hashcode is used to create a key</a:t>
            </a:r>
          </a:p>
          <a:p>
            <a:r>
              <a:rPr lang="en-US" b="1"/>
              <a:t>for an item.</a:t>
            </a:r>
          </a:p>
          <a:p>
            <a:endParaRPr lang="en-US" b="1"/>
          </a:p>
          <a:p>
            <a:r>
              <a:rPr lang="en-US" b="1"/>
              <a:t>The hashcode may be the same as the</a:t>
            </a:r>
          </a:p>
          <a:p>
            <a:r>
              <a:rPr lang="en-US" b="1"/>
              <a:t>value of the item or may involve the use</a:t>
            </a:r>
          </a:p>
          <a:p>
            <a:r>
              <a:rPr lang="en-US" b="1"/>
              <a:t>of some elaborate formula in hopes of</a:t>
            </a:r>
          </a:p>
          <a:p>
            <a:r>
              <a:rPr lang="en-US" b="1"/>
              <a:t>creating a unique key.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What is a hash code?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685800" y="2133600"/>
            <a:ext cx="6186488" cy="39354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b="1"/>
              <a:t>Character c = new Character('a');</a:t>
            </a:r>
          </a:p>
          <a:p>
            <a:r>
              <a:rPr lang="en-US" b="1"/>
              <a:t>out.println(c.hashCode());</a:t>
            </a:r>
          </a:p>
          <a:p>
            <a:endParaRPr lang="en-US" b="1"/>
          </a:p>
          <a:p>
            <a:r>
              <a:rPr lang="en-US" b="1"/>
              <a:t>c = new Character('0');</a:t>
            </a:r>
          </a:p>
          <a:p>
            <a:r>
              <a:rPr lang="en-US" b="1"/>
              <a:t>out.println(c.hashCode());</a:t>
            </a:r>
          </a:p>
          <a:p>
            <a:endParaRPr lang="en-US" b="1"/>
          </a:p>
          <a:p>
            <a:r>
              <a:rPr lang="en-US" b="1"/>
              <a:t>c = new Character('A');</a:t>
            </a:r>
          </a:p>
          <a:p>
            <a:r>
              <a:rPr lang="en-US" b="1"/>
              <a:t>out.println(c.hashCode());    </a:t>
            </a:r>
          </a:p>
          <a:p>
            <a:endParaRPr lang="en-US" b="1"/>
          </a:p>
        </p:txBody>
      </p:sp>
      <p:sp>
        <p:nvSpPr>
          <p:cNvPr id="16388" name="Text Box 3"/>
          <p:cNvSpPr txBox="1">
            <a:spLocks noChangeArrowheads="1"/>
          </p:cNvSpPr>
          <p:nvPr/>
        </p:nvSpPr>
        <p:spPr bwMode="auto">
          <a:xfrm>
            <a:off x="6629400" y="35052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u="sng">
                <a:solidFill>
                  <a:srgbClr val="FF0000"/>
                </a:solidFill>
              </a:rPr>
              <a:t>OUTPUT</a:t>
            </a:r>
          </a:p>
          <a:p>
            <a:pPr eaLnBrk="1" hangingPunct="1"/>
            <a:r>
              <a:rPr lang="en-US" sz="3200" b="1"/>
              <a:t>97</a:t>
            </a:r>
          </a:p>
          <a:p>
            <a:pPr eaLnBrk="1" hangingPunct="1"/>
            <a:r>
              <a:rPr lang="en-US" sz="3200" b="1"/>
              <a:t>48</a:t>
            </a:r>
          </a:p>
          <a:p>
            <a:pPr eaLnBrk="1" hangingPunct="1"/>
            <a:r>
              <a:rPr lang="en-US" sz="3200" b="1"/>
              <a:t>65</a:t>
            </a:r>
            <a:endParaRPr lang="en-US" b="1"/>
          </a:p>
        </p:txBody>
      </p:sp>
      <p:sp>
        <p:nvSpPr>
          <p:cNvPr id="6" name="Rectangle 5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What is a hash code?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685800" y="2133600"/>
            <a:ext cx="6584950" cy="39354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b="1"/>
              <a:t>Integer num = 45;		</a:t>
            </a:r>
          </a:p>
          <a:p>
            <a:r>
              <a:rPr lang="en-US" b="1"/>
              <a:t>out.println(num.hashCode());</a:t>
            </a:r>
          </a:p>
          <a:p>
            <a:endParaRPr lang="en-US" b="1"/>
          </a:p>
          <a:p>
            <a:r>
              <a:rPr lang="en-US" b="1"/>
              <a:t>num = new Integer(101);		</a:t>
            </a:r>
          </a:p>
          <a:p>
            <a:r>
              <a:rPr lang="en-US" b="1"/>
              <a:t>out.println(num.hashCode());  </a:t>
            </a:r>
          </a:p>
          <a:p>
            <a:endParaRPr lang="en-US" b="1"/>
          </a:p>
          <a:p>
            <a:r>
              <a:rPr lang="en-US" b="1"/>
              <a:t>String s = "a";		</a:t>
            </a:r>
          </a:p>
          <a:p>
            <a:r>
              <a:rPr lang="en-US" b="1"/>
              <a:t>out.println(s.hashCode());</a:t>
            </a:r>
            <a:r>
              <a:rPr lang="en-US"/>
              <a:t> </a:t>
            </a:r>
            <a:endParaRPr lang="en-US" b="1"/>
          </a:p>
          <a:p>
            <a:endParaRPr lang="en-US" b="1"/>
          </a:p>
        </p:txBody>
      </p:sp>
      <p:sp>
        <p:nvSpPr>
          <p:cNvPr id="17412" name="Text Box 5"/>
          <p:cNvSpPr txBox="1">
            <a:spLocks noChangeArrowheads="1"/>
          </p:cNvSpPr>
          <p:nvPr/>
        </p:nvSpPr>
        <p:spPr bwMode="auto">
          <a:xfrm>
            <a:off x="6629400" y="35052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u="sng">
                <a:solidFill>
                  <a:srgbClr val="FF0000"/>
                </a:solidFill>
              </a:rPr>
              <a:t>OUTPUT</a:t>
            </a:r>
          </a:p>
          <a:p>
            <a:pPr eaLnBrk="1" hangingPunct="1"/>
            <a:r>
              <a:rPr lang="en-US" sz="3200" b="1"/>
              <a:t>45</a:t>
            </a:r>
          </a:p>
          <a:p>
            <a:pPr eaLnBrk="1" hangingPunct="1"/>
            <a:r>
              <a:rPr lang="en-US" sz="3200" b="1"/>
              <a:t>101</a:t>
            </a:r>
          </a:p>
          <a:p>
            <a:pPr eaLnBrk="1" hangingPunct="1"/>
            <a:r>
              <a:rPr lang="en-US" sz="3200" b="1"/>
              <a:t>97</a:t>
            </a:r>
            <a:endParaRPr lang="en-US" b="1"/>
          </a:p>
        </p:txBody>
      </p:sp>
      <p:sp>
        <p:nvSpPr>
          <p:cNvPr id="6" name="Rectangle 5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What is a hash code?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990600" y="1752600"/>
            <a:ext cx="7019925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/>
              <a:t>public int</a:t>
            </a:r>
            <a:r>
              <a:rPr lang="pt-BR"/>
              <a:t> hashCode( )</a:t>
            </a:r>
          </a:p>
          <a:p>
            <a:r>
              <a:rPr lang="pt-BR"/>
              <a:t>{</a:t>
            </a:r>
          </a:p>
          <a:p>
            <a:r>
              <a:rPr lang="pt-BR" b="1"/>
              <a:t>   return</a:t>
            </a:r>
            <a:r>
              <a:rPr lang="pt-BR"/>
              <a:t>  x % someSize;</a:t>
            </a:r>
          </a:p>
          <a:p>
            <a:r>
              <a:rPr lang="pt-BR"/>
              <a:t>}</a:t>
            </a:r>
          </a:p>
          <a:p>
            <a:endParaRPr lang="pt-BR"/>
          </a:p>
          <a:p>
            <a:r>
              <a:rPr lang="pt-BR" b="1"/>
              <a:t>public int</a:t>
            </a:r>
            <a:r>
              <a:rPr lang="pt-BR"/>
              <a:t> hashCode( )</a:t>
            </a:r>
          </a:p>
          <a:p>
            <a:r>
              <a:rPr lang="pt-BR"/>
              <a:t>{</a:t>
            </a:r>
          </a:p>
          <a:p>
            <a:r>
              <a:rPr lang="pt-BR" b="1"/>
              <a:t>   return</a:t>
            </a:r>
            <a:r>
              <a:rPr lang="pt-BR"/>
              <a:t> (numVowels(s)+s.length)%aSize;</a:t>
            </a:r>
          </a:p>
          <a:p>
            <a:r>
              <a:rPr lang="pt-BR"/>
              <a:t>}</a:t>
            </a:r>
            <a:endParaRPr lang="en-US"/>
          </a:p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What is a hash code?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990600" y="1752600"/>
            <a:ext cx="7048500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A hash table stores values based</a:t>
            </a:r>
          </a:p>
          <a:p>
            <a:r>
              <a:rPr lang="en-US" b="1"/>
              <a:t>on the hash code of each value.</a:t>
            </a:r>
          </a:p>
          <a:p>
            <a:endParaRPr lang="en-US" b="1"/>
          </a:p>
          <a:p>
            <a:endParaRPr lang="en-US" b="1"/>
          </a:p>
          <a:p>
            <a:r>
              <a:rPr lang="en-US" b="1"/>
              <a:t>Object[] hashTable = new Object[10];</a:t>
            </a:r>
          </a:p>
          <a:p>
            <a:endParaRPr lang="en-US" b="1"/>
          </a:p>
          <a:p>
            <a:r>
              <a:rPr lang="en-US" b="1"/>
              <a:t>Character c = new Character('1');</a:t>
            </a:r>
          </a:p>
          <a:p>
            <a:r>
              <a:rPr lang="en-US" b="1"/>
              <a:t>hashTable[c.hashCode()%10] = c;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What is a hash table?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21507" name="Text Box 2"/>
          <p:cNvSpPr txBox="1">
            <a:spLocks noChangeArrowheads="1"/>
          </p:cNvSpPr>
          <p:nvPr/>
        </p:nvSpPr>
        <p:spPr bwMode="auto">
          <a:xfrm>
            <a:off x="685800" y="1524000"/>
            <a:ext cx="5670550" cy="47863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b="1"/>
              <a:t>Object[] hashTable = new Object[10];</a:t>
            </a:r>
          </a:p>
          <a:p>
            <a:endParaRPr lang="en-US" sz="2000" b="1"/>
          </a:p>
          <a:p>
            <a:r>
              <a:rPr lang="en-US" sz="2000" b="1"/>
              <a:t>Character c = new Character('1');</a:t>
            </a:r>
          </a:p>
          <a:p>
            <a:r>
              <a:rPr lang="en-US" sz="2000" b="1"/>
              <a:t>hashTable[c.hashCode()%10] = c;</a:t>
            </a:r>
          </a:p>
          <a:p>
            <a:endParaRPr lang="en-US" sz="2000" b="1"/>
          </a:p>
          <a:p>
            <a:r>
              <a:rPr lang="en-US" sz="2000" b="1"/>
              <a:t>Integer num = new Integer(113);		</a:t>
            </a:r>
          </a:p>
          <a:p>
            <a:r>
              <a:rPr lang="en-US" sz="2000" b="1"/>
              <a:t>hashTable[num.hashCode()%10] = num;</a:t>
            </a:r>
          </a:p>
          <a:p>
            <a:endParaRPr lang="en-US" sz="2000" b="1"/>
          </a:p>
          <a:p>
            <a:r>
              <a:rPr lang="en-US" sz="2000" b="1"/>
              <a:t>String s = "e";		</a:t>
            </a:r>
          </a:p>
          <a:p>
            <a:r>
              <a:rPr lang="en-US" sz="2000" b="1"/>
              <a:t>hashTable[s.hashCode()%10] = s;</a:t>
            </a:r>
          </a:p>
          <a:p>
            <a:endParaRPr lang="en-US" sz="2000" b="1"/>
          </a:p>
          <a:p>
            <a:r>
              <a:rPr lang="en-US" sz="2000" b="1"/>
              <a:t>for( Object thing : hashTable 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System.out.println(thing);</a:t>
            </a:r>
            <a:br>
              <a:rPr lang="en-US" sz="2000" b="1"/>
            </a:br>
            <a:r>
              <a:rPr lang="en-US" sz="2000" b="1"/>
              <a:t>}</a:t>
            </a:r>
            <a:r>
              <a:rPr lang="en-US"/>
              <a:t> 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6705600" y="1447800"/>
            <a:ext cx="1981200" cy="486251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u="sng">
                <a:solidFill>
                  <a:srgbClr val="FF0000"/>
                </a:solidFill>
              </a:rPr>
              <a:t>OUTPUT</a:t>
            </a:r>
          </a:p>
          <a:p>
            <a:r>
              <a:rPr lang="en-US" b="1"/>
              <a:t>null</a:t>
            </a:r>
          </a:p>
          <a:p>
            <a:r>
              <a:rPr lang="en-US" b="1"/>
              <a:t>e</a:t>
            </a:r>
          </a:p>
          <a:p>
            <a:r>
              <a:rPr lang="en-US" b="1"/>
              <a:t>null</a:t>
            </a:r>
          </a:p>
          <a:p>
            <a:r>
              <a:rPr lang="en-US" b="1"/>
              <a:t>113</a:t>
            </a:r>
          </a:p>
          <a:p>
            <a:r>
              <a:rPr lang="en-US" b="1"/>
              <a:t>null</a:t>
            </a:r>
          </a:p>
          <a:p>
            <a:r>
              <a:rPr lang="en-US" b="1"/>
              <a:t>null</a:t>
            </a:r>
          </a:p>
          <a:p>
            <a:r>
              <a:rPr lang="en-US" b="1"/>
              <a:t>null</a:t>
            </a:r>
          </a:p>
          <a:p>
            <a:r>
              <a:rPr lang="en-US" b="1"/>
              <a:t>null</a:t>
            </a:r>
          </a:p>
          <a:p>
            <a:r>
              <a:rPr lang="en-US" b="1"/>
              <a:t>null</a:t>
            </a:r>
          </a:p>
          <a:p>
            <a:r>
              <a:rPr lang="en-US" b="1"/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What is a hash table?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23555" name="Text Box 2"/>
          <p:cNvSpPr txBox="1">
            <a:spLocks noChangeArrowheads="1"/>
          </p:cNvSpPr>
          <p:nvPr/>
        </p:nvSpPr>
        <p:spPr bwMode="auto">
          <a:xfrm>
            <a:off x="1447800" y="2133600"/>
            <a:ext cx="5978525" cy="308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Most hash tables are built using </a:t>
            </a:r>
          </a:p>
          <a:p>
            <a:r>
              <a:rPr lang="en-US" b="1"/>
              <a:t>an array of linked lists.</a:t>
            </a:r>
          </a:p>
          <a:p>
            <a:endParaRPr lang="en-US" b="1"/>
          </a:p>
          <a:p>
            <a:endParaRPr lang="en-US" b="1"/>
          </a:p>
          <a:p>
            <a:r>
              <a:rPr lang="en-US" b="1"/>
              <a:t>LinkedList[]   table;</a:t>
            </a:r>
          </a:p>
          <a:p>
            <a:endParaRPr lang="en-US" b="1"/>
          </a:p>
          <a:p>
            <a:r>
              <a:rPr lang="en-US" b="1"/>
              <a:t>table  = new LinkedList[10];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What is a hash table?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24579" name="Rectangle 9"/>
          <p:cNvSpPr>
            <a:spLocks noChangeArrowheads="1"/>
          </p:cNvSpPr>
          <p:nvPr/>
        </p:nvSpPr>
        <p:spPr bwMode="auto">
          <a:xfrm>
            <a:off x="2819400" y="2133600"/>
            <a:ext cx="609600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24580" name="Rectangle 10"/>
          <p:cNvSpPr>
            <a:spLocks noChangeArrowheads="1"/>
          </p:cNvSpPr>
          <p:nvPr/>
        </p:nvSpPr>
        <p:spPr bwMode="auto">
          <a:xfrm>
            <a:off x="3429000" y="2133600"/>
            <a:ext cx="6096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1" name="Line 11"/>
          <p:cNvSpPr>
            <a:spLocks noChangeShapeType="1"/>
          </p:cNvSpPr>
          <p:nvPr/>
        </p:nvSpPr>
        <p:spPr bwMode="auto">
          <a:xfrm>
            <a:off x="3733800" y="2438400"/>
            <a:ext cx="533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582" name="Rectangle 12"/>
          <p:cNvSpPr>
            <a:spLocks noChangeArrowheads="1"/>
          </p:cNvSpPr>
          <p:nvPr/>
        </p:nvSpPr>
        <p:spPr bwMode="auto">
          <a:xfrm>
            <a:off x="4343400" y="2133600"/>
            <a:ext cx="609600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4583" name="Rectangle 13"/>
          <p:cNvSpPr>
            <a:spLocks noChangeArrowheads="1"/>
          </p:cNvSpPr>
          <p:nvPr/>
        </p:nvSpPr>
        <p:spPr bwMode="auto">
          <a:xfrm>
            <a:off x="4953000" y="2133600"/>
            <a:ext cx="6096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4" name="Line 14"/>
          <p:cNvSpPr>
            <a:spLocks noChangeShapeType="1"/>
          </p:cNvSpPr>
          <p:nvPr/>
        </p:nvSpPr>
        <p:spPr bwMode="auto">
          <a:xfrm>
            <a:off x="5257800" y="2438400"/>
            <a:ext cx="533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585" name="Text Box 16"/>
          <p:cNvSpPr txBox="1">
            <a:spLocks noChangeArrowheads="1"/>
          </p:cNvSpPr>
          <p:nvPr/>
        </p:nvSpPr>
        <p:spPr bwMode="auto">
          <a:xfrm>
            <a:off x="5943600" y="2133600"/>
            <a:ext cx="742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null</a:t>
            </a:r>
          </a:p>
        </p:txBody>
      </p:sp>
      <p:sp>
        <p:nvSpPr>
          <p:cNvPr id="24586" name="Rectangle 21"/>
          <p:cNvSpPr>
            <a:spLocks noChangeArrowheads="1"/>
          </p:cNvSpPr>
          <p:nvPr/>
        </p:nvSpPr>
        <p:spPr bwMode="auto">
          <a:xfrm>
            <a:off x="2819400" y="3810000"/>
            <a:ext cx="609600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24587" name="Rectangle 22"/>
          <p:cNvSpPr>
            <a:spLocks noChangeArrowheads="1"/>
          </p:cNvSpPr>
          <p:nvPr/>
        </p:nvSpPr>
        <p:spPr bwMode="auto">
          <a:xfrm>
            <a:off x="3429000" y="3810000"/>
            <a:ext cx="6096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Line 23"/>
          <p:cNvSpPr>
            <a:spLocks noChangeShapeType="1"/>
          </p:cNvSpPr>
          <p:nvPr/>
        </p:nvSpPr>
        <p:spPr bwMode="auto">
          <a:xfrm>
            <a:off x="3733800" y="4114800"/>
            <a:ext cx="533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589" name="Rectangle 24"/>
          <p:cNvSpPr>
            <a:spLocks noChangeArrowheads="1"/>
          </p:cNvSpPr>
          <p:nvPr/>
        </p:nvSpPr>
        <p:spPr bwMode="auto">
          <a:xfrm>
            <a:off x="4343400" y="3810000"/>
            <a:ext cx="609600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22</a:t>
            </a:r>
          </a:p>
        </p:txBody>
      </p:sp>
      <p:sp>
        <p:nvSpPr>
          <p:cNvPr id="24590" name="Rectangle 25"/>
          <p:cNvSpPr>
            <a:spLocks noChangeArrowheads="1"/>
          </p:cNvSpPr>
          <p:nvPr/>
        </p:nvSpPr>
        <p:spPr bwMode="auto">
          <a:xfrm>
            <a:off x="4953000" y="3810000"/>
            <a:ext cx="6096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26"/>
          <p:cNvSpPr>
            <a:spLocks noChangeShapeType="1"/>
          </p:cNvSpPr>
          <p:nvPr/>
        </p:nvSpPr>
        <p:spPr bwMode="auto">
          <a:xfrm>
            <a:off x="5257800" y="4114800"/>
            <a:ext cx="533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592" name="Text Box 27"/>
          <p:cNvSpPr txBox="1">
            <a:spLocks noChangeArrowheads="1"/>
          </p:cNvSpPr>
          <p:nvPr/>
        </p:nvSpPr>
        <p:spPr bwMode="auto">
          <a:xfrm>
            <a:off x="2803525" y="4552950"/>
            <a:ext cx="742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null</a:t>
            </a:r>
          </a:p>
        </p:txBody>
      </p:sp>
      <p:sp>
        <p:nvSpPr>
          <p:cNvPr id="24593" name="Text Box 28"/>
          <p:cNvSpPr txBox="1">
            <a:spLocks noChangeArrowheads="1"/>
          </p:cNvSpPr>
          <p:nvPr/>
        </p:nvSpPr>
        <p:spPr bwMode="auto">
          <a:xfrm>
            <a:off x="5943600" y="3810000"/>
            <a:ext cx="742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null</a:t>
            </a:r>
          </a:p>
        </p:txBody>
      </p:sp>
      <p:sp>
        <p:nvSpPr>
          <p:cNvPr id="24594" name="Rectangle 32"/>
          <p:cNvSpPr>
            <a:spLocks noChangeArrowheads="1"/>
          </p:cNvSpPr>
          <p:nvPr/>
        </p:nvSpPr>
        <p:spPr bwMode="auto">
          <a:xfrm>
            <a:off x="2819400" y="2895600"/>
            <a:ext cx="609600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11</a:t>
            </a:r>
          </a:p>
        </p:txBody>
      </p:sp>
      <p:sp>
        <p:nvSpPr>
          <p:cNvPr id="24595" name="Rectangle 33"/>
          <p:cNvSpPr>
            <a:spLocks noChangeArrowheads="1"/>
          </p:cNvSpPr>
          <p:nvPr/>
        </p:nvSpPr>
        <p:spPr bwMode="auto">
          <a:xfrm>
            <a:off x="3429000" y="2895600"/>
            <a:ext cx="6096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6" name="Line 34"/>
          <p:cNvSpPr>
            <a:spLocks noChangeShapeType="1"/>
          </p:cNvSpPr>
          <p:nvPr/>
        </p:nvSpPr>
        <p:spPr bwMode="auto">
          <a:xfrm>
            <a:off x="3733800" y="3200400"/>
            <a:ext cx="533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597" name="Text Box 35"/>
          <p:cNvSpPr txBox="1">
            <a:spLocks noChangeArrowheads="1"/>
          </p:cNvSpPr>
          <p:nvPr/>
        </p:nvSpPr>
        <p:spPr bwMode="auto">
          <a:xfrm>
            <a:off x="4343400" y="2895600"/>
            <a:ext cx="742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null</a:t>
            </a:r>
          </a:p>
        </p:txBody>
      </p:sp>
      <p:graphicFrame>
        <p:nvGraphicFramePr>
          <p:cNvPr id="148531" name="Group 51"/>
          <p:cNvGraphicFramePr>
            <a:graphicFrameLocks noGrp="1"/>
          </p:cNvGraphicFramePr>
          <p:nvPr/>
        </p:nvGraphicFramePr>
        <p:xfrm>
          <a:off x="1447800" y="2057400"/>
          <a:ext cx="685800" cy="317500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793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000"/>
                      </a:srgbClr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000"/>
                      </a:srgbClr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000"/>
                      </a:srgbClr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4610" name="Line 52"/>
          <p:cNvSpPr>
            <a:spLocks noChangeShapeType="1"/>
          </p:cNvSpPr>
          <p:nvPr/>
        </p:nvSpPr>
        <p:spPr bwMode="auto">
          <a:xfrm>
            <a:off x="1828800" y="2438400"/>
            <a:ext cx="914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611" name="Line 53"/>
          <p:cNvSpPr>
            <a:spLocks noChangeShapeType="1"/>
          </p:cNvSpPr>
          <p:nvPr/>
        </p:nvSpPr>
        <p:spPr bwMode="auto">
          <a:xfrm>
            <a:off x="1828800" y="3200400"/>
            <a:ext cx="914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612" name="Line 54"/>
          <p:cNvSpPr>
            <a:spLocks noChangeShapeType="1"/>
          </p:cNvSpPr>
          <p:nvPr/>
        </p:nvSpPr>
        <p:spPr bwMode="auto">
          <a:xfrm>
            <a:off x="1828800" y="4114800"/>
            <a:ext cx="914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613" name="Line 55"/>
          <p:cNvSpPr>
            <a:spLocks noChangeShapeType="1"/>
          </p:cNvSpPr>
          <p:nvPr/>
        </p:nvSpPr>
        <p:spPr bwMode="auto">
          <a:xfrm>
            <a:off x="1828800" y="4876800"/>
            <a:ext cx="914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What is a hash table?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685800" y="1447800"/>
            <a:ext cx="5857875" cy="4968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b="1"/>
              <a:t>LinkedList[] hashTable = new LinkedList[5];</a:t>
            </a:r>
          </a:p>
          <a:p>
            <a:endParaRPr lang="en-US" sz="2000" b="1"/>
          </a:p>
          <a:p>
            <a:r>
              <a:rPr lang="en-US" sz="2000" b="1"/>
              <a:t>for( LinkedList list : hashTable 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System.out.println(list);</a:t>
            </a:r>
          </a:p>
          <a:p>
            <a:r>
              <a:rPr lang="en-US" sz="2000" b="1"/>
              <a:t>}   			</a:t>
            </a:r>
          </a:p>
          <a:p>
            <a:r>
              <a:rPr lang="en-US" sz="2000" b="1"/>
              <a:t>	</a:t>
            </a:r>
          </a:p>
          <a:p>
            <a:r>
              <a:rPr lang="en-US" sz="2000" b="1"/>
              <a:t>for(int i = 0; i&lt; hashTable.length; i++)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hashTable[i] = new LinkedList();</a:t>
            </a:r>
          </a:p>
          <a:p>
            <a:r>
              <a:rPr lang="en-US" sz="2000" b="1"/>
              <a:t>}</a:t>
            </a:r>
          </a:p>
          <a:p>
            <a:endParaRPr lang="en-US" sz="2000" b="1"/>
          </a:p>
          <a:p>
            <a:r>
              <a:rPr lang="en-US" sz="2000" b="1"/>
              <a:t>for( LinkedList list : hashTable 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System.out.println(list);</a:t>
            </a:r>
          </a:p>
          <a:p>
            <a:r>
              <a:rPr lang="en-US" sz="2000" b="1"/>
              <a:t>}</a:t>
            </a:r>
            <a:r>
              <a:rPr lang="en-US" sz="2000"/>
              <a:t> 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6858000" y="1524000"/>
            <a:ext cx="1981200" cy="486251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u="sng">
                <a:solidFill>
                  <a:srgbClr val="FF0000"/>
                </a:solidFill>
              </a:rPr>
              <a:t>OUTPUT</a:t>
            </a:r>
          </a:p>
          <a:p>
            <a:r>
              <a:rPr lang="en-US" b="1"/>
              <a:t>null</a:t>
            </a:r>
          </a:p>
          <a:p>
            <a:r>
              <a:rPr lang="en-US" b="1"/>
              <a:t>null</a:t>
            </a:r>
          </a:p>
          <a:p>
            <a:r>
              <a:rPr lang="en-US" b="1"/>
              <a:t>null</a:t>
            </a:r>
          </a:p>
          <a:p>
            <a:r>
              <a:rPr lang="en-US" b="1"/>
              <a:t>null</a:t>
            </a:r>
          </a:p>
          <a:p>
            <a:r>
              <a:rPr lang="en-US" b="1"/>
              <a:t>null</a:t>
            </a:r>
          </a:p>
          <a:p>
            <a:r>
              <a:rPr lang="en-US" b="1"/>
              <a:t>[]</a:t>
            </a:r>
          </a:p>
          <a:p>
            <a:r>
              <a:rPr lang="en-US" b="1"/>
              <a:t>[]</a:t>
            </a:r>
          </a:p>
          <a:p>
            <a:r>
              <a:rPr lang="en-US" b="1"/>
              <a:t>[]</a:t>
            </a:r>
          </a:p>
          <a:p>
            <a:r>
              <a:rPr lang="en-US" b="1"/>
              <a:t>[]</a:t>
            </a:r>
          </a:p>
          <a:p>
            <a:r>
              <a:rPr lang="en-US" b="1"/>
              <a:t>[]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What is a hash table?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29700" name="Text Box 3"/>
          <p:cNvSpPr txBox="1">
            <a:spLocks noChangeArrowheads="1"/>
          </p:cNvSpPr>
          <p:nvPr/>
        </p:nvSpPr>
        <p:spPr bwMode="auto">
          <a:xfrm>
            <a:off x="1600200" y="1828800"/>
            <a:ext cx="5543550" cy="22828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 b="1"/>
              <a:t>HashSet and HashMap were both </a:t>
            </a:r>
          </a:p>
          <a:p>
            <a:pPr eaLnBrk="1" hangingPunct="1"/>
            <a:r>
              <a:rPr lang="en-US" sz="2400" b="1"/>
              <a:t>created around hash tables.</a:t>
            </a:r>
          </a:p>
          <a:p>
            <a:pPr eaLnBrk="1" hangingPunct="1"/>
            <a:endParaRPr lang="en-US" sz="2400" b="1"/>
          </a:p>
          <a:p>
            <a:pPr eaLnBrk="1" hangingPunct="1"/>
            <a:r>
              <a:rPr lang="en-US" sz="2400" b="1"/>
              <a:t>A hash table is a giant array.  Each </a:t>
            </a:r>
          </a:p>
          <a:p>
            <a:pPr eaLnBrk="1" hangingPunct="1"/>
            <a:r>
              <a:rPr lang="en-US" sz="2400" b="1"/>
              <a:t>item is inserted into the array </a:t>
            </a:r>
          </a:p>
          <a:p>
            <a:pPr eaLnBrk="1" hangingPunct="1"/>
            <a:r>
              <a:rPr lang="en-US" sz="2400" b="1"/>
              <a:t>according to a hash formula.</a:t>
            </a:r>
          </a:p>
        </p:txBody>
      </p:sp>
      <p:graphicFrame>
        <p:nvGraphicFramePr>
          <p:cNvPr id="156698" name="Group 26"/>
          <p:cNvGraphicFramePr>
            <a:graphicFrameLocks noGrp="1"/>
          </p:cNvGraphicFramePr>
          <p:nvPr/>
        </p:nvGraphicFramePr>
        <p:xfrm>
          <a:off x="914400" y="5029200"/>
          <a:ext cx="7162800" cy="518160"/>
        </p:xfrm>
        <a:graphic>
          <a:graphicData uri="http://schemas.openxmlformats.org/drawingml/2006/table">
            <a:tbl>
              <a:tblPr/>
              <a:tblGrid>
                <a:gridCol w="1431925"/>
                <a:gridCol w="1433513"/>
                <a:gridCol w="1431925"/>
                <a:gridCol w="1433512"/>
                <a:gridCol w="1431925"/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9715" name="Text Box 27"/>
          <p:cNvSpPr txBox="1">
            <a:spLocks noChangeArrowheads="1"/>
          </p:cNvSpPr>
          <p:nvPr/>
        </p:nvSpPr>
        <p:spPr bwMode="auto">
          <a:xfrm>
            <a:off x="1143000" y="4495800"/>
            <a:ext cx="6781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   0	       1	    2		3	     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What is a hash table?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graphicFrame>
        <p:nvGraphicFramePr>
          <p:cNvPr id="158722" name="Group 2"/>
          <p:cNvGraphicFramePr>
            <a:graphicFrameLocks noGrp="1"/>
          </p:cNvGraphicFramePr>
          <p:nvPr/>
        </p:nvGraphicFramePr>
        <p:xfrm>
          <a:off x="914400" y="1828800"/>
          <a:ext cx="4191000" cy="3868740"/>
        </p:xfrm>
        <a:graphic>
          <a:graphicData uri="http://schemas.openxmlformats.org/drawingml/2006/table">
            <a:tbl>
              <a:tblPr/>
              <a:tblGrid>
                <a:gridCol w="2095500"/>
                <a:gridCol w="2095500"/>
              </a:tblGrid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1773" name="Text Box 29"/>
          <p:cNvSpPr txBox="1">
            <a:spLocks noChangeArrowheads="1"/>
          </p:cNvSpPr>
          <p:nvPr/>
        </p:nvSpPr>
        <p:spPr bwMode="auto">
          <a:xfrm>
            <a:off x="5638800" y="1981200"/>
            <a:ext cx="2971800" cy="35179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In most hash tables, the key involves some manipulation of the hash code and the value is just the thing being stored.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What is a hash table?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32772" name="Text Box 3"/>
          <p:cNvSpPr txBox="1">
            <a:spLocks noChangeArrowheads="1"/>
          </p:cNvSpPr>
          <p:nvPr/>
        </p:nvSpPr>
        <p:spPr bwMode="auto">
          <a:xfrm>
            <a:off x="685800" y="2209800"/>
            <a:ext cx="7781925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Anytime you use a hash formula to generate </a:t>
            </a:r>
          </a:p>
          <a:p>
            <a:r>
              <a:rPr lang="en-US"/>
              <a:t>index positions, you could end up with the same</a:t>
            </a:r>
          </a:p>
          <a:p>
            <a:r>
              <a:rPr lang="en-US"/>
              <a:t>index position for several values.</a:t>
            </a:r>
          </a:p>
          <a:p>
            <a:endParaRPr lang="en-US"/>
          </a:p>
          <a:p>
            <a:r>
              <a:rPr lang="en-US"/>
              <a:t>Collisions are handled by putting all the values</a:t>
            </a:r>
          </a:p>
          <a:p>
            <a:r>
              <a:rPr lang="en-US"/>
              <a:t>with the same hash code in a list and storing</a:t>
            </a:r>
          </a:p>
          <a:p>
            <a:r>
              <a:rPr lang="en-US"/>
              <a:t>the list at the index position that matches the</a:t>
            </a:r>
          </a:p>
          <a:p>
            <a:r>
              <a:rPr lang="en-US"/>
              <a:t>hash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81000"/>
            <a:ext cx="91440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How are collisions handled?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33796" name="Text Box 3"/>
          <p:cNvSpPr txBox="1">
            <a:spLocks noChangeArrowheads="1"/>
          </p:cNvSpPr>
          <p:nvPr/>
        </p:nvSpPr>
        <p:spPr bwMode="auto">
          <a:xfrm>
            <a:off x="762000" y="2438400"/>
            <a:ext cx="763270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Using a bucket or a chain is a common way to </a:t>
            </a:r>
          </a:p>
          <a:p>
            <a:r>
              <a:rPr lang="en-US"/>
              <a:t>describe putting all of the values with the same</a:t>
            </a:r>
          </a:p>
          <a:p>
            <a:r>
              <a:rPr lang="en-US"/>
              <a:t>hash code in one list.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914400" y="4114800"/>
            <a:ext cx="762000" cy="609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Rectangle 7"/>
          <p:cNvSpPr>
            <a:spLocks noChangeArrowheads="1"/>
          </p:cNvSpPr>
          <p:nvPr/>
        </p:nvSpPr>
        <p:spPr bwMode="auto">
          <a:xfrm>
            <a:off x="914400" y="4876800"/>
            <a:ext cx="762000" cy="609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8"/>
          <p:cNvSpPr>
            <a:spLocks noChangeShapeType="1"/>
          </p:cNvSpPr>
          <p:nvPr/>
        </p:nvSpPr>
        <p:spPr bwMode="auto">
          <a:xfrm>
            <a:off x="1295400" y="4419600"/>
            <a:ext cx="914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800" name="Line 9"/>
          <p:cNvSpPr>
            <a:spLocks noChangeShapeType="1"/>
          </p:cNvSpPr>
          <p:nvPr/>
        </p:nvSpPr>
        <p:spPr bwMode="auto">
          <a:xfrm>
            <a:off x="1295400" y="5181600"/>
            <a:ext cx="914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801" name="Rectangle 10"/>
          <p:cNvSpPr>
            <a:spLocks noChangeArrowheads="1"/>
          </p:cNvSpPr>
          <p:nvPr/>
        </p:nvSpPr>
        <p:spPr bwMode="auto">
          <a:xfrm>
            <a:off x="2286000" y="4114800"/>
            <a:ext cx="609600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3802" name="Rectangle 11"/>
          <p:cNvSpPr>
            <a:spLocks noChangeArrowheads="1"/>
          </p:cNvSpPr>
          <p:nvPr/>
        </p:nvSpPr>
        <p:spPr bwMode="auto">
          <a:xfrm>
            <a:off x="2895600" y="4114800"/>
            <a:ext cx="6096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3" name="Line 12"/>
          <p:cNvSpPr>
            <a:spLocks noChangeShapeType="1"/>
          </p:cNvSpPr>
          <p:nvPr/>
        </p:nvSpPr>
        <p:spPr bwMode="auto">
          <a:xfrm>
            <a:off x="3200400" y="4419600"/>
            <a:ext cx="533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804" name="Rectangle 13"/>
          <p:cNvSpPr>
            <a:spLocks noChangeArrowheads="1"/>
          </p:cNvSpPr>
          <p:nvPr/>
        </p:nvSpPr>
        <p:spPr bwMode="auto">
          <a:xfrm>
            <a:off x="3810000" y="4114800"/>
            <a:ext cx="609600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3805" name="Rectangle 14"/>
          <p:cNvSpPr>
            <a:spLocks noChangeArrowheads="1"/>
          </p:cNvSpPr>
          <p:nvPr/>
        </p:nvSpPr>
        <p:spPr bwMode="auto">
          <a:xfrm>
            <a:off x="4419600" y="4114800"/>
            <a:ext cx="6096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6" name="Line 15"/>
          <p:cNvSpPr>
            <a:spLocks noChangeShapeType="1"/>
          </p:cNvSpPr>
          <p:nvPr/>
        </p:nvSpPr>
        <p:spPr bwMode="auto">
          <a:xfrm>
            <a:off x="4724400" y="4419600"/>
            <a:ext cx="533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807" name="Text Box 16"/>
          <p:cNvSpPr txBox="1">
            <a:spLocks noChangeArrowheads="1"/>
          </p:cNvSpPr>
          <p:nvPr/>
        </p:nvSpPr>
        <p:spPr bwMode="auto">
          <a:xfrm>
            <a:off x="2270125" y="4857750"/>
            <a:ext cx="742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null</a:t>
            </a:r>
          </a:p>
        </p:txBody>
      </p:sp>
      <p:sp>
        <p:nvSpPr>
          <p:cNvPr id="33808" name="Text Box 17"/>
          <p:cNvSpPr txBox="1">
            <a:spLocks noChangeArrowheads="1"/>
          </p:cNvSpPr>
          <p:nvPr/>
        </p:nvSpPr>
        <p:spPr bwMode="auto">
          <a:xfrm>
            <a:off x="5410200" y="4114800"/>
            <a:ext cx="742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81000"/>
            <a:ext cx="91440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How are collisions handled?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990600" y="2249487"/>
            <a:ext cx="6611938" cy="393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With only two buckets, this table would</a:t>
            </a:r>
          </a:p>
          <a:p>
            <a:r>
              <a:rPr lang="en-US" dirty="0"/>
              <a:t>have lots of collisions and very long</a:t>
            </a:r>
          </a:p>
          <a:p>
            <a:r>
              <a:rPr lang="en-US" dirty="0"/>
              <a:t>chains and be quite pointless.</a:t>
            </a:r>
          </a:p>
          <a:p>
            <a:endParaRPr lang="en-US" dirty="0"/>
          </a:p>
          <a:p>
            <a:r>
              <a:rPr lang="en-US" dirty="0" err="1"/>
              <a:t>LinkedList</a:t>
            </a:r>
            <a:r>
              <a:rPr lang="en-US" dirty="0"/>
              <a:t>[]   table  = new </a:t>
            </a:r>
            <a:r>
              <a:rPr lang="en-US" dirty="0" err="1"/>
              <a:t>LinkedList</a:t>
            </a:r>
            <a:r>
              <a:rPr lang="en-US" dirty="0"/>
              <a:t>[2];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1143000" y="4572000"/>
            <a:ext cx="762000" cy="609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1143000" y="5334000"/>
            <a:ext cx="762000" cy="609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>
            <a:off x="1524000" y="5638800"/>
            <a:ext cx="914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5" name="Text Box 16"/>
          <p:cNvSpPr txBox="1">
            <a:spLocks noChangeArrowheads="1"/>
          </p:cNvSpPr>
          <p:nvPr/>
        </p:nvSpPr>
        <p:spPr bwMode="auto">
          <a:xfrm>
            <a:off x="2590800" y="5334000"/>
            <a:ext cx="742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null</a:t>
            </a:r>
          </a:p>
        </p:txBody>
      </p:sp>
      <p:sp>
        <p:nvSpPr>
          <p:cNvPr id="34826" name="Text Box 17"/>
          <p:cNvSpPr txBox="1">
            <a:spLocks noChangeArrowheads="1"/>
          </p:cNvSpPr>
          <p:nvPr/>
        </p:nvSpPr>
        <p:spPr bwMode="auto">
          <a:xfrm>
            <a:off x="2590800" y="4572000"/>
            <a:ext cx="742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null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81000"/>
            <a:ext cx="91440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How are collisions handled?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609600" y="2068512"/>
            <a:ext cx="7756525" cy="478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dirty="0"/>
          </a:p>
          <a:p>
            <a:r>
              <a:rPr lang="en-US" dirty="0"/>
              <a:t>The larger the array, the less likely you are</a:t>
            </a:r>
          </a:p>
          <a:p>
            <a:r>
              <a:rPr lang="en-US" dirty="0"/>
              <a:t>to have collisions.  The table will be much more</a:t>
            </a:r>
          </a:p>
          <a:p>
            <a:r>
              <a:rPr lang="en-US" dirty="0"/>
              <a:t>efficient as well.</a:t>
            </a:r>
          </a:p>
          <a:p>
            <a:endParaRPr lang="en-US" dirty="0"/>
          </a:p>
          <a:p>
            <a:r>
              <a:rPr lang="en-US" dirty="0" err="1"/>
              <a:t>LinkedList</a:t>
            </a:r>
            <a:r>
              <a:rPr lang="en-US" dirty="0"/>
              <a:t>[]   table  = new </a:t>
            </a:r>
            <a:r>
              <a:rPr lang="en-US" dirty="0" err="1"/>
              <a:t>LinkedList</a:t>
            </a:r>
            <a:r>
              <a:rPr lang="en-US" dirty="0"/>
              <a:t>[100];</a:t>
            </a:r>
          </a:p>
          <a:p>
            <a:endParaRPr lang="en-US" dirty="0"/>
          </a:p>
          <a:p>
            <a:r>
              <a:rPr lang="en-US" dirty="0" err="1"/>
              <a:t>LinkedList</a:t>
            </a:r>
            <a:r>
              <a:rPr lang="en-US" dirty="0"/>
              <a:t>[]   </a:t>
            </a:r>
            <a:r>
              <a:rPr lang="en-US" dirty="0" err="1"/>
              <a:t>bigTable</a:t>
            </a:r>
            <a:r>
              <a:rPr lang="en-US" dirty="0"/>
              <a:t>  = new </a:t>
            </a:r>
            <a:r>
              <a:rPr lang="en-US" dirty="0" err="1"/>
              <a:t>LinkedList</a:t>
            </a:r>
            <a:r>
              <a:rPr lang="en-US" dirty="0"/>
              <a:t>[1000];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381000"/>
            <a:ext cx="91440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How are collisions handled?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endParaRPr lang="en-US" b="1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b="1" smtClean="0"/>
          </a:p>
          <a:p>
            <a:r>
              <a:rPr lang="en-US" b="1" smtClean="0"/>
              <a:t>© A+ Computer Science  -  www.apluscompsci.com</a:t>
            </a:r>
          </a:p>
        </p:txBody>
      </p:sp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838200" y="1981200"/>
            <a:ext cx="7378700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LinkedList</a:t>
            </a:r>
            <a:r>
              <a:rPr lang="en-US" dirty="0"/>
              <a:t> class works well to chain items</a:t>
            </a:r>
          </a:p>
          <a:p>
            <a:r>
              <a:rPr lang="en-US" dirty="0"/>
              <a:t>together, but </a:t>
            </a:r>
            <a:r>
              <a:rPr lang="en-US" dirty="0" err="1"/>
              <a:t>ListNode</a:t>
            </a:r>
            <a:r>
              <a:rPr lang="en-US" dirty="0"/>
              <a:t> could also be used.</a:t>
            </a:r>
          </a:p>
          <a:p>
            <a:endParaRPr lang="en-US" dirty="0"/>
          </a:p>
          <a:p>
            <a:r>
              <a:rPr lang="en-US" dirty="0" err="1"/>
              <a:t>ListNode</a:t>
            </a:r>
            <a:r>
              <a:rPr lang="en-US" dirty="0"/>
              <a:t>[]   table  = new </a:t>
            </a:r>
            <a:r>
              <a:rPr lang="en-US" dirty="0" err="1"/>
              <a:t>ListNode</a:t>
            </a:r>
            <a:r>
              <a:rPr lang="en-US" dirty="0"/>
              <a:t>[100];</a:t>
            </a:r>
          </a:p>
          <a:p>
            <a:endParaRPr lang="en-US" dirty="0"/>
          </a:p>
          <a:p>
            <a:r>
              <a:rPr lang="en-US" dirty="0" err="1"/>
              <a:t>ListNode</a:t>
            </a:r>
            <a:r>
              <a:rPr lang="en-US" dirty="0"/>
              <a:t>[]   </a:t>
            </a:r>
            <a:r>
              <a:rPr lang="en-US" dirty="0" err="1"/>
              <a:t>bigTable</a:t>
            </a:r>
            <a:r>
              <a:rPr lang="en-US" dirty="0"/>
              <a:t>  = new </a:t>
            </a:r>
            <a:r>
              <a:rPr lang="en-US" dirty="0" err="1"/>
              <a:t>ListNode</a:t>
            </a:r>
            <a:r>
              <a:rPr lang="en-US" dirty="0"/>
              <a:t>[1000];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381000"/>
            <a:ext cx="91440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6F93DB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Tahoma" pitchFamily="34" charset="0"/>
                <a:cs typeface="Tahoma" pitchFamily="34" charset="0"/>
              </a:rPr>
              <a:t>How are collisions handled?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6F93DB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b="0" smtClean="0">
              <a:latin typeface="Times New Roman" pitchFamily="18" charset="0"/>
            </a:endParaRP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© A+ Computer Science  -  www.apluscompsci.com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219200"/>
            <a:ext cx="8153400" cy="4401205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600"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800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/>
            </a:r>
            <a:br>
              <a:rPr lang="en-US" sz="800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r>
              <a:rPr lang="en-US" sz="400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Eraser" pitchFamily="2" charset="0"/>
              </a:rPr>
              <a:t>A+ Computer Science</a:t>
            </a:r>
          </a:p>
          <a:p>
            <a:pPr algn="ctr"/>
            <a:r>
              <a:rPr lang="en-US" sz="800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Eraser" pitchFamily="2" charset="0"/>
              </a:rPr>
              <a:t>Hash tables</a:t>
            </a:r>
          </a:p>
          <a:p>
            <a:pPr algn="ctr"/>
            <a:endParaRPr lang="en-US" sz="8000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</TotalTime>
  <Words>739</Words>
  <Application>Microsoft Office PowerPoint</Application>
  <PresentationFormat>On-screen Show (4:3)</PresentationFormat>
  <Paragraphs>281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Eraser</vt:lpstr>
      <vt:lpstr>Tahoma</vt:lpstr>
      <vt:lpstr>Times New Roman</vt:lpstr>
      <vt:lpstr>Default Design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HashTables</dc:title>
  <dc:subject>Hash Tables</dc:subject>
  <dc:creator>A+ Computer Science</dc:creator>
  <cp:keywords>www.apluscompsci.com</cp:keywords>
  <dc:description>Hash Tables_x000d_
©A+ Computer Science_x000d_
www.apluscompsci.com</dc:description>
  <cp:lastModifiedBy>Stroud, Paul M (SLHS)</cp:lastModifiedBy>
  <cp:revision>227</cp:revision>
  <cp:lastPrinted>2000-04-26T16:54:12Z</cp:lastPrinted>
  <dcterms:created xsi:type="dcterms:W3CDTF">1998-04-06T14:13:40Z</dcterms:created>
  <dcterms:modified xsi:type="dcterms:W3CDTF">2016-11-28T17:17:14Z</dcterms:modified>
  <cp:category>www.apluscompsci.com</cp:category>
</cp:coreProperties>
</file>